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Robo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5236a4b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5236a4b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85223955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85223955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85223955e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85223955e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85223955e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85223955e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85223955e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85223955e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85223955e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85223955e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85223955e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85223955e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85223955e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85223955e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85223955e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85223955e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85223955e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85223955e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85223955e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85223955e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85223955e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85223955e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85223955e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85223955e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5223955e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85223955e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85223955e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85223955e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85223955e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85223955e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85223955e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85223955e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85223955ec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85223955ec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5223955e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5223955e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85223955e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85223955e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85425c5c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85425c5c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85425c5c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85425c5c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85223955ec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85223955ec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85223955ec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85223955ec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85223955e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85223955e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85223955e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85223955e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85223955e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85223955e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85223955ec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85223955ec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85223955ec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85223955ec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85223955ec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85223955ec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fb140059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fb140059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85223955ec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85223955ec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85223955e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85223955e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85223955e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85223955e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85223955ec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85223955ec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85223955ec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85223955ec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85223955ec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85223955ec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85223955ec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85223955ec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85223955ec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85223955ec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85223955ec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85223955ec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85223955ec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85223955ec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85223955ec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85223955ec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85223955e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85223955e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85223955ec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85223955ec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124675" y="2042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320"/>
              <a:t>GUI Programming</a:t>
            </a:r>
            <a:endParaRPr sz="43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AWT (Abstract Window Toolkit)</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Abstract Window Toolkit (AWT) was Java’s first GUI framework, and it has been part of Java since version 1.0.</a:t>
            </a:r>
            <a:endParaRPr/>
          </a:p>
          <a:p>
            <a:pPr indent="-342900" lvl="0" marL="457200" rtl="0" algn="l">
              <a:spcBef>
                <a:spcPts val="0"/>
              </a:spcBef>
              <a:spcAft>
                <a:spcPts val="0"/>
              </a:spcAft>
              <a:buSzPts val="1800"/>
              <a:buChar char="●"/>
            </a:pPr>
            <a:r>
              <a:rPr lang="en"/>
              <a:t>It contains numerous classes and methods that allow you to create windows and simple controls. </a:t>
            </a:r>
            <a:endParaRPr/>
          </a:p>
          <a:p>
            <a:pPr indent="-342900" lvl="0" marL="457200" rtl="0" algn="l">
              <a:spcBef>
                <a:spcPts val="0"/>
              </a:spcBef>
              <a:spcAft>
                <a:spcPts val="0"/>
              </a:spcAft>
              <a:buSzPts val="1800"/>
              <a:buChar char="●"/>
            </a:pPr>
            <a:r>
              <a:rPr lang="en"/>
              <a:t>Java AWT is an API to develop GUI or window-based application in java.</a:t>
            </a:r>
            <a:endParaRPr/>
          </a:p>
          <a:p>
            <a:pPr indent="-342900" lvl="0" marL="457200" rtl="0" algn="l">
              <a:spcBef>
                <a:spcPts val="0"/>
              </a:spcBef>
              <a:spcAft>
                <a:spcPts val="0"/>
              </a:spcAft>
              <a:buSzPts val="1800"/>
              <a:buChar char="●"/>
            </a:pPr>
            <a:r>
              <a:rPr lang="en"/>
              <a:t>Java AWT components are platform-dependent i.e. components are displayed according to the view of operating system. </a:t>
            </a:r>
            <a:endParaRPr/>
          </a:p>
          <a:p>
            <a:pPr indent="-342900" lvl="0" marL="457200" rtl="0" algn="l">
              <a:spcBef>
                <a:spcPts val="0"/>
              </a:spcBef>
              <a:spcAft>
                <a:spcPts val="0"/>
              </a:spcAft>
              <a:buSzPts val="1800"/>
              <a:buChar char="●"/>
            </a:pPr>
            <a:r>
              <a:rPr lang="en"/>
              <a:t>AWT is heavyweight i.e. its components uses the resources of system.</a:t>
            </a:r>
            <a:endParaRPr/>
          </a:p>
          <a:p>
            <a:pPr indent="-342900" lvl="0" marL="457200" rtl="0" algn="l">
              <a:spcBef>
                <a:spcPts val="0"/>
              </a:spcBef>
              <a:spcAft>
                <a:spcPts val="0"/>
              </a:spcAft>
              <a:buSzPts val="1800"/>
              <a:buChar char="●"/>
            </a:pPr>
            <a:r>
              <a:rPr lang="en"/>
              <a:t>The java.awt package provides classes for AWT api such as TextField, Label, TextArea, RadioButton, CheckBox, Choice, List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Swing</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Not long after Java's original release, it became apparent that the limitations and restrictions present in the AWT were sufficiently serious that a better approach was needed.</a:t>
            </a:r>
            <a:endParaRPr/>
          </a:p>
          <a:p>
            <a:pPr indent="-342900" lvl="0" marL="457200" rtl="0" algn="l">
              <a:spcBef>
                <a:spcPts val="0"/>
              </a:spcBef>
              <a:spcAft>
                <a:spcPts val="0"/>
              </a:spcAft>
              <a:buSzPts val="1800"/>
              <a:buChar char="●"/>
            </a:pPr>
            <a:r>
              <a:rPr lang="en"/>
              <a:t>The solution was Swing. </a:t>
            </a:r>
            <a:endParaRPr/>
          </a:p>
          <a:p>
            <a:pPr indent="-342900" lvl="0" marL="457200" rtl="0" algn="l">
              <a:spcBef>
                <a:spcPts val="0"/>
              </a:spcBef>
              <a:spcAft>
                <a:spcPts val="0"/>
              </a:spcAft>
              <a:buSzPts val="1800"/>
              <a:buChar char="●"/>
            </a:pPr>
            <a:r>
              <a:rPr lang="en"/>
              <a:t>Introduced in 1997, Swing was included as part of the Java Foundation Classes (JFC). </a:t>
            </a:r>
            <a:endParaRPr/>
          </a:p>
          <a:p>
            <a:pPr indent="-342900" lvl="0" marL="457200" rtl="0" algn="l">
              <a:spcBef>
                <a:spcPts val="0"/>
              </a:spcBef>
              <a:spcAft>
                <a:spcPts val="0"/>
              </a:spcAft>
              <a:buSzPts val="1800"/>
              <a:buChar char="●"/>
            </a:pPr>
            <a:r>
              <a:rPr lang="en"/>
              <a:t>Swing was initially available for use with Java 1.1 as a separate library. </a:t>
            </a:r>
            <a:endParaRPr/>
          </a:p>
          <a:p>
            <a:pPr indent="-342900" lvl="0" marL="457200" rtl="0" algn="l">
              <a:spcBef>
                <a:spcPts val="0"/>
              </a:spcBef>
              <a:spcAft>
                <a:spcPts val="0"/>
              </a:spcAft>
              <a:buSzPts val="1800"/>
              <a:buChar char="●"/>
            </a:pPr>
            <a:r>
              <a:rPr lang="en"/>
              <a:t>However, beginning with Java 1.2, Swing (and the rest of the JFC) was fully integrated into Java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Although Swing eliminates a number of the limitations inherent in the AWT, Swing does not replace it. </a:t>
            </a:r>
            <a:endParaRPr/>
          </a:p>
          <a:p>
            <a:pPr indent="-342900" lvl="0" marL="457200" rtl="0" algn="l">
              <a:spcBef>
                <a:spcPts val="0"/>
              </a:spcBef>
              <a:spcAft>
                <a:spcPts val="0"/>
              </a:spcAft>
              <a:buSzPts val="1800"/>
              <a:buChar char="●"/>
            </a:pPr>
            <a:r>
              <a:rPr lang="en"/>
              <a:t>Instead, Swing is built on the foundation of the AWT. </a:t>
            </a:r>
            <a:endParaRPr/>
          </a:p>
          <a:p>
            <a:pPr indent="-342900" lvl="0" marL="457200" rtl="0" algn="l">
              <a:spcBef>
                <a:spcPts val="0"/>
              </a:spcBef>
              <a:spcAft>
                <a:spcPts val="0"/>
              </a:spcAft>
              <a:buSzPts val="1800"/>
              <a:buChar char="●"/>
            </a:pPr>
            <a:r>
              <a:rPr lang="en"/>
              <a:t>This is why the AWT is still a crucial part of Java.</a:t>
            </a:r>
            <a:endParaRPr/>
          </a:p>
          <a:p>
            <a:pPr indent="-342900" lvl="0" marL="457200" rtl="0" algn="l">
              <a:spcBef>
                <a:spcPts val="0"/>
              </a:spcBef>
              <a:spcAft>
                <a:spcPts val="0"/>
              </a:spcAft>
              <a:buSzPts val="1800"/>
              <a:buChar char="●"/>
            </a:pPr>
            <a:r>
              <a:rPr lang="en"/>
              <a:t>Swing also uses the same event handling mechanism as the AWT. </a:t>
            </a:r>
            <a:endParaRPr/>
          </a:p>
          <a:p>
            <a:pPr indent="-342900" lvl="0" marL="457200" rtl="0" algn="l">
              <a:spcBef>
                <a:spcPts val="0"/>
              </a:spcBef>
              <a:spcAft>
                <a:spcPts val="0"/>
              </a:spcAft>
              <a:buSzPts val="1800"/>
              <a:buChar char="●"/>
            </a:pPr>
            <a:r>
              <a:rPr lang="en"/>
              <a:t>Therefore, a basic understanding of the AWT and of event handling is required to use Swing.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Swing Vs AWT</a:t>
            </a:r>
            <a:endParaRPr/>
          </a:p>
        </p:txBody>
      </p:sp>
      <p:sp>
        <p:nvSpPr>
          <p:cNvPr id="77" name="Google Shape;7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Platform Independence: </a:t>
            </a:r>
            <a:endParaRPr/>
          </a:p>
          <a:p>
            <a:pPr indent="-317500" lvl="1" marL="914400" rtl="0" algn="l">
              <a:spcBef>
                <a:spcPts val="0"/>
              </a:spcBef>
              <a:spcAft>
                <a:spcPts val="0"/>
              </a:spcAft>
              <a:buSzPts val="1400"/>
              <a:buChar char="○"/>
            </a:pPr>
            <a:r>
              <a:rPr lang="en"/>
              <a:t>AWT components are implemented using the native platform GUI toolkit, which means they may not look and behave consistently across different platforms. </a:t>
            </a:r>
            <a:endParaRPr/>
          </a:p>
          <a:p>
            <a:pPr indent="-317500" lvl="1" marL="914400" rtl="0" algn="l">
              <a:spcBef>
                <a:spcPts val="0"/>
              </a:spcBef>
              <a:spcAft>
                <a:spcPts val="0"/>
              </a:spcAft>
              <a:buSzPts val="1400"/>
              <a:buChar char="○"/>
            </a:pPr>
            <a:r>
              <a:rPr lang="en"/>
              <a:t>Swing, on the other hand, provides its own set of lightweight components that are consistent across all platforms.</a:t>
            </a:r>
            <a:endParaRPr/>
          </a:p>
          <a:p>
            <a:pPr indent="-342900" lvl="0" marL="457200" rtl="0" algn="l">
              <a:spcBef>
                <a:spcPts val="0"/>
              </a:spcBef>
              <a:spcAft>
                <a:spcPts val="0"/>
              </a:spcAft>
              <a:buSzPts val="1800"/>
              <a:buChar char="●"/>
            </a:pPr>
            <a:r>
              <a:rPr lang="en"/>
              <a:t>Look and Feel: </a:t>
            </a:r>
            <a:endParaRPr/>
          </a:p>
          <a:p>
            <a:pPr indent="-317500" lvl="1" marL="914400" rtl="0" algn="l">
              <a:spcBef>
                <a:spcPts val="0"/>
              </a:spcBef>
              <a:spcAft>
                <a:spcPts val="0"/>
              </a:spcAft>
              <a:buSzPts val="1400"/>
              <a:buChar char="○"/>
            </a:pPr>
            <a:r>
              <a:rPr lang="en"/>
              <a:t>AWT components rely on the native platform look and feel, which can lead to inconsistencies in appearance and behavior. </a:t>
            </a:r>
            <a:endParaRPr/>
          </a:p>
          <a:p>
            <a:pPr indent="-317500" lvl="1" marL="914400" rtl="0" algn="l">
              <a:spcBef>
                <a:spcPts val="0"/>
              </a:spcBef>
              <a:spcAft>
                <a:spcPts val="0"/>
              </a:spcAft>
              <a:buSzPts val="1400"/>
              <a:buChar char="○"/>
            </a:pPr>
            <a:r>
              <a:rPr lang="en"/>
              <a:t>Swing components have a pluggable look and feel architecture, allowing developers to choose a specific look and feel for their application, or even create custom ones.</a:t>
            </a:r>
            <a:endParaRPr/>
          </a:p>
          <a:p>
            <a:pPr indent="-342900" lvl="0" marL="457200" rtl="0" algn="l">
              <a:spcBef>
                <a:spcPts val="0"/>
              </a:spcBef>
              <a:spcAft>
                <a:spcPts val="0"/>
              </a:spcAft>
              <a:buSzPts val="1800"/>
              <a:buChar char="●"/>
            </a:pPr>
            <a:r>
              <a:rPr lang="en"/>
              <a:t>Heavyweight Components: </a:t>
            </a:r>
            <a:endParaRPr/>
          </a:p>
          <a:p>
            <a:pPr indent="-317500" lvl="1" marL="914400" rtl="0" algn="l">
              <a:spcBef>
                <a:spcPts val="0"/>
              </a:spcBef>
              <a:spcAft>
                <a:spcPts val="0"/>
              </a:spcAft>
              <a:buSzPts val="1400"/>
              <a:buChar char="○"/>
            </a:pPr>
            <a:r>
              <a:rPr lang="en"/>
              <a:t>AWT components are heavyweight, meaning they are directly tied to the native platform's resources. This can lead to slower performance and reduced flexibility. </a:t>
            </a:r>
            <a:endParaRPr/>
          </a:p>
          <a:p>
            <a:pPr indent="-317500" lvl="1" marL="914400" rtl="0" algn="l">
              <a:spcBef>
                <a:spcPts val="0"/>
              </a:spcBef>
              <a:spcAft>
                <a:spcPts val="0"/>
              </a:spcAft>
              <a:buSzPts val="1400"/>
              <a:buChar char="○"/>
            </a:pPr>
            <a:r>
              <a:rPr lang="en"/>
              <a:t>Swing, in contrast, provides lightweight components that are rendered entirely in Java, resulting in improved performance and greater flexibility.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Better Layout Managers: </a:t>
            </a:r>
            <a:endParaRPr/>
          </a:p>
          <a:p>
            <a:pPr indent="-317500" lvl="1" marL="914400" rtl="0" algn="l">
              <a:spcBef>
                <a:spcPts val="0"/>
              </a:spcBef>
              <a:spcAft>
                <a:spcPts val="0"/>
              </a:spcAft>
              <a:buSzPts val="1400"/>
              <a:buChar char="○"/>
            </a:pPr>
            <a:r>
              <a:rPr lang="en"/>
              <a:t>Swing includes additional layout managers that provide more control over the arrangement and sizing of components, making it easier to create complex and responsive user interfaces.</a:t>
            </a:r>
            <a:endParaRPr/>
          </a:p>
          <a:p>
            <a:pPr indent="-342900" lvl="0" marL="457200" rtl="0" algn="l">
              <a:spcBef>
                <a:spcPts val="0"/>
              </a:spcBef>
              <a:spcAft>
                <a:spcPts val="0"/>
              </a:spcAft>
              <a:buSzPts val="1800"/>
              <a:buChar char="●"/>
            </a:pPr>
            <a:r>
              <a:rPr lang="en"/>
              <a:t>Lack of Advanced Components: </a:t>
            </a:r>
            <a:endParaRPr/>
          </a:p>
          <a:p>
            <a:pPr indent="-317500" lvl="1" marL="914400" rtl="0" algn="l">
              <a:spcBef>
                <a:spcPts val="0"/>
              </a:spcBef>
              <a:spcAft>
                <a:spcPts val="0"/>
              </a:spcAft>
              <a:buSzPts val="1400"/>
              <a:buChar char="○"/>
            </a:pPr>
            <a:r>
              <a:rPr lang="en"/>
              <a:t>AWT lacks several advanced GUI components that are commonly used in modern applications, such as tables, trees, and tabbed panes. </a:t>
            </a:r>
            <a:endParaRPr/>
          </a:p>
          <a:p>
            <a:pPr indent="-317500" lvl="1" marL="914400" rtl="0" algn="l">
              <a:spcBef>
                <a:spcPts val="0"/>
              </a:spcBef>
              <a:spcAft>
                <a:spcPts val="0"/>
              </a:spcAft>
              <a:buSzPts val="1400"/>
              <a:buChar char="○"/>
            </a:pPr>
            <a:r>
              <a:rPr lang="en"/>
              <a:t>Swing includes a rich set of such components, making it easier to create complex user interfaces.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GUI Controls</a:t>
            </a:r>
            <a:endParaRPr/>
          </a:p>
        </p:txBody>
      </p:sp>
      <p:sp>
        <p:nvSpPr>
          <p:cNvPr id="88" name="Google Shape;8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JTextField</a:t>
            </a:r>
            <a:endParaRPr/>
          </a:p>
          <a:p>
            <a:pPr indent="-342900" lvl="0" marL="457200" rtl="0" algn="l">
              <a:spcBef>
                <a:spcPts val="0"/>
              </a:spcBef>
              <a:spcAft>
                <a:spcPts val="0"/>
              </a:spcAft>
              <a:buSzPts val="1800"/>
              <a:buChar char="●"/>
            </a:pPr>
            <a:r>
              <a:rPr lang="en"/>
              <a:t>JTextArea</a:t>
            </a:r>
            <a:endParaRPr/>
          </a:p>
          <a:p>
            <a:pPr indent="-342900" lvl="0" marL="457200" rtl="0" algn="l">
              <a:spcBef>
                <a:spcPts val="0"/>
              </a:spcBef>
              <a:spcAft>
                <a:spcPts val="0"/>
              </a:spcAft>
              <a:buSzPts val="1800"/>
              <a:buChar char="●"/>
            </a:pPr>
            <a:r>
              <a:rPr lang="en"/>
              <a:t>JPassword</a:t>
            </a:r>
            <a:endParaRPr/>
          </a:p>
          <a:p>
            <a:pPr indent="-342900" lvl="0" marL="457200" rtl="0" algn="l">
              <a:spcBef>
                <a:spcPts val="0"/>
              </a:spcBef>
              <a:spcAft>
                <a:spcPts val="0"/>
              </a:spcAft>
              <a:buSzPts val="1800"/>
              <a:buChar char="●"/>
            </a:pPr>
            <a:r>
              <a:rPr lang="en"/>
              <a:t>JScrollPane</a:t>
            </a:r>
            <a:endParaRPr/>
          </a:p>
          <a:p>
            <a:pPr indent="-342900" lvl="0" marL="457200" rtl="0" algn="l">
              <a:spcBef>
                <a:spcPts val="0"/>
              </a:spcBef>
              <a:spcAft>
                <a:spcPts val="0"/>
              </a:spcAft>
              <a:buSzPts val="1800"/>
              <a:buChar char="●"/>
            </a:pPr>
            <a:r>
              <a:rPr lang="en"/>
              <a:t>JLabel</a:t>
            </a:r>
            <a:endParaRPr/>
          </a:p>
          <a:p>
            <a:pPr indent="-342900" lvl="0" marL="457200" rtl="0" algn="l">
              <a:spcBef>
                <a:spcPts val="0"/>
              </a:spcBef>
              <a:spcAft>
                <a:spcPts val="0"/>
              </a:spcAft>
              <a:buSzPts val="1800"/>
              <a:buChar char="●"/>
            </a:pPr>
            <a:r>
              <a:rPr lang="en"/>
              <a:t>JCheckBox</a:t>
            </a:r>
            <a:endParaRPr/>
          </a:p>
          <a:p>
            <a:pPr indent="-342900" lvl="0" marL="457200" rtl="0" algn="l">
              <a:spcBef>
                <a:spcPts val="0"/>
              </a:spcBef>
              <a:spcAft>
                <a:spcPts val="0"/>
              </a:spcAft>
              <a:buSzPts val="1800"/>
              <a:buChar char="●"/>
            </a:pPr>
            <a:r>
              <a:rPr lang="en"/>
              <a:t>JRadioButton</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Swing Hierarchy</a:t>
            </a:r>
            <a:endParaRPr/>
          </a:p>
        </p:txBody>
      </p:sp>
      <p:sp>
        <p:nvSpPr>
          <p:cNvPr id="94" name="Google Shape;9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5" name="Google Shape;95;p20"/>
          <p:cNvPicPr preferRelativeResize="0"/>
          <p:nvPr/>
        </p:nvPicPr>
        <p:blipFill>
          <a:blip r:embed="rId3">
            <a:alphaModFix/>
          </a:blip>
          <a:stretch>
            <a:fillRect/>
          </a:stretch>
        </p:blipFill>
        <p:spPr>
          <a:xfrm>
            <a:off x="128776" y="1091550"/>
            <a:ext cx="7966075" cy="3538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Component</a:t>
            </a:r>
            <a:endParaRPr/>
          </a:p>
        </p:txBody>
      </p:sp>
      <p:sp>
        <p:nvSpPr>
          <p:cNvPr id="101" name="Google Shape;10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At the top of the AWT hierarchy is the Component class. </a:t>
            </a:r>
            <a:endParaRPr/>
          </a:p>
          <a:p>
            <a:pPr indent="-342900" lvl="0" marL="457200" rtl="0" algn="l">
              <a:spcBef>
                <a:spcPts val="0"/>
              </a:spcBef>
              <a:spcAft>
                <a:spcPts val="0"/>
              </a:spcAft>
              <a:buSzPts val="1800"/>
              <a:buChar char="●"/>
            </a:pPr>
            <a:r>
              <a:rPr lang="en"/>
              <a:t>Component is an abstract class that encapsulates all of the attributes of a visual component. </a:t>
            </a:r>
            <a:endParaRPr/>
          </a:p>
          <a:p>
            <a:pPr indent="-342900" lvl="0" marL="457200" rtl="0" algn="l">
              <a:spcBef>
                <a:spcPts val="0"/>
              </a:spcBef>
              <a:spcAft>
                <a:spcPts val="0"/>
              </a:spcAft>
              <a:buSzPts val="1800"/>
              <a:buChar char="●"/>
            </a:pPr>
            <a:r>
              <a:rPr lang="en"/>
              <a:t>Except for menus, all user interface elements that are displayed on the screen and that interact with the user are subclasses of Component. </a:t>
            </a:r>
            <a:endParaRPr/>
          </a:p>
          <a:p>
            <a:pPr indent="-342900" lvl="0" marL="457200" rtl="0" algn="l">
              <a:spcBef>
                <a:spcPts val="0"/>
              </a:spcBef>
              <a:spcAft>
                <a:spcPts val="0"/>
              </a:spcAft>
              <a:buSzPts val="1800"/>
              <a:buChar char="●"/>
            </a:pPr>
            <a:r>
              <a:rPr lang="en"/>
              <a:t>It defines over a hundred public methods that are responsible for managing events, such as mouse and keyboard input, positioning and sizing the window, and repainting.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lang="en"/>
              <a:t>Container</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Container class is a subclass of Component. </a:t>
            </a:r>
            <a:endParaRPr/>
          </a:p>
          <a:p>
            <a:pPr indent="-342900" lvl="0" marL="457200" rtl="0" algn="l">
              <a:spcBef>
                <a:spcPts val="0"/>
              </a:spcBef>
              <a:spcAft>
                <a:spcPts val="0"/>
              </a:spcAft>
              <a:buSzPts val="1800"/>
              <a:buChar char="●"/>
            </a:pPr>
            <a:r>
              <a:rPr lang="en"/>
              <a:t>It has additional methods that allow other Component objects to be nested within it. </a:t>
            </a:r>
            <a:endParaRPr/>
          </a:p>
          <a:p>
            <a:pPr indent="-342900" lvl="0" marL="457200" rtl="0" algn="l">
              <a:spcBef>
                <a:spcPts val="0"/>
              </a:spcBef>
              <a:spcAft>
                <a:spcPts val="0"/>
              </a:spcAft>
              <a:buSzPts val="1800"/>
              <a:buChar char="●"/>
            </a:pPr>
            <a:r>
              <a:rPr lang="en"/>
              <a:t>The Container is a component in AWT that can contain another components like buttons, textfields, labels etc. </a:t>
            </a:r>
            <a:endParaRPr/>
          </a:p>
          <a:p>
            <a:pPr indent="-342900" lvl="0" marL="457200" rtl="0" algn="l">
              <a:spcBef>
                <a:spcPts val="0"/>
              </a:spcBef>
              <a:spcAft>
                <a:spcPts val="0"/>
              </a:spcAft>
              <a:buSzPts val="1800"/>
              <a:buChar char="●"/>
            </a:pPr>
            <a:r>
              <a:rPr lang="en"/>
              <a:t>The classes that extends Container class are known as container such as JFrame, JDialog and JPanel.</a:t>
            </a:r>
            <a:endParaRPr/>
          </a:p>
          <a:p>
            <a:pPr indent="-342900" lvl="0" marL="457200" rtl="0" algn="l">
              <a:spcBef>
                <a:spcPts val="0"/>
              </a:spcBef>
              <a:spcAft>
                <a:spcPts val="0"/>
              </a:spcAft>
              <a:buSzPts val="1800"/>
              <a:buChar char="●"/>
            </a:pPr>
            <a:r>
              <a:rPr lang="en"/>
              <a:t>A container is responsible for laying out (positioning) any components that it contains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JFrame</a:t>
            </a:r>
            <a:endParaRPr/>
          </a:p>
        </p:txBody>
      </p:sp>
      <p:sp>
        <p:nvSpPr>
          <p:cNvPr id="113" name="Google Shape;11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The javax.swing.JFrame class is a type of container which inherits the java.awt.Frame class. </a:t>
            </a:r>
            <a:endParaRPr sz="1200">
              <a:solidFill>
                <a:srgbClr val="333333"/>
              </a:solidFill>
              <a:highlight>
                <a:srgbClr val="FFFFFF"/>
              </a:highlight>
              <a:latin typeface="Roboto"/>
              <a:ea typeface="Roboto"/>
              <a:cs typeface="Roboto"/>
              <a:sym typeface="Roboto"/>
            </a:endParaRPr>
          </a:p>
          <a:p>
            <a:pPr indent="-304800" lvl="0" marL="4572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JFrame works like the main window where components like labels, buttons, textfields are added to create a GUI.</a:t>
            </a:r>
            <a:endParaRPr sz="1200">
              <a:solidFill>
                <a:srgbClr val="333333"/>
              </a:solidFill>
              <a:highlight>
                <a:srgbClr val="FFFFFF"/>
              </a:highlight>
              <a:latin typeface="Roboto"/>
              <a:ea typeface="Roboto"/>
              <a:cs typeface="Roboto"/>
              <a:sym typeface="Roboto"/>
            </a:endParaRPr>
          </a:p>
          <a:p>
            <a:pPr indent="-304800" lvl="0" marL="4572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Constructors:</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JFrame()</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JFrame(String title)</a:t>
            </a:r>
            <a:endParaRPr sz="12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sz="1200">
              <a:solidFill>
                <a:srgbClr val="333333"/>
              </a:solidFill>
              <a:highlight>
                <a:srgbClr val="FFFFFF"/>
              </a:highlight>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JPanel</a:t>
            </a:r>
            <a:endParaRPr/>
          </a:p>
        </p:txBody>
      </p:sp>
      <p:sp>
        <p:nvSpPr>
          <p:cNvPr id="119" name="Google Shape;11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n" sz="1200">
                <a:solidFill>
                  <a:srgbClr val="333333"/>
                </a:solidFill>
                <a:highlight>
                  <a:srgbClr val="FFFFFF"/>
                </a:highlight>
                <a:latin typeface="Roboto"/>
                <a:ea typeface="Roboto"/>
                <a:cs typeface="Roboto"/>
                <a:sym typeface="Roboto"/>
              </a:rPr>
              <a:t>The JPanel is a simplest container class. </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rPr lang="en" sz="1200">
                <a:solidFill>
                  <a:srgbClr val="333333"/>
                </a:solidFill>
                <a:highlight>
                  <a:srgbClr val="FFFFFF"/>
                </a:highlight>
                <a:latin typeface="Roboto"/>
                <a:ea typeface="Roboto"/>
                <a:cs typeface="Roboto"/>
                <a:sym typeface="Roboto"/>
              </a:rPr>
              <a:t>It provides space in which an application can attach any other component. </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It inherits the JComponents class.</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It doesn't have title bar.</a:t>
            </a:r>
            <a:endParaRPr sz="12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JLabel</a:t>
            </a:r>
            <a:endParaRPr/>
          </a:p>
        </p:txBody>
      </p:sp>
      <p:sp>
        <p:nvSpPr>
          <p:cNvPr id="125" name="Google Shape;12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JLabel is Swing’s easiest-to-use component. </a:t>
            </a:r>
            <a:endParaRPr/>
          </a:p>
          <a:p>
            <a:pPr indent="-342900" lvl="0" marL="457200" rtl="0" algn="l">
              <a:spcBef>
                <a:spcPts val="0"/>
              </a:spcBef>
              <a:spcAft>
                <a:spcPts val="0"/>
              </a:spcAft>
              <a:buSzPts val="1800"/>
              <a:buChar char="●"/>
            </a:pPr>
            <a:r>
              <a:rPr lang="en"/>
              <a:t>JLabel can be used to display text and/or an icon.</a:t>
            </a:r>
            <a:endParaRPr/>
          </a:p>
          <a:p>
            <a:pPr indent="-342900" lvl="0" marL="457200" rtl="0" algn="l">
              <a:spcBef>
                <a:spcPts val="0"/>
              </a:spcBef>
              <a:spcAft>
                <a:spcPts val="0"/>
              </a:spcAft>
              <a:buSzPts val="1800"/>
              <a:buChar char="●"/>
            </a:pPr>
            <a:r>
              <a:rPr lang="en"/>
              <a:t>It is a passive component that it does not respond to user input. </a:t>
            </a:r>
            <a:endParaRPr/>
          </a:p>
          <a:p>
            <a:pPr indent="-342900" lvl="0" marL="457200" rtl="0" algn="l">
              <a:spcBef>
                <a:spcPts val="0"/>
              </a:spcBef>
              <a:spcAft>
                <a:spcPts val="0"/>
              </a:spcAft>
              <a:buSzPts val="1800"/>
              <a:buChar char="●"/>
            </a:pPr>
            <a:r>
              <a:rPr lang="en"/>
              <a:t>JLabel defines several constructors. Here are three of them: </a:t>
            </a:r>
            <a:endParaRPr/>
          </a:p>
          <a:p>
            <a:pPr indent="-317500" lvl="1" marL="914400" rtl="0" algn="l">
              <a:spcBef>
                <a:spcPts val="0"/>
              </a:spcBef>
              <a:spcAft>
                <a:spcPts val="0"/>
              </a:spcAft>
              <a:buSzPts val="1400"/>
              <a:buChar char="○"/>
            </a:pPr>
            <a:r>
              <a:rPr lang="en"/>
              <a:t>JLabel(Icon icon) </a:t>
            </a:r>
            <a:endParaRPr/>
          </a:p>
          <a:p>
            <a:pPr indent="-317500" lvl="1" marL="914400" rtl="0" algn="l">
              <a:spcBef>
                <a:spcPts val="0"/>
              </a:spcBef>
              <a:spcAft>
                <a:spcPts val="0"/>
              </a:spcAft>
              <a:buSzPts val="1400"/>
              <a:buChar char="○"/>
            </a:pPr>
            <a:r>
              <a:rPr lang="en"/>
              <a:t>JLabel(String str)</a:t>
            </a:r>
            <a:endParaRPr/>
          </a:p>
          <a:p>
            <a:pPr indent="-317500" lvl="1" marL="914400" rtl="0" algn="l">
              <a:spcBef>
                <a:spcPts val="0"/>
              </a:spcBef>
              <a:spcAft>
                <a:spcPts val="0"/>
              </a:spcAft>
              <a:buSzPts val="1400"/>
              <a:buChar char="○"/>
            </a:pPr>
            <a:r>
              <a:rPr lang="en"/>
              <a:t>JLabel(String str, Icon icon, int align)</a:t>
            </a:r>
            <a:endParaRPr/>
          </a:p>
          <a:p>
            <a:pPr indent="-342900" lvl="0" marL="457200" rtl="0" algn="l">
              <a:spcBef>
                <a:spcPts val="0"/>
              </a:spcBef>
              <a:spcAft>
                <a:spcPts val="0"/>
              </a:spcAft>
              <a:buSzPts val="1800"/>
              <a:buChar char="●"/>
            </a:pPr>
            <a:r>
              <a:rPr lang="en"/>
              <a:t>Here, str and icon are the text and icon used for the label. </a:t>
            </a:r>
            <a:endParaRPr/>
          </a:p>
          <a:p>
            <a:pPr indent="-342900" lvl="0" marL="457200" rtl="0" algn="l">
              <a:spcBef>
                <a:spcPts val="0"/>
              </a:spcBef>
              <a:spcAft>
                <a:spcPts val="0"/>
              </a:spcAft>
              <a:buSzPts val="1800"/>
              <a:buChar char="●"/>
            </a:pPr>
            <a:r>
              <a:rPr lang="en"/>
              <a:t>The align argument specifies the horizontal alignment of the text and/or icon within the dimensions of the label. </a:t>
            </a:r>
            <a:endParaRPr/>
          </a:p>
          <a:p>
            <a:pPr indent="-342900" lvl="0" marL="457200" rtl="0" algn="l">
              <a:spcBef>
                <a:spcPts val="0"/>
              </a:spcBef>
              <a:spcAft>
                <a:spcPts val="0"/>
              </a:spcAft>
              <a:buSzPts val="1800"/>
              <a:buChar char="●"/>
            </a:pPr>
            <a:r>
              <a:rPr lang="en"/>
              <a:t>It must be one of the following values: </a:t>
            </a:r>
            <a:endParaRPr/>
          </a:p>
          <a:p>
            <a:pPr indent="-317500" lvl="1" marL="914400" rtl="0" algn="l">
              <a:spcBef>
                <a:spcPts val="0"/>
              </a:spcBef>
              <a:spcAft>
                <a:spcPts val="0"/>
              </a:spcAft>
              <a:buSzPts val="1400"/>
              <a:buChar char="○"/>
            </a:pPr>
            <a:r>
              <a:rPr lang="en"/>
              <a:t>LEFT, RIGHT, CENTER, LEADING, or TRAILING.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JTextField </a:t>
            </a:r>
            <a:endParaRPr/>
          </a:p>
        </p:txBody>
      </p:sp>
      <p:sp>
        <p:nvSpPr>
          <p:cNvPr id="131" name="Google Shape;131;p26"/>
          <p:cNvSpPr txBox="1"/>
          <p:nvPr>
            <p:ph idx="1" type="body"/>
          </p:nvPr>
        </p:nvSpPr>
        <p:spPr>
          <a:xfrm>
            <a:off x="0" y="13013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JTextField is the simplest Swing text component. </a:t>
            </a:r>
            <a:endParaRPr/>
          </a:p>
          <a:p>
            <a:pPr indent="-342900" lvl="0" marL="457200" rtl="0" algn="l">
              <a:spcBef>
                <a:spcPts val="0"/>
              </a:spcBef>
              <a:spcAft>
                <a:spcPts val="0"/>
              </a:spcAft>
              <a:buSzPts val="1800"/>
              <a:buChar char="●"/>
            </a:pPr>
            <a:r>
              <a:rPr lang="en"/>
              <a:t>It is also probably its most widely used text component. </a:t>
            </a:r>
            <a:endParaRPr/>
          </a:p>
          <a:p>
            <a:pPr indent="-342900" lvl="0" marL="457200" rtl="0" algn="l">
              <a:spcBef>
                <a:spcPts val="0"/>
              </a:spcBef>
              <a:spcAft>
                <a:spcPts val="0"/>
              </a:spcAft>
              <a:buSzPts val="1800"/>
              <a:buChar char="●"/>
            </a:pPr>
            <a:r>
              <a:rPr lang="en"/>
              <a:t>JTextField allows you to edit one line of text. </a:t>
            </a:r>
            <a:endParaRPr/>
          </a:p>
          <a:p>
            <a:pPr indent="-342900" lvl="0" marL="457200" rtl="0" algn="l">
              <a:spcBef>
                <a:spcPts val="0"/>
              </a:spcBef>
              <a:spcAft>
                <a:spcPts val="0"/>
              </a:spcAft>
              <a:buSzPts val="1800"/>
              <a:buChar char="●"/>
            </a:pPr>
            <a:r>
              <a:rPr lang="en"/>
              <a:t>Three of JTextField constructors are shown here: </a:t>
            </a:r>
            <a:endParaRPr/>
          </a:p>
          <a:p>
            <a:pPr indent="-317500" lvl="1" marL="914400" rtl="0" algn="l">
              <a:spcBef>
                <a:spcPts val="0"/>
              </a:spcBef>
              <a:spcAft>
                <a:spcPts val="0"/>
              </a:spcAft>
              <a:buSzPts val="1400"/>
              <a:buChar char="○"/>
            </a:pPr>
            <a:r>
              <a:rPr lang="en"/>
              <a:t>JTextField(int cols) </a:t>
            </a:r>
            <a:endParaRPr/>
          </a:p>
          <a:p>
            <a:pPr indent="-317500" lvl="1" marL="914400" rtl="0" algn="l">
              <a:spcBef>
                <a:spcPts val="0"/>
              </a:spcBef>
              <a:spcAft>
                <a:spcPts val="0"/>
              </a:spcAft>
              <a:buSzPts val="1400"/>
              <a:buChar char="○"/>
            </a:pPr>
            <a:r>
              <a:rPr lang="en"/>
              <a:t>JTextField(String str, int cols) </a:t>
            </a:r>
            <a:endParaRPr/>
          </a:p>
          <a:p>
            <a:pPr indent="-317500" lvl="1" marL="914400" rtl="0" algn="l">
              <a:spcBef>
                <a:spcPts val="0"/>
              </a:spcBef>
              <a:spcAft>
                <a:spcPts val="0"/>
              </a:spcAft>
              <a:buSzPts val="1400"/>
              <a:buChar char="○"/>
            </a:pPr>
            <a:r>
              <a:rPr lang="en"/>
              <a:t>JTextField(String str) </a:t>
            </a:r>
            <a:endParaRPr/>
          </a:p>
          <a:p>
            <a:pPr indent="-342900" lvl="0" marL="457200" rtl="0" algn="l">
              <a:spcBef>
                <a:spcPts val="0"/>
              </a:spcBef>
              <a:spcAft>
                <a:spcPts val="0"/>
              </a:spcAft>
              <a:buSzPts val="1800"/>
              <a:buChar char="●"/>
            </a:pPr>
            <a:r>
              <a:rPr lang="en"/>
              <a:t>Here, str is the string to be initially presented, and cols is the number of columns in the text field. If no string is specified, the text field is initially empty. If the number of columns is not specified, the text field is sized to fit the specified string.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5212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2400">
                <a:solidFill>
                  <a:schemeClr val="dk2"/>
                </a:solidFill>
              </a:rPr>
              <a:t>Java JTextArea</a:t>
            </a:r>
            <a:endParaRPr sz="2400"/>
          </a:p>
        </p:txBody>
      </p:sp>
      <p:sp>
        <p:nvSpPr>
          <p:cNvPr id="137" name="Google Shape;137;p2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object of a JTextArea class is a multi line region that displays text.</a:t>
            </a:r>
            <a:endParaRPr/>
          </a:p>
          <a:p>
            <a:pPr indent="-342900" lvl="0" marL="457200" rtl="0" algn="l">
              <a:spcBef>
                <a:spcPts val="0"/>
              </a:spcBef>
              <a:spcAft>
                <a:spcPts val="0"/>
              </a:spcAft>
              <a:buSzPts val="1800"/>
              <a:buChar char="●"/>
            </a:pPr>
            <a:r>
              <a:rPr lang="en"/>
              <a:t>It allows the editing of multiple line text.</a:t>
            </a:r>
            <a:endParaRPr/>
          </a:p>
          <a:p>
            <a:pPr indent="-342900" lvl="0" marL="457200" rtl="0" algn="l">
              <a:spcBef>
                <a:spcPts val="0"/>
              </a:spcBef>
              <a:spcAft>
                <a:spcPts val="0"/>
              </a:spcAft>
              <a:buSzPts val="1800"/>
              <a:buChar char="●"/>
            </a:pPr>
            <a:r>
              <a:rPr lang="en"/>
              <a:t>Commonly used constructor are:</a:t>
            </a:r>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JTextArea()</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JTextArea(String s)</a:t>
            </a:r>
            <a:endParaRPr sz="1200">
              <a:solidFill>
                <a:srgbClr val="333333"/>
              </a:solidFill>
              <a:highlight>
                <a:srgbClr val="EFF1EB"/>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JTextArea(int row, int column)</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JTextArea(String s, int row, int column)</a:t>
            </a:r>
            <a:endParaRPr sz="12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JButton </a:t>
            </a:r>
            <a:endParaRPr/>
          </a:p>
        </p:txBody>
      </p:sp>
      <p:sp>
        <p:nvSpPr>
          <p:cNvPr id="143" name="Google Shape;14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JButton class provides the functionality of a push button. </a:t>
            </a:r>
            <a:endParaRPr/>
          </a:p>
          <a:p>
            <a:pPr indent="-342900" lvl="0" marL="457200" rtl="0" algn="l">
              <a:spcBef>
                <a:spcPts val="0"/>
              </a:spcBef>
              <a:spcAft>
                <a:spcPts val="0"/>
              </a:spcAft>
              <a:buSzPts val="1800"/>
              <a:buChar char="●"/>
            </a:pPr>
            <a:r>
              <a:rPr lang="en"/>
              <a:t>JButton allows an icon, a string, or both to be associated with the push button. Three of its constructors are shown here: </a:t>
            </a:r>
            <a:endParaRPr/>
          </a:p>
          <a:p>
            <a:pPr indent="-317500" lvl="1" marL="914400" rtl="0" algn="l">
              <a:spcBef>
                <a:spcPts val="0"/>
              </a:spcBef>
              <a:spcAft>
                <a:spcPts val="0"/>
              </a:spcAft>
              <a:buSzPts val="1400"/>
              <a:buChar char="○"/>
            </a:pPr>
            <a:r>
              <a:rPr lang="en"/>
              <a:t>JButton(Icon icon) </a:t>
            </a:r>
            <a:endParaRPr/>
          </a:p>
          <a:p>
            <a:pPr indent="-317500" lvl="1" marL="914400" rtl="0" algn="l">
              <a:spcBef>
                <a:spcPts val="0"/>
              </a:spcBef>
              <a:spcAft>
                <a:spcPts val="0"/>
              </a:spcAft>
              <a:buSzPts val="1400"/>
              <a:buChar char="○"/>
            </a:pPr>
            <a:r>
              <a:rPr lang="en"/>
              <a:t>JButton(String str) </a:t>
            </a:r>
            <a:endParaRPr/>
          </a:p>
          <a:p>
            <a:pPr indent="-317500" lvl="1" marL="914400" rtl="0" algn="l">
              <a:spcBef>
                <a:spcPts val="0"/>
              </a:spcBef>
              <a:spcAft>
                <a:spcPts val="0"/>
              </a:spcAft>
              <a:buSzPts val="1400"/>
              <a:buChar char="○"/>
            </a:pPr>
            <a:r>
              <a:rPr lang="en"/>
              <a:t>JButton(String str, Icon icon) </a:t>
            </a:r>
            <a:endParaRPr/>
          </a:p>
          <a:p>
            <a:pPr indent="-342900" lvl="0" marL="457200" rtl="0" algn="l">
              <a:spcBef>
                <a:spcPts val="0"/>
              </a:spcBef>
              <a:spcAft>
                <a:spcPts val="0"/>
              </a:spcAft>
              <a:buSzPts val="1800"/>
              <a:buChar char="●"/>
            </a:pPr>
            <a:r>
              <a:rPr lang="en"/>
              <a:t>Here, str and icon are the string and icon used for the button. </a:t>
            </a:r>
            <a:endParaRPr/>
          </a:p>
          <a:p>
            <a:pPr indent="-342900" lvl="0" marL="457200" rtl="0" algn="l">
              <a:spcBef>
                <a:spcPts val="0"/>
              </a:spcBef>
              <a:spcAft>
                <a:spcPts val="0"/>
              </a:spcAft>
              <a:buSzPts val="1800"/>
              <a:buChar char="●"/>
            </a:pPr>
            <a:r>
              <a:rPr lang="en"/>
              <a:t>When the button is pressed, an ActionEvent is generated.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JPasswordField</a:t>
            </a:r>
            <a:endParaRPr/>
          </a:p>
        </p:txBody>
      </p:sp>
      <p:sp>
        <p:nvSpPr>
          <p:cNvPr id="149" name="Google Shape;14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object of a JPasswordField class is a text component specialized for password entry.</a:t>
            </a:r>
            <a:endParaRPr/>
          </a:p>
          <a:p>
            <a:pPr indent="-342900" lvl="0" marL="457200" rtl="0" algn="l">
              <a:spcBef>
                <a:spcPts val="0"/>
              </a:spcBef>
              <a:spcAft>
                <a:spcPts val="0"/>
              </a:spcAft>
              <a:buSzPts val="1800"/>
              <a:buChar char="●"/>
            </a:pPr>
            <a:r>
              <a:rPr lang="en"/>
              <a:t> It allows the editing of a single line of text. </a:t>
            </a:r>
            <a:endParaRPr/>
          </a:p>
          <a:p>
            <a:pPr indent="-342900" lvl="0" marL="457200" rtl="0" algn="l">
              <a:spcBef>
                <a:spcPts val="0"/>
              </a:spcBef>
              <a:spcAft>
                <a:spcPts val="0"/>
              </a:spcAft>
              <a:buSzPts val="1800"/>
              <a:buChar char="●"/>
            </a:pPr>
            <a:r>
              <a:rPr lang="en"/>
              <a:t>It inherits JTextField class.</a:t>
            </a:r>
            <a:endParaRPr/>
          </a:p>
          <a:p>
            <a:pPr indent="-342900" lvl="0" marL="457200" rtl="0" algn="l">
              <a:spcBef>
                <a:spcPts val="0"/>
              </a:spcBef>
              <a:spcAft>
                <a:spcPts val="0"/>
              </a:spcAft>
              <a:buSzPts val="1800"/>
              <a:buChar char="●"/>
            </a:pPr>
            <a:r>
              <a:rPr lang="en"/>
              <a:t>Common Constructors are:</a:t>
            </a:r>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JPasswordField()</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JPasswordField(String str)</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JPasswordField(int column)</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JPasswordField(String str, int column)</a:t>
            </a:r>
            <a:endParaRPr sz="12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Check Boxes </a:t>
            </a:r>
            <a:endParaRPr/>
          </a:p>
        </p:txBody>
      </p:sp>
      <p:sp>
        <p:nvSpPr>
          <p:cNvPr id="155" name="Google Shape;15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JCheckBox class provides the functionality of a check box. </a:t>
            </a:r>
            <a:endParaRPr/>
          </a:p>
          <a:p>
            <a:pPr indent="-342900" lvl="0" marL="457200" rtl="0" algn="l">
              <a:spcBef>
                <a:spcPts val="0"/>
              </a:spcBef>
              <a:spcAft>
                <a:spcPts val="0"/>
              </a:spcAft>
              <a:buSzPts val="1800"/>
              <a:buChar char="●"/>
            </a:pPr>
            <a:r>
              <a:rPr lang="en"/>
              <a:t>JCheckBox defines several constructors.</a:t>
            </a:r>
            <a:endParaRPr/>
          </a:p>
          <a:p>
            <a:pPr indent="-317500" lvl="1" marL="914400" rtl="0" algn="l">
              <a:spcBef>
                <a:spcPts val="0"/>
              </a:spcBef>
              <a:spcAft>
                <a:spcPts val="0"/>
              </a:spcAft>
              <a:buSzPts val="1400"/>
              <a:buChar char="○"/>
            </a:pPr>
            <a:r>
              <a:rPr lang="en"/>
              <a:t>JCheckBox(String str) </a:t>
            </a:r>
            <a:endParaRPr/>
          </a:p>
          <a:p>
            <a:pPr indent="-317500" lvl="1" marL="914400" rtl="0" algn="l">
              <a:spcBef>
                <a:spcPts val="0"/>
              </a:spcBef>
              <a:spcAft>
                <a:spcPts val="0"/>
              </a:spcAft>
              <a:buSzPts val="1400"/>
              <a:buChar char="○"/>
            </a:pPr>
            <a:r>
              <a:rPr lang="en" sz="1200">
                <a:solidFill>
                  <a:srgbClr val="333333"/>
                </a:solidFill>
                <a:highlight>
                  <a:srgbClr val="FFFFFF"/>
                </a:highlight>
                <a:latin typeface="Roboto"/>
                <a:ea typeface="Roboto"/>
                <a:cs typeface="Roboto"/>
                <a:sym typeface="Roboto"/>
              </a:rPr>
              <a:t>JCheckBox(String text, boolean selected)</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JCheckBox()</a:t>
            </a:r>
            <a:endParaRPr/>
          </a:p>
          <a:p>
            <a:pPr indent="-342900" lvl="0" marL="457200" rtl="0" algn="l">
              <a:spcBef>
                <a:spcPts val="0"/>
              </a:spcBef>
              <a:spcAft>
                <a:spcPts val="0"/>
              </a:spcAft>
              <a:buSzPts val="1800"/>
              <a:buChar char="●"/>
            </a:pPr>
            <a:r>
              <a:rPr lang="en"/>
              <a:t>When the user selects or deselect a checkbox, an ItemEvent is generated. </a:t>
            </a:r>
            <a:endParaRPr/>
          </a:p>
          <a:p>
            <a:pPr indent="-342900" lvl="0" marL="457200" rtl="0" algn="l">
              <a:spcBef>
                <a:spcPts val="0"/>
              </a:spcBef>
              <a:spcAft>
                <a:spcPts val="0"/>
              </a:spcAft>
              <a:buSzPts val="1800"/>
              <a:buChar char="●"/>
            </a:pPr>
            <a:r>
              <a:rPr lang="en"/>
              <a:t> The easiest way to determine the selected state of a check box is to call isSelected( ) on the JCheckBox instance.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Radio Buttons </a:t>
            </a:r>
            <a:endParaRPr/>
          </a:p>
        </p:txBody>
      </p:sp>
      <p:sp>
        <p:nvSpPr>
          <p:cNvPr id="161" name="Google Shape;16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Radio buttons are a group of mutually exclusive buttons, in which only one button can be selected at any one time. </a:t>
            </a:r>
            <a:endParaRPr/>
          </a:p>
          <a:p>
            <a:pPr indent="-342900" lvl="0" marL="457200" rtl="0" algn="l">
              <a:spcBef>
                <a:spcPts val="0"/>
              </a:spcBef>
              <a:spcAft>
                <a:spcPts val="0"/>
              </a:spcAft>
              <a:buSzPts val="1800"/>
              <a:buChar char="●"/>
            </a:pPr>
            <a:r>
              <a:rPr lang="en"/>
              <a:t>JRadioButton provides several constructors. </a:t>
            </a:r>
            <a:endParaRPr/>
          </a:p>
          <a:p>
            <a:pPr indent="-317500" lvl="1" marL="914400" rtl="0" algn="l">
              <a:spcBef>
                <a:spcPts val="0"/>
              </a:spcBef>
              <a:spcAft>
                <a:spcPts val="0"/>
              </a:spcAft>
              <a:buSzPts val="1400"/>
              <a:buChar char="○"/>
            </a:pPr>
            <a:r>
              <a:rPr lang="en"/>
              <a:t>JRadioButton(String str) </a:t>
            </a:r>
            <a:endParaRPr/>
          </a:p>
          <a:p>
            <a:pPr indent="-342900" lvl="0" marL="457200" rtl="0" algn="l">
              <a:spcBef>
                <a:spcPts val="0"/>
              </a:spcBef>
              <a:spcAft>
                <a:spcPts val="0"/>
              </a:spcAft>
              <a:buSzPts val="1800"/>
              <a:buChar char="●"/>
            </a:pPr>
            <a:r>
              <a:rPr lang="en"/>
              <a:t>Here, str is the label for the button. Other constructors let you specify the initial selection state of the button and specify an icon. </a:t>
            </a:r>
            <a:endParaRPr/>
          </a:p>
          <a:p>
            <a:pPr indent="-342900" lvl="0" marL="457200" rtl="0" algn="l">
              <a:spcBef>
                <a:spcPts val="0"/>
              </a:spcBef>
              <a:spcAft>
                <a:spcPts val="0"/>
              </a:spcAft>
              <a:buSzPts val="1800"/>
              <a:buChar char="●"/>
            </a:pPr>
            <a:r>
              <a:rPr lang="en"/>
              <a:t>In order for their mutually exclusive nature to be activated, radio buttons must be configured into a group. </a:t>
            </a:r>
            <a:endParaRPr/>
          </a:p>
          <a:p>
            <a:pPr indent="-342900" lvl="0" marL="457200" rtl="0" algn="l">
              <a:spcBef>
                <a:spcPts val="0"/>
              </a:spcBef>
              <a:spcAft>
                <a:spcPts val="0"/>
              </a:spcAft>
              <a:buSzPts val="1800"/>
              <a:buChar char="●"/>
            </a:pPr>
            <a:r>
              <a:rPr lang="en"/>
              <a:t>Only one of the buttons in the group can be selected at any time.</a:t>
            </a:r>
            <a:endParaRPr/>
          </a:p>
          <a:p>
            <a:pPr indent="-342900" lvl="0" marL="457200" rtl="0" algn="l">
              <a:spcBef>
                <a:spcPts val="0"/>
              </a:spcBef>
              <a:spcAft>
                <a:spcPts val="0"/>
              </a:spcAft>
              <a:buSzPts val="1800"/>
              <a:buChar char="●"/>
            </a:pPr>
            <a:r>
              <a:rPr lang="en"/>
              <a:t>A button group is created by the ButtonGroup class. </a:t>
            </a:r>
            <a:endParaRPr/>
          </a:p>
          <a:p>
            <a:pPr indent="-342900" lvl="0" marL="457200" rtl="0" algn="l">
              <a:spcBef>
                <a:spcPts val="0"/>
              </a:spcBef>
              <a:spcAft>
                <a:spcPts val="0"/>
              </a:spcAft>
              <a:buSzPts val="1800"/>
              <a:buChar char="●"/>
            </a:pPr>
            <a:r>
              <a:rPr lang="en"/>
              <a:t>A a reference to the button to be added to the group.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JComboBox</a:t>
            </a:r>
            <a:endParaRPr/>
          </a:p>
          <a:p>
            <a:pPr indent="0" lvl="0" marL="0" rtl="0" algn="l">
              <a:spcBef>
                <a:spcPts val="0"/>
              </a:spcBef>
              <a:spcAft>
                <a:spcPts val="0"/>
              </a:spcAft>
              <a:buNone/>
            </a:pPr>
            <a:r>
              <a:t/>
            </a:r>
            <a:endParaRPr/>
          </a:p>
        </p:txBody>
      </p:sp>
      <p:sp>
        <p:nvSpPr>
          <p:cNvPr id="167" name="Google Shape;167;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Swing provides a combo box (a combination of a text field and a drop-down list) through the JComboBox class. </a:t>
            </a:r>
            <a:endParaRPr/>
          </a:p>
          <a:p>
            <a:pPr indent="-325755" lvl="0" marL="457200" rtl="0" algn="l">
              <a:spcBef>
                <a:spcPts val="0"/>
              </a:spcBef>
              <a:spcAft>
                <a:spcPts val="0"/>
              </a:spcAft>
              <a:buSzPct val="100000"/>
              <a:buChar char="●"/>
            </a:pPr>
            <a:r>
              <a:rPr lang="en"/>
              <a:t>A combo box normally displays one entry, but it will also display a drop-down list that allows a user to select a different entry. </a:t>
            </a:r>
            <a:endParaRPr/>
          </a:p>
          <a:p>
            <a:pPr indent="-325755" lvl="0" marL="457200" rtl="0" algn="l">
              <a:spcBef>
                <a:spcPts val="0"/>
              </a:spcBef>
              <a:spcAft>
                <a:spcPts val="0"/>
              </a:spcAft>
              <a:buSzPct val="100000"/>
              <a:buChar char="●"/>
            </a:pPr>
            <a:r>
              <a:rPr lang="en"/>
              <a:t>You can also create a combo box that lets the user enter a selection into the text field. </a:t>
            </a:r>
            <a:endParaRPr/>
          </a:p>
          <a:p>
            <a:pPr indent="-325755" lvl="0" marL="457200" rtl="0" algn="l">
              <a:spcBef>
                <a:spcPts val="0"/>
              </a:spcBef>
              <a:spcAft>
                <a:spcPts val="0"/>
              </a:spcAft>
              <a:buSzPct val="100000"/>
              <a:buChar char="●"/>
            </a:pPr>
            <a:r>
              <a:rPr lang="en"/>
              <a:t>In the past, the items in a JComboBox were represented as Object references. However, beginning with JDK 7, JComboBox was made generic and is now declared like this: class JComboBox&lt;E&gt; </a:t>
            </a:r>
            <a:endParaRPr/>
          </a:p>
          <a:p>
            <a:pPr indent="-325755" lvl="0" marL="457200" rtl="0" algn="l">
              <a:spcBef>
                <a:spcPts val="0"/>
              </a:spcBef>
              <a:spcAft>
                <a:spcPts val="0"/>
              </a:spcAft>
              <a:buSzPct val="100000"/>
              <a:buChar char="●"/>
            </a:pPr>
            <a:r>
              <a:rPr lang="en"/>
              <a:t>Here, E represents the type of the items in the combo box. </a:t>
            </a:r>
            <a:endParaRPr/>
          </a:p>
          <a:p>
            <a:pPr indent="-325755" lvl="0" marL="457200" rtl="0" algn="l">
              <a:spcBef>
                <a:spcPts val="0"/>
              </a:spcBef>
              <a:spcAft>
                <a:spcPts val="0"/>
              </a:spcAft>
              <a:buSzPct val="100000"/>
              <a:buChar char="●"/>
            </a:pPr>
            <a:r>
              <a:rPr lang="en"/>
              <a:t>The JComboBox constructor: </a:t>
            </a:r>
            <a:endParaRPr/>
          </a:p>
          <a:p>
            <a:pPr indent="-304165" lvl="1" marL="914400" rtl="0" algn="l">
              <a:spcBef>
                <a:spcPts val="0"/>
              </a:spcBef>
              <a:spcAft>
                <a:spcPts val="0"/>
              </a:spcAft>
              <a:buSzPct val="100000"/>
              <a:buChar char="○"/>
            </a:pPr>
            <a:r>
              <a:rPr lang="en"/>
              <a:t>JComboBox(E[ ] items) </a:t>
            </a:r>
            <a:endParaRPr/>
          </a:p>
          <a:p>
            <a:pPr indent="-304165" lvl="1" marL="914400" rtl="0" algn="l">
              <a:spcBef>
                <a:spcPts val="0"/>
              </a:spcBef>
              <a:spcAft>
                <a:spcPts val="0"/>
              </a:spcAft>
              <a:buSzPct val="116666"/>
              <a:buChar char="○"/>
            </a:pPr>
            <a:r>
              <a:rPr lang="en" sz="1200">
                <a:solidFill>
                  <a:srgbClr val="333333"/>
                </a:solidFill>
                <a:highlight>
                  <a:srgbClr val="FFFFFF"/>
                </a:highlight>
                <a:latin typeface="Roboto"/>
                <a:ea typeface="Roboto"/>
                <a:cs typeface="Roboto"/>
                <a:sym typeface="Roboto"/>
              </a:rPr>
              <a:t>JComboBox()</a:t>
            </a:r>
            <a:endParaRPr/>
          </a:p>
          <a:p>
            <a:pPr indent="-325755" lvl="0" marL="457200" rtl="0" algn="l">
              <a:spcBef>
                <a:spcPts val="0"/>
              </a:spcBef>
              <a:spcAft>
                <a:spcPts val="0"/>
              </a:spcAft>
              <a:buSzPct val="100000"/>
              <a:buChar char="●"/>
            </a:pPr>
            <a:r>
              <a:rPr lang="en"/>
              <a:t>Here, items is an array that initializes the combo box.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a:t>
            </a:r>
            <a:endParaRPr/>
          </a:p>
        </p:txBody>
      </p:sp>
      <p:sp>
        <p:nvSpPr>
          <p:cNvPr id="173" name="Google Shape;17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JTable class is a part of Java Swing Package and is generally used to display or edit two-dimensional data that is having both rows and columns. It is similar to a spreadsheet. This arranges data in a tabular form.</a:t>
            </a:r>
            <a:endParaRPr/>
          </a:p>
          <a:p>
            <a:pPr indent="-342900" lvl="0" marL="457200" rtl="0" algn="l">
              <a:spcBef>
                <a:spcPts val="0"/>
              </a:spcBef>
              <a:spcAft>
                <a:spcPts val="0"/>
              </a:spcAft>
              <a:buSzPts val="1800"/>
              <a:buChar char="●"/>
            </a:pPr>
            <a:r>
              <a:rPr lang="en"/>
              <a:t>Constructors in JTable: </a:t>
            </a:r>
            <a:endParaRPr/>
          </a:p>
          <a:p>
            <a:pPr indent="-317500" lvl="1" marL="914400" rtl="0" algn="l">
              <a:spcBef>
                <a:spcPts val="0"/>
              </a:spcBef>
              <a:spcAft>
                <a:spcPts val="0"/>
              </a:spcAft>
              <a:buSzPts val="1400"/>
              <a:buChar char="○"/>
            </a:pPr>
            <a:r>
              <a:rPr lang="en"/>
              <a:t>JTable(): A table is created with empty cells.</a:t>
            </a:r>
            <a:endParaRPr/>
          </a:p>
          <a:p>
            <a:pPr indent="-317500" lvl="1" marL="914400" rtl="0" algn="l">
              <a:spcBef>
                <a:spcPts val="0"/>
              </a:spcBef>
              <a:spcAft>
                <a:spcPts val="0"/>
              </a:spcAft>
              <a:buSzPts val="1400"/>
              <a:buChar char="○"/>
            </a:pPr>
            <a:r>
              <a:rPr lang="en"/>
              <a:t>JTable(int rows, int cols): Creates a table of size rows * cols.</a:t>
            </a:r>
            <a:endParaRPr/>
          </a:p>
          <a:p>
            <a:pPr indent="-317500" lvl="1" marL="914400" rtl="0" algn="l">
              <a:spcBef>
                <a:spcPts val="0"/>
              </a:spcBef>
              <a:spcAft>
                <a:spcPts val="0"/>
              </a:spcAft>
              <a:buSzPts val="1400"/>
              <a:buChar char="○"/>
            </a:pPr>
            <a:r>
              <a:rPr lang="en"/>
              <a:t>JTable(Object[][] data, Object []Column): A table is created with the specified name where []Column defines the column names.</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Tree</a:t>
            </a:r>
            <a:endParaRPr/>
          </a:p>
        </p:txBody>
      </p:sp>
      <p:sp>
        <p:nvSpPr>
          <p:cNvPr id="179" name="Google Shape;17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JTree class is used to display the tree structured data or hierarchical data. </a:t>
            </a:r>
            <a:endParaRPr/>
          </a:p>
          <a:p>
            <a:pPr indent="-342900" lvl="0" marL="457200" rtl="0" algn="l">
              <a:spcBef>
                <a:spcPts val="0"/>
              </a:spcBef>
              <a:spcAft>
                <a:spcPts val="0"/>
              </a:spcAft>
              <a:buSzPts val="1800"/>
              <a:buChar char="●"/>
            </a:pPr>
            <a:r>
              <a:rPr lang="en"/>
              <a:t>JTree is a complex component. </a:t>
            </a:r>
            <a:endParaRPr/>
          </a:p>
          <a:p>
            <a:pPr indent="-342900" lvl="0" marL="457200" rtl="0" algn="l">
              <a:spcBef>
                <a:spcPts val="0"/>
              </a:spcBef>
              <a:spcAft>
                <a:spcPts val="0"/>
              </a:spcAft>
              <a:buSzPts val="1800"/>
              <a:buChar char="●"/>
            </a:pPr>
            <a:r>
              <a:rPr lang="en"/>
              <a:t>It has a 'root node' at the top most which is a parent for all nodes in the tree. </a:t>
            </a:r>
            <a:endParaRPr/>
          </a:p>
          <a:p>
            <a:pPr indent="-342900" lvl="0" marL="457200" rtl="0" algn="l">
              <a:spcBef>
                <a:spcPts val="0"/>
              </a:spcBef>
              <a:spcAft>
                <a:spcPts val="0"/>
              </a:spcAft>
              <a:buSzPts val="1800"/>
              <a:buChar char="●"/>
            </a:pPr>
            <a:r>
              <a:rPr lang="en"/>
              <a:t>Constructors:</a:t>
            </a:r>
            <a:endParaRPr/>
          </a:p>
          <a:p>
            <a:pPr indent="-317500" lvl="1" marL="914400" rtl="0" algn="l">
              <a:spcBef>
                <a:spcPts val="0"/>
              </a:spcBef>
              <a:spcAft>
                <a:spcPts val="0"/>
              </a:spcAft>
              <a:buSzPts val="1400"/>
              <a:buChar char="○"/>
            </a:pPr>
            <a:r>
              <a:rPr lang="en" sz="1200">
                <a:solidFill>
                  <a:srgbClr val="333333"/>
                </a:solidFill>
                <a:highlight>
                  <a:srgbClr val="FFFFFF"/>
                </a:highlight>
                <a:latin typeface="Roboto"/>
                <a:ea typeface="Roboto"/>
                <a:cs typeface="Roboto"/>
                <a:sym typeface="Roboto"/>
              </a:rPr>
              <a:t>JTree()</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EFF1EB"/>
                </a:highlight>
                <a:latin typeface="Roboto"/>
                <a:ea typeface="Roboto"/>
                <a:cs typeface="Roboto"/>
                <a:sym typeface="Roboto"/>
              </a:rPr>
              <a:t>JTree(Object[] value)</a:t>
            </a:r>
            <a:endParaRPr sz="1200">
              <a:solidFill>
                <a:srgbClr val="333333"/>
              </a:solidFill>
              <a:highlight>
                <a:srgbClr val="EFF1EB"/>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JTree(TreeNode root)</a:t>
            </a:r>
            <a:endParaRPr sz="1200">
              <a:solidFill>
                <a:srgbClr val="333333"/>
              </a:solidFill>
              <a:highlight>
                <a:srgbClr val="EFF1EB"/>
              </a:highlight>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Layout manager</a:t>
            </a:r>
            <a:endParaRPr/>
          </a:p>
        </p:txBody>
      </p:sp>
      <p:sp>
        <p:nvSpPr>
          <p:cNvPr id="185" name="Google Shape;185;p35"/>
          <p:cNvSpPr txBox="1"/>
          <p:nvPr>
            <p:ph idx="1" type="body"/>
          </p:nvPr>
        </p:nvSpPr>
        <p:spPr>
          <a:xfrm>
            <a:off x="311700" y="1152475"/>
            <a:ext cx="8645700" cy="3460500"/>
          </a:xfrm>
          <a:prstGeom prst="rect">
            <a:avLst/>
          </a:prstGeom>
        </p:spPr>
        <p:txBody>
          <a:bodyPr anchorCtr="0" anchor="t" bIns="91425" lIns="91425" spcFirstLastPara="1" rIns="91425" wrap="square" tIns="91425">
            <a:normAutofit fontScale="92500" lnSpcReduction="20000"/>
          </a:bodyPr>
          <a:lstStyle/>
          <a:p>
            <a:pPr indent="-351948" lvl="0" marL="457200" rtl="0" algn="l">
              <a:spcBef>
                <a:spcPts val="0"/>
              </a:spcBef>
              <a:spcAft>
                <a:spcPts val="0"/>
              </a:spcAft>
              <a:buClr>
                <a:srgbClr val="666666"/>
              </a:buClr>
              <a:buSzPct val="100000"/>
              <a:buChar char="●"/>
            </a:pPr>
            <a:r>
              <a:rPr lang="en" sz="2100">
                <a:solidFill>
                  <a:srgbClr val="666666"/>
                </a:solidFill>
                <a:highlight>
                  <a:srgbClr val="FFFFFF"/>
                </a:highlight>
              </a:rPr>
              <a:t>Layout means the arrangement of components within the container. </a:t>
            </a:r>
            <a:endParaRPr sz="2100">
              <a:solidFill>
                <a:srgbClr val="666666"/>
              </a:solidFill>
              <a:highlight>
                <a:srgbClr val="FFFFFF"/>
              </a:highlight>
            </a:endParaRPr>
          </a:p>
          <a:p>
            <a:pPr indent="-351948" lvl="0" marL="457200" rtl="0" algn="l">
              <a:spcBef>
                <a:spcPts val="0"/>
              </a:spcBef>
              <a:spcAft>
                <a:spcPts val="0"/>
              </a:spcAft>
              <a:buClr>
                <a:srgbClr val="666666"/>
              </a:buClr>
              <a:buSzPct val="100000"/>
              <a:buChar char="●"/>
            </a:pPr>
            <a:r>
              <a:rPr lang="en" sz="2100">
                <a:solidFill>
                  <a:srgbClr val="666666"/>
                </a:solidFill>
                <a:highlight>
                  <a:srgbClr val="FFFFFF"/>
                </a:highlight>
              </a:rPr>
              <a:t>In other way we can say that placing the components at a particular position within the container.</a:t>
            </a:r>
            <a:endParaRPr sz="2100">
              <a:solidFill>
                <a:srgbClr val="666666"/>
              </a:solidFill>
              <a:highlight>
                <a:srgbClr val="FFFFFF"/>
              </a:highlight>
            </a:endParaRPr>
          </a:p>
          <a:p>
            <a:pPr indent="-351948" lvl="0" marL="457200" rtl="0" algn="l">
              <a:spcBef>
                <a:spcPts val="0"/>
              </a:spcBef>
              <a:spcAft>
                <a:spcPts val="0"/>
              </a:spcAft>
              <a:buClr>
                <a:srgbClr val="666666"/>
              </a:buClr>
              <a:buSzPct val="100000"/>
              <a:buChar char="●"/>
            </a:pPr>
            <a:r>
              <a:rPr lang="en" sz="2100">
                <a:solidFill>
                  <a:srgbClr val="666666"/>
                </a:solidFill>
                <a:highlight>
                  <a:srgbClr val="FFFFFF"/>
                </a:highlight>
              </a:rPr>
              <a:t>The task of layouting the controls is done automatically by the Layout Manager.</a:t>
            </a:r>
            <a:endParaRPr sz="2100">
              <a:solidFill>
                <a:srgbClr val="666666"/>
              </a:solidFill>
            </a:endParaRPr>
          </a:p>
          <a:p>
            <a:pPr indent="-334327" lvl="0" marL="457200" rtl="0" algn="l">
              <a:spcBef>
                <a:spcPts val="0"/>
              </a:spcBef>
              <a:spcAft>
                <a:spcPts val="0"/>
              </a:spcAft>
              <a:buSzPct val="100000"/>
              <a:buChar char="●"/>
            </a:pPr>
            <a:r>
              <a:rPr lang="en"/>
              <a:t>A layout manager automatically arranges your controls within a window by using some type of algorithm.</a:t>
            </a:r>
            <a:endParaRPr/>
          </a:p>
          <a:p>
            <a:pPr indent="-334327" lvl="0" marL="457200" rtl="0" algn="l">
              <a:spcBef>
                <a:spcPts val="0"/>
              </a:spcBef>
              <a:spcAft>
                <a:spcPts val="0"/>
              </a:spcAft>
              <a:buSzPct val="100000"/>
              <a:buChar char="●"/>
            </a:pPr>
            <a:r>
              <a:rPr lang="en"/>
              <a:t>Each Container object has a layout manager associated with it. </a:t>
            </a:r>
            <a:endParaRPr/>
          </a:p>
          <a:p>
            <a:pPr indent="-334327" lvl="0" marL="457200" rtl="0" algn="l">
              <a:spcBef>
                <a:spcPts val="0"/>
              </a:spcBef>
              <a:spcAft>
                <a:spcPts val="0"/>
              </a:spcAft>
              <a:buSzPct val="100000"/>
              <a:buChar char="●"/>
            </a:pPr>
            <a:r>
              <a:rPr lang="en"/>
              <a:t>The layout manager is set by the setLayout( ) method. If no call to setLayout( ) is made, then the default layout manager is used.</a:t>
            </a:r>
            <a:endParaRPr/>
          </a:p>
          <a:p>
            <a:pPr indent="-334327" lvl="0" marL="457200" rtl="0" algn="l">
              <a:spcBef>
                <a:spcPts val="0"/>
              </a:spcBef>
              <a:spcAft>
                <a:spcPts val="0"/>
              </a:spcAft>
              <a:buSzPct val="100000"/>
              <a:buChar char="●"/>
            </a:pPr>
            <a:r>
              <a:rPr lang="en"/>
              <a:t>Whenever a container is resized (or sized for the first time), the layout manager is used to position each of the components within it.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setLayout( ) method has the following general form: </a:t>
            </a:r>
            <a:endParaRPr/>
          </a:p>
          <a:p>
            <a:pPr indent="-317500" lvl="1" marL="914400" rtl="0" algn="l">
              <a:spcBef>
                <a:spcPts val="0"/>
              </a:spcBef>
              <a:spcAft>
                <a:spcPts val="0"/>
              </a:spcAft>
              <a:buSzPts val="1400"/>
              <a:buChar char="○"/>
            </a:pPr>
            <a:r>
              <a:rPr lang="en"/>
              <a:t>void setLayout(LayoutManager layoutObj) </a:t>
            </a:r>
            <a:endParaRPr/>
          </a:p>
          <a:p>
            <a:pPr indent="-342900" lvl="0" marL="457200" rtl="0" algn="l">
              <a:spcBef>
                <a:spcPts val="0"/>
              </a:spcBef>
              <a:spcAft>
                <a:spcPts val="0"/>
              </a:spcAft>
              <a:buSzPts val="1800"/>
              <a:buChar char="●"/>
            </a:pPr>
            <a:r>
              <a:rPr lang="en"/>
              <a:t>Here, layoutObj is a reference to the desired layout manager. </a:t>
            </a:r>
            <a:endParaRPr/>
          </a:p>
          <a:p>
            <a:pPr indent="-342900" lvl="0" marL="457200" rtl="0" algn="l">
              <a:spcBef>
                <a:spcPts val="0"/>
              </a:spcBef>
              <a:spcAft>
                <a:spcPts val="0"/>
              </a:spcAft>
              <a:buSzPts val="1800"/>
              <a:buChar char="●"/>
            </a:pPr>
            <a:r>
              <a:rPr lang="en"/>
              <a:t>If you wish to disable the layout manager and position components manually, pass null for layoutObj</a:t>
            </a:r>
            <a:endParaRPr/>
          </a:p>
          <a:p>
            <a:pPr indent="-342900" lvl="0" marL="457200" rtl="0" algn="l">
              <a:spcBef>
                <a:spcPts val="0"/>
              </a:spcBef>
              <a:spcAft>
                <a:spcPts val="0"/>
              </a:spcAft>
              <a:buSzPts val="1800"/>
              <a:buChar char="●"/>
            </a:pPr>
            <a:r>
              <a:rPr lang="en"/>
              <a:t>If you do this, you will need to determine the shape and position of each component manually, using the setBounds( ) method defined by Component.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Flow Layout</a:t>
            </a:r>
            <a:endParaRPr/>
          </a:p>
        </p:txBody>
      </p:sp>
      <p:sp>
        <p:nvSpPr>
          <p:cNvPr id="196" name="Google Shape;19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FlowLayout is the default layout manager. </a:t>
            </a:r>
            <a:endParaRPr/>
          </a:p>
          <a:p>
            <a:pPr indent="-342900" lvl="0" marL="457200" rtl="0" algn="l">
              <a:spcBef>
                <a:spcPts val="0"/>
              </a:spcBef>
              <a:spcAft>
                <a:spcPts val="0"/>
              </a:spcAft>
              <a:buSzPts val="1800"/>
              <a:buChar char="●"/>
            </a:pPr>
            <a:r>
              <a:rPr lang="en"/>
              <a:t>FlowLayout implements a simple layout style, which is similar to how words flow in a text editor. </a:t>
            </a:r>
            <a:endParaRPr/>
          </a:p>
          <a:p>
            <a:pPr indent="-342900" lvl="0" marL="457200" rtl="0" algn="l">
              <a:spcBef>
                <a:spcPts val="0"/>
              </a:spcBef>
              <a:spcAft>
                <a:spcPts val="0"/>
              </a:spcAft>
              <a:buSzPts val="1800"/>
              <a:buChar char="●"/>
            </a:pPr>
            <a:r>
              <a:rPr lang="en"/>
              <a:t>The direction of the layout is governed by the container’s component orientation property, which, by default, is left to right, top to bottom. </a:t>
            </a:r>
            <a:endParaRPr/>
          </a:p>
          <a:p>
            <a:pPr indent="-342900" lvl="0" marL="457200" rtl="0" algn="l">
              <a:spcBef>
                <a:spcPts val="0"/>
              </a:spcBef>
              <a:spcAft>
                <a:spcPts val="0"/>
              </a:spcAft>
              <a:buSzPts val="1800"/>
              <a:buChar char="●"/>
            </a:pPr>
            <a:r>
              <a:rPr lang="en"/>
              <a:t>Therefore, by default, components are laid out line-by-line beginning at the upper-left corner. In all cases, when a line is filled, layout advances to the next line. </a:t>
            </a:r>
            <a:endParaRPr/>
          </a:p>
          <a:p>
            <a:pPr indent="-342900" lvl="0" marL="457200" rtl="0" algn="l">
              <a:spcBef>
                <a:spcPts val="0"/>
              </a:spcBef>
              <a:spcAft>
                <a:spcPts val="0"/>
              </a:spcAft>
              <a:buSzPts val="1800"/>
              <a:buChar char="●"/>
            </a:pPr>
            <a:r>
              <a:rPr lang="en"/>
              <a:t>A small space is left between each component, above and below, as well as left and right. Here are the constructors for FlowLayout: </a:t>
            </a:r>
            <a:endParaRPr/>
          </a:p>
          <a:p>
            <a:pPr indent="-317500" lvl="1" marL="914400" rtl="0" algn="l">
              <a:spcBef>
                <a:spcPts val="0"/>
              </a:spcBef>
              <a:spcAft>
                <a:spcPts val="0"/>
              </a:spcAft>
              <a:buSzPts val="1400"/>
              <a:buChar char="○"/>
            </a:pPr>
            <a:r>
              <a:rPr lang="en"/>
              <a:t>FlowLayout( ) </a:t>
            </a:r>
            <a:endParaRPr/>
          </a:p>
          <a:p>
            <a:pPr indent="-317500" lvl="1" marL="914400" rtl="0" algn="l">
              <a:spcBef>
                <a:spcPts val="0"/>
              </a:spcBef>
              <a:spcAft>
                <a:spcPts val="0"/>
              </a:spcAft>
              <a:buSzPts val="1400"/>
              <a:buChar char="○"/>
            </a:pPr>
            <a:r>
              <a:rPr lang="en"/>
              <a:t>FlowLayout(int align) </a:t>
            </a:r>
            <a:endParaRPr/>
          </a:p>
          <a:p>
            <a:pPr indent="-317500" lvl="1" marL="914400" rtl="0" algn="l">
              <a:spcBef>
                <a:spcPts val="0"/>
              </a:spcBef>
              <a:spcAft>
                <a:spcPts val="0"/>
              </a:spcAft>
              <a:buSzPts val="1400"/>
              <a:buChar char="○"/>
            </a:pPr>
            <a:r>
              <a:rPr lang="en"/>
              <a:t>FlowLayout(int align, int hgap, int vgap)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 first form creates the default layout, which centers components and leaves five pixels of space between each component. </a:t>
            </a:r>
            <a:endParaRPr/>
          </a:p>
          <a:p>
            <a:pPr indent="-342900" lvl="0" marL="457200" rtl="0" algn="l">
              <a:spcBef>
                <a:spcPts val="0"/>
              </a:spcBef>
              <a:spcAft>
                <a:spcPts val="0"/>
              </a:spcAft>
              <a:buSzPts val="1800"/>
              <a:buChar char="●"/>
            </a:pPr>
            <a:r>
              <a:rPr lang="en"/>
              <a:t>The second form lets you specify how each line is aligned. Valid values for how are as follows: </a:t>
            </a:r>
            <a:endParaRPr/>
          </a:p>
          <a:p>
            <a:pPr indent="-317500" lvl="1" marL="914400" rtl="0" algn="l">
              <a:spcBef>
                <a:spcPts val="0"/>
              </a:spcBef>
              <a:spcAft>
                <a:spcPts val="0"/>
              </a:spcAft>
              <a:buSzPts val="1400"/>
              <a:buChar char="○"/>
            </a:pPr>
            <a:r>
              <a:rPr lang="en"/>
              <a:t>FlowLayout.LEFT </a:t>
            </a:r>
            <a:endParaRPr/>
          </a:p>
          <a:p>
            <a:pPr indent="-317500" lvl="1" marL="914400" rtl="0" algn="l">
              <a:spcBef>
                <a:spcPts val="0"/>
              </a:spcBef>
              <a:spcAft>
                <a:spcPts val="0"/>
              </a:spcAft>
              <a:buSzPts val="1400"/>
              <a:buChar char="○"/>
            </a:pPr>
            <a:r>
              <a:rPr lang="en"/>
              <a:t>FlowLayout.CENTER </a:t>
            </a:r>
            <a:endParaRPr/>
          </a:p>
          <a:p>
            <a:pPr indent="-317500" lvl="1" marL="914400" rtl="0" algn="l">
              <a:spcBef>
                <a:spcPts val="0"/>
              </a:spcBef>
              <a:spcAft>
                <a:spcPts val="0"/>
              </a:spcAft>
              <a:buSzPts val="1400"/>
              <a:buChar char="○"/>
            </a:pPr>
            <a:r>
              <a:rPr lang="en"/>
              <a:t>FlowLayout.RIGHT </a:t>
            </a:r>
            <a:endParaRPr/>
          </a:p>
          <a:p>
            <a:pPr indent="-317500" lvl="1" marL="914400" rtl="0" algn="l">
              <a:spcBef>
                <a:spcPts val="0"/>
              </a:spcBef>
              <a:spcAft>
                <a:spcPts val="0"/>
              </a:spcAft>
              <a:buSzPts val="1400"/>
              <a:buChar char="○"/>
            </a:pPr>
            <a:r>
              <a:rPr lang="en"/>
              <a:t>FlowLayout.LEADING </a:t>
            </a:r>
            <a:endParaRPr/>
          </a:p>
          <a:p>
            <a:pPr indent="-317500" lvl="1" marL="914400" rtl="0" algn="l">
              <a:spcBef>
                <a:spcPts val="0"/>
              </a:spcBef>
              <a:spcAft>
                <a:spcPts val="0"/>
              </a:spcAft>
              <a:buSzPts val="1400"/>
              <a:buChar char="○"/>
            </a:pPr>
            <a:r>
              <a:rPr lang="en"/>
              <a:t>FlowLayout.TRAILING </a:t>
            </a:r>
            <a:endParaRPr/>
          </a:p>
          <a:p>
            <a:pPr indent="-342900" lvl="0" marL="457200" rtl="0" algn="l">
              <a:spcBef>
                <a:spcPts val="0"/>
              </a:spcBef>
              <a:spcAft>
                <a:spcPts val="0"/>
              </a:spcAft>
              <a:buSzPts val="1800"/>
              <a:buChar char="●"/>
            </a:pPr>
            <a:r>
              <a:rPr lang="en"/>
              <a:t>These values specify left, center, right, leading edge, and trailing edge alignment, respectively. </a:t>
            </a:r>
            <a:endParaRPr/>
          </a:p>
          <a:p>
            <a:pPr indent="-342900" lvl="0" marL="457200" rtl="0" algn="l">
              <a:spcBef>
                <a:spcPts val="0"/>
              </a:spcBef>
              <a:spcAft>
                <a:spcPts val="0"/>
              </a:spcAft>
              <a:buSzPts val="1800"/>
              <a:buChar char="●"/>
            </a:pPr>
            <a:r>
              <a:rPr lang="en"/>
              <a:t>The third constructor allows you to specify the horizontal and vertical space left between components in horz and vert, respectively.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BorderLayout </a:t>
            </a:r>
            <a:endParaRPr/>
          </a:p>
        </p:txBody>
      </p:sp>
      <p:sp>
        <p:nvSpPr>
          <p:cNvPr id="207" name="Google Shape;207;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 BorderLayout class implements a common layout style for top-level windows. </a:t>
            </a:r>
            <a:endParaRPr/>
          </a:p>
          <a:p>
            <a:pPr indent="-342900" lvl="0" marL="457200" rtl="0" algn="l">
              <a:spcBef>
                <a:spcPts val="0"/>
              </a:spcBef>
              <a:spcAft>
                <a:spcPts val="0"/>
              </a:spcAft>
              <a:buSzPts val="1800"/>
              <a:buChar char="●"/>
            </a:pPr>
            <a:r>
              <a:rPr lang="en"/>
              <a:t>It has four narrow, fixed-width components at the edges and one large area in the center. </a:t>
            </a:r>
            <a:endParaRPr/>
          </a:p>
          <a:p>
            <a:pPr indent="-342900" lvl="0" marL="457200" rtl="0" algn="l">
              <a:spcBef>
                <a:spcPts val="0"/>
              </a:spcBef>
              <a:spcAft>
                <a:spcPts val="0"/>
              </a:spcAft>
              <a:buSzPts val="1800"/>
              <a:buChar char="●"/>
            </a:pPr>
            <a:r>
              <a:rPr lang="en"/>
              <a:t>The four sides are referred to as north, south, east, and west. The middle area is called the center. </a:t>
            </a:r>
            <a:endParaRPr/>
          </a:p>
          <a:p>
            <a:pPr indent="-342900" lvl="0" marL="457200" rtl="0" algn="l">
              <a:spcBef>
                <a:spcPts val="0"/>
              </a:spcBef>
              <a:spcAft>
                <a:spcPts val="0"/>
              </a:spcAft>
              <a:buSzPts val="1800"/>
              <a:buChar char="●"/>
            </a:pPr>
            <a:r>
              <a:rPr lang="en"/>
              <a:t>Here are the constructors defined by BorderLayout: </a:t>
            </a:r>
            <a:endParaRPr/>
          </a:p>
          <a:p>
            <a:pPr indent="-317500" lvl="1" marL="914400" rtl="0" algn="l">
              <a:spcBef>
                <a:spcPts val="0"/>
              </a:spcBef>
              <a:spcAft>
                <a:spcPts val="0"/>
              </a:spcAft>
              <a:buSzPts val="1400"/>
              <a:buChar char="○"/>
            </a:pPr>
            <a:r>
              <a:rPr lang="en"/>
              <a:t>BorderLayout( ) </a:t>
            </a:r>
            <a:endParaRPr/>
          </a:p>
          <a:p>
            <a:pPr indent="-317500" lvl="1" marL="914400" rtl="0" algn="l">
              <a:spcBef>
                <a:spcPts val="0"/>
              </a:spcBef>
              <a:spcAft>
                <a:spcPts val="0"/>
              </a:spcAft>
              <a:buSzPts val="1400"/>
              <a:buChar char="○"/>
            </a:pPr>
            <a:r>
              <a:rPr lang="en"/>
              <a:t>BorderLayout(int horz, int vert) </a:t>
            </a:r>
            <a:endParaRPr/>
          </a:p>
          <a:p>
            <a:pPr indent="-342900" lvl="0" marL="457200" rtl="0" algn="l">
              <a:spcBef>
                <a:spcPts val="0"/>
              </a:spcBef>
              <a:spcAft>
                <a:spcPts val="0"/>
              </a:spcAft>
              <a:buSzPts val="1800"/>
              <a:buChar char="●"/>
            </a:pPr>
            <a:r>
              <a:rPr lang="en"/>
              <a:t>The first form creates a default border layout. </a:t>
            </a:r>
            <a:endParaRPr/>
          </a:p>
          <a:p>
            <a:pPr indent="-342900" lvl="0" marL="457200" rtl="0" algn="l">
              <a:spcBef>
                <a:spcPts val="0"/>
              </a:spcBef>
              <a:spcAft>
                <a:spcPts val="0"/>
              </a:spcAft>
              <a:buSzPts val="1800"/>
              <a:buChar char="●"/>
            </a:pPr>
            <a:r>
              <a:rPr lang="en"/>
              <a:t>The second allows you to specify the horizontal and vertical space left between components in horz and vert, respectively.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3" name="Google Shape;21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BorderLayout defines the following constants that specify the regions:</a:t>
            </a:r>
            <a:endParaRPr/>
          </a:p>
          <a:p>
            <a:pPr indent="-317500" lvl="1" marL="914400" rtl="0" algn="l">
              <a:spcBef>
                <a:spcPts val="0"/>
              </a:spcBef>
              <a:spcAft>
                <a:spcPts val="0"/>
              </a:spcAft>
              <a:buSzPts val="1400"/>
              <a:buChar char="○"/>
            </a:pPr>
            <a:r>
              <a:rPr lang="en"/>
              <a:t>BorderLayout.CENTER</a:t>
            </a:r>
            <a:endParaRPr/>
          </a:p>
          <a:p>
            <a:pPr indent="-317500" lvl="1" marL="914400" rtl="0" algn="l">
              <a:spcBef>
                <a:spcPts val="0"/>
              </a:spcBef>
              <a:spcAft>
                <a:spcPts val="0"/>
              </a:spcAft>
              <a:buSzPts val="1400"/>
              <a:buChar char="○"/>
            </a:pPr>
            <a:r>
              <a:rPr lang="en"/>
              <a:t>BorderLayout.EAST</a:t>
            </a:r>
            <a:endParaRPr/>
          </a:p>
          <a:p>
            <a:pPr indent="-317500" lvl="1" marL="914400" rtl="0" algn="l">
              <a:spcBef>
                <a:spcPts val="0"/>
              </a:spcBef>
              <a:spcAft>
                <a:spcPts val="0"/>
              </a:spcAft>
              <a:buSzPts val="1400"/>
              <a:buChar char="○"/>
            </a:pPr>
            <a:r>
              <a:rPr lang="en"/>
              <a:t>BorderLayout.WEST</a:t>
            </a:r>
            <a:endParaRPr/>
          </a:p>
          <a:p>
            <a:pPr indent="-317500" lvl="1" marL="914400" rtl="0" algn="l">
              <a:spcBef>
                <a:spcPts val="0"/>
              </a:spcBef>
              <a:spcAft>
                <a:spcPts val="0"/>
              </a:spcAft>
              <a:buSzPts val="1400"/>
              <a:buChar char="○"/>
            </a:pPr>
            <a:r>
              <a:rPr lang="en"/>
              <a:t>BorderLayout.NORTH</a:t>
            </a:r>
            <a:endParaRPr/>
          </a:p>
          <a:p>
            <a:pPr indent="-317500" lvl="1" marL="914400" rtl="0" algn="l">
              <a:spcBef>
                <a:spcPts val="0"/>
              </a:spcBef>
              <a:spcAft>
                <a:spcPts val="0"/>
              </a:spcAft>
              <a:buSzPts val="1400"/>
              <a:buChar char="○"/>
            </a:pPr>
            <a:r>
              <a:rPr lang="en"/>
              <a:t>BorderLayout.SOUTH</a:t>
            </a:r>
            <a:endParaRPr/>
          </a:p>
          <a:p>
            <a:pPr indent="-342900" lvl="0" marL="457200" rtl="0" algn="l">
              <a:spcBef>
                <a:spcPts val="0"/>
              </a:spcBef>
              <a:spcAft>
                <a:spcPts val="0"/>
              </a:spcAft>
              <a:buSzPts val="1800"/>
              <a:buChar char="●"/>
            </a:pPr>
            <a:r>
              <a:rPr lang="en"/>
              <a:t>When adding components, you will use these constants with the following form of add( ), which is defined by Container: </a:t>
            </a:r>
            <a:endParaRPr/>
          </a:p>
          <a:p>
            <a:pPr indent="-317500" lvl="1" marL="914400" rtl="0" algn="l">
              <a:spcBef>
                <a:spcPts val="0"/>
              </a:spcBef>
              <a:spcAft>
                <a:spcPts val="0"/>
              </a:spcAft>
              <a:buSzPts val="1400"/>
              <a:buChar char="○"/>
            </a:pPr>
            <a:r>
              <a:rPr lang="en"/>
              <a:t>void add(Component compRef, Object region) </a:t>
            </a:r>
            <a:endParaRPr/>
          </a:p>
          <a:p>
            <a:pPr indent="-342900" lvl="0" marL="457200" rtl="0" algn="l">
              <a:spcBef>
                <a:spcPts val="0"/>
              </a:spcBef>
              <a:spcAft>
                <a:spcPts val="0"/>
              </a:spcAft>
              <a:buSzPts val="1800"/>
              <a:buChar char="●"/>
            </a:pPr>
            <a:r>
              <a:rPr lang="en"/>
              <a:t>Here, compRef is a reference to the component to be added, and region specifies where the component will be added.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1"/>
          <p:cNvSpPr txBox="1"/>
          <p:nvPr>
            <p:ph type="title"/>
          </p:nvPr>
        </p:nvSpPr>
        <p:spPr>
          <a:xfrm>
            <a:off x="311700" y="4987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Grid Layout</a:t>
            </a:r>
            <a:endParaRPr/>
          </a:p>
        </p:txBody>
      </p:sp>
      <p:sp>
        <p:nvSpPr>
          <p:cNvPr id="219" name="Google Shape;219;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GridLayout lays out components in a two-dimensional grid. </a:t>
            </a:r>
            <a:endParaRPr/>
          </a:p>
          <a:p>
            <a:pPr indent="-334327" lvl="0" marL="457200" rtl="0" algn="l">
              <a:spcBef>
                <a:spcPts val="0"/>
              </a:spcBef>
              <a:spcAft>
                <a:spcPts val="0"/>
              </a:spcAft>
              <a:buSzPct val="100000"/>
              <a:buChar char="●"/>
            </a:pPr>
            <a:r>
              <a:rPr lang="en"/>
              <a:t>When you instantiate a GridLayout, you define the number of rows and columns. </a:t>
            </a:r>
            <a:endParaRPr/>
          </a:p>
          <a:p>
            <a:pPr indent="-334327" lvl="0" marL="457200" rtl="0" algn="l">
              <a:spcBef>
                <a:spcPts val="0"/>
              </a:spcBef>
              <a:spcAft>
                <a:spcPts val="0"/>
              </a:spcAft>
              <a:buSzPct val="100000"/>
              <a:buChar char="●"/>
            </a:pPr>
            <a:r>
              <a:rPr lang="en"/>
              <a:t>The constructors supported by GridLayout are shown here: </a:t>
            </a:r>
            <a:endParaRPr/>
          </a:p>
          <a:p>
            <a:pPr indent="-310832" lvl="1" marL="914400" rtl="0" algn="l">
              <a:spcBef>
                <a:spcPts val="0"/>
              </a:spcBef>
              <a:spcAft>
                <a:spcPts val="0"/>
              </a:spcAft>
              <a:buSzPct val="100000"/>
              <a:buChar char="○"/>
            </a:pPr>
            <a:r>
              <a:rPr lang="en"/>
              <a:t>GridLayout( ) </a:t>
            </a:r>
            <a:endParaRPr/>
          </a:p>
          <a:p>
            <a:pPr indent="-310832" lvl="1" marL="914400" rtl="0" algn="l">
              <a:spcBef>
                <a:spcPts val="0"/>
              </a:spcBef>
              <a:spcAft>
                <a:spcPts val="0"/>
              </a:spcAft>
              <a:buSzPct val="100000"/>
              <a:buChar char="○"/>
            </a:pPr>
            <a:r>
              <a:rPr lang="en"/>
              <a:t>GridLayout(int numRows, int numColumns) </a:t>
            </a:r>
            <a:endParaRPr/>
          </a:p>
          <a:p>
            <a:pPr indent="-310832" lvl="1" marL="914400" rtl="0" algn="l">
              <a:spcBef>
                <a:spcPts val="0"/>
              </a:spcBef>
              <a:spcAft>
                <a:spcPts val="0"/>
              </a:spcAft>
              <a:buSzPct val="100000"/>
              <a:buChar char="○"/>
            </a:pPr>
            <a:r>
              <a:rPr lang="en"/>
              <a:t>GridLayout(int numRows, int numColumns, int horz, int vert) </a:t>
            </a:r>
            <a:endParaRPr/>
          </a:p>
          <a:p>
            <a:pPr indent="-334327" lvl="0" marL="457200" rtl="0" algn="l">
              <a:spcBef>
                <a:spcPts val="0"/>
              </a:spcBef>
              <a:spcAft>
                <a:spcPts val="0"/>
              </a:spcAft>
              <a:buSzPct val="100000"/>
              <a:buChar char="●"/>
            </a:pPr>
            <a:r>
              <a:rPr lang="en"/>
              <a:t>The first form creates a single-column grid layout. </a:t>
            </a:r>
            <a:endParaRPr/>
          </a:p>
          <a:p>
            <a:pPr indent="-334327" lvl="0" marL="457200" rtl="0" algn="l">
              <a:spcBef>
                <a:spcPts val="0"/>
              </a:spcBef>
              <a:spcAft>
                <a:spcPts val="0"/>
              </a:spcAft>
              <a:buSzPct val="100000"/>
              <a:buChar char="●"/>
            </a:pPr>
            <a:r>
              <a:rPr lang="en"/>
              <a:t>The second form creates a grid layout with the specified number of rows and columns. </a:t>
            </a:r>
            <a:endParaRPr/>
          </a:p>
          <a:p>
            <a:pPr indent="-334327" lvl="0" marL="457200" rtl="0" algn="l">
              <a:spcBef>
                <a:spcPts val="0"/>
              </a:spcBef>
              <a:spcAft>
                <a:spcPts val="0"/>
              </a:spcAft>
              <a:buSzPct val="100000"/>
              <a:buChar char="●"/>
            </a:pPr>
            <a:r>
              <a:rPr lang="en"/>
              <a:t>The third form allows you to specify the horizontal and vertical space left between components in horz and vert, respectively. </a:t>
            </a:r>
            <a:endParaRPr/>
          </a:p>
          <a:p>
            <a:pPr indent="-334327" lvl="0" marL="457200" rtl="0" algn="l">
              <a:spcBef>
                <a:spcPts val="0"/>
              </a:spcBef>
              <a:spcAft>
                <a:spcPts val="0"/>
              </a:spcAft>
              <a:buSzPct val="100000"/>
              <a:buChar char="●"/>
            </a:pPr>
            <a:r>
              <a:rPr lang="en"/>
              <a:t>Either numRows or numColumns can be zero. Specifying numRows as zero allows for unlimited-length columns. Specifying numColumns as zero allows for unlimited-length rows.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GridBagLayout </a:t>
            </a:r>
            <a:endParaRPr/>
          </a:p>
        </p:txBody>
      </p:sp>
      <p:sp>
        <p:nvSpPr>
          <p:cNvPr id="225" name="Google Shape;22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We can specify the relative placement of components by specifying their positions within cells inside a grid. </a:t>
            </a:r>
            <a:endParaRPr/>
          </a:p>
          <a:p>
            <a:pPr indent="-325755" lvl="0" marL="457200" rtl="0" algn="l">
              <a:spcBef>
                <a:spcPts val="0"/>
              </a:spcBef>
              <a:spcAft>
                <a:spcPts val="0"/>
              </a:spcAft>
              <a:buSzPct val="100000"/>
              <a:buChar char="●"/>
            </a:pPr>
            <a:r>
              <a:rPr lang="en"/>
              <a:t>The key to the grid bag is that each component can be a different size, and each row in the grid can have a different number of columns. This is why the layout is called a grid bag. It’s a collection of small grids joined together. </a:t>
            </a:r>
            <a:endParaRPr/>
          </a:p>
          <a:p>
            <a:pPr indent="-325755" lvl="0" marL="457200" rtl="0" algn="l">
              <a:spcBef>
                <a:spcPts val="0"/>
              </a:spcBef>
              <a:spcAft>
                <a:spcPts val="0"/>
              </a:spcAft>
              <a:buSzPct val="100000"/>
              <a:buChar char="●"/>
            </a:pPr>
            <a:r>
              <a:rPr lang="en"/>
              <a:t>The location and size of each component in a grid bag are determined by a set of constraints linked to it. The constraints are contained in an object of type GridBagConstraints. Constraints include the height and width of a cell, and the placement of a component, its alignment, and its anchor point within the cell. </a:t>
            </a:r>
            <a:endParaRPr/>
          </a:p>
          <a:p>
            <a:pPr indent="-325755" lvl="0" marL="457200" rtl="0" algn="l">
              <a:spcBef>
                <a:spcPts val="0"/>
              </a:spcBef>
              <a:spcAft>
                <a:spcPts val="0"/>
              </a:spcAft>
              <a:buSzPct val="100000"/>
              <a:buChar char="●"/>
            </a:pPr>
            <a:r>
              <a:rPr lang="en"/>
              <a:t>The general procedure for using a grid bag is to first create a new GridBagLayout object and to make it the current layout manager. </a:t>
            </a:r>
            <a:endParaRPr/>
          </a:p>
          <a:p>
            <a:pPr indent="-325755" lvl="0" marL="457200" rtl="0" algn="l">
              <a:spcBef>
                <a:spcPts val="0"/>
              </a:spcBef>
              <a:spcAft>
                <a:spcPts val="0"/>
              </a:spcAft>
              <a:buSzPct val="100000"/>
              <a:buChar char="●"/>
            </a:pPr>
            <a:r>
              <a:rPr lang="en"/>
              <a:t>Then, set the constraints that apply to each component that will be added to the grid bag. </a:t>
            </a:r>
            <a:endParaRPr/>
          </a:p>
          <a:p>
            <a:pPr indent="-325755" lvl="0" marL="457200" rtl="0" algn="l">
              <a:spcBef>
                <a:spcPts val="0"/>
              </a:spcBef>
              <a:spcAft>
                <a:spcPts val="0"/>
              </a:spcAft>
              <a:buSzPct val="100000"/>
              <a:buChar char="●"/>
            </a:pPr>
            <a:r>
              <a:rPr lang="en"/>
              <a:t>Finally, add the components to the layout manager.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1" name="Google Shape;231;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Constraints</a:t>
            </a:r>
            <a:endParaRPr/>
          </a:p>
        </p:txBody>
      </p:sp>
      <p:sp>
        <p:nvSpPr>
          <p:cNvPr id="237" name="Google Shape;237;p44"/>
          <p:cNvSpPr txBox="1"/>
          <p:nvPr>
            <p:ph idx="1" type="body"/>
          </p:nvPr>
        </p:nvSpPr>
        <p:spPr>
          <a:xfrm>
            <a:off x="311700" y="1152475"/>
            <a:ext cx="8520600" cy="3635100"/>
          </a:xfrm>
          <a:prstGeom prst="rect">
            <a:avLst/>
          </a:prstGeom>
        </p:spPr>
        <p:txBody>
          <a:bodyPr anchorCtr="0" anchor="t" bIns="91425" lIns="91425" spcFirstLastPara="1" rIns="91425" wrap="square" tIns="91425">
            <a:noAutofit/>
          </a:bodyPr>
          <a:lstStyle/>
          <a:p>
            <a:pPr indent="-342900" lvl="0" marL="914400" rtl="0" algn="l">
              <a:spcBef>
                <a:spcPts val="0"/>
              </a:spcBef>
              <a:spcAft>
                <a:spcPts val="0"/>
              </a:spcAft>
              <a:buClr>
                <a:srgbClr val="666666"/>
              </a:buClr>
              <a:buSzPts val="1800"/>
              <a:buChar char="●"/>
            </a:pPr>
            <a:r>
              <a:rPr b="1" lang="en">
                <a:solidFill>
                  <a:srgbClr val="666666"/>
                </a:solidFill>
              </a:rPr>
              <a:t>gridx</a:t>
            </a:r>
            <a:r>
              <a:rPr lang="en">
                <a:solidFill>
                  <a:srgbClr val="666666"/>
                </a:solidFill>
              </a:rPr>
              <a:t>, </a:t>
            </a:r>
            <a:r>
              <a:rPr b="1" lang="en">
                <a:solidFill>
                  <a:srgbClr val="666666"/>
                </a:solidFill>
              </a:rPr>
              <a:t>gridy</a:t>
            </a:r>
            <a:endParaRPr b="1">
              <a:solidFill>
                <a:srgbClr val="666666"/>
              </a:solidFill>
            </a:endParaRPr>
          </a:p>
          <a:p>
            <a:pPr indent="-317500" lvl="1" marL="1371600" rtl="0" algn="l">
              <a:spcBef>
                <a:spcPts val="0"/>
              </a:spcBef>
              <a:spcAft>
                <a:spcPts val="0"/>
              </a:spcAft>
              <a:buClr>
                <a:srgbClr val="666666"/>
              </a:buClr>
              <a:buSzPts val="1400"/>
              <a:buChar char="○"/>
            </a:pPr>
            <a:r>
              <a:rPr lang="en">
                <a:solidFill>
                  <a:srgbClr val="666666"/>
                </a:solidFill>
              </a:rPr>
              <a:t>Specify the row and column at the upper left of the component. The leftmost column has address gridx=0 and the top row has address gridy=0. </a:t>
            </a:r>
            <a:endParaRPr>
              <a:solidFill>
                <a:srgbClr val="666666"/>
              </a:solidFill>
            </a:endParaRPr>
          </a:p>
          <a:p>
            <a:pPr indent="-342900" lvl="0" marL="914400" rtl="0" algn="l">
              <a:spcBef>
                <a:spcPts val="0"/>
              </a:spcBef>
              <a:spcAft>
                <a:spcPts val="0"/>
              </a:spcAft>
              <a:buClr>
                <a:srgbClr val="666666"/>
              </a:buClr>
              <a:buSzPts val="1800"/>
              <a:buChar char="●"/>
            </a:pPr>
            <a:r>
              <a:rPr b="1" lang="en">
                <a:solidFill>
                  <a:srgbClr val="666666"/>
                </a:solidFill>
              </a:rPr>
              <a:t>gridwidth</a:t>
            </a:r>
            <a:r>
              <a:rPr lang="en">
                <a:solidFill>
                  <a:srgbClr val="666666"/>
                </a:solidFill>
              </a:rPr>
              <a:t>, </a:t>
            </a:r>
            <a:r>
              <a:rPr b="1" lang="en">
                <a:solidFill>
                  <a:srgbClr val="666666"/>
                </a:solidFill>
              </a:rPr>
              <a:t>gridheight</a:t>
            </a:r>
            <a:endParaRPr b="1">
              <a:solidFill>
                <a:srgbClr val="666666"/>
              </a:solidFill>
            </a:endParaRPr>
          </a:p>
          <a:p>
            <a:pPr indent="-317500" lvl="1" marL="1371600" rtl="0" algn="l">
              <a:spcBef>
                <a:spcPts val="0"/>
              </a:spcBef>
              <a:spcAft>
                <a:spcPts val="0"/>
              </a:spcAft>
              <a:buClr>
                <a:srgbClr val="666666"/>
              </a:buClr>
              <a:buSzPts val="1400"/>
              <a:buChar char="○"/>
            </a:pPr>
            <a:r>
              <a:rPr lang="en">
                <a:solidFill>
                  <a:srgbClr val="666666"/>
                </a:solidFill>
              </a:rPr>
              <a:t>Specify the number of columns (for gridwidth) or rows (for gridheight) in the component's display area. These constraints specify the number of cells the component uses, </a:t>
            </a:r>
            <a:r>
              <a:rPr i="1" lang="en">
                <a:solidFill>
                  <a:srgbClr val="666666"/>
                </a:solidFill>
              </a:rPr>
              <a:t>not</a:t>
            </a:r>
            <a:r>
              <a:rPr lang="en">
                <a:solidFill>
                  <a:srgbClr val="666666"/>
                </a:solidFill>
              </a:rPr>
              <a:t> the number of pixels it uses. The default value is 1.</a:t>
            </a:r>
            <a:endParaRPr b="1">
              <a:solidFill>
                <a:srgbClr val="666666"/>
              </a:solidFill>
            </a:endParaRPr>
          </a:p>
          <a:p>
            <a:pPr indent="-342900" lvl="0" marL="914400" rtl="0" algn="l">
              <a:spcBef>
                <a:spcPts val="0"/>
              </a:spcBef>
              <a:spcAft>
                <a:spcPts val="0"/>
              </a:spcAft>
              <a:buClr>
                <a:srgbClr val="666666"/>
              </a:buClr>
              <a:buSzPts val="1800"/>
              <a:buChar char="●"/>
            </a:pPr>
            <a:r>
              <a:rPr b="1" lang="en">
                <a:solidFill>
                  <a:srgbClr val="666666"/>
                </a:solidFill>
              </a:rPr>
              <a:t>ipadx</a:t>
            </a:r>
            <a:r>
              <a:rPr lang="en">
                <a:solidFill>
                  <a:srgbClr val="666666"/>
                </a:solidFill>
              </a:rPr>
              <a:t>, </a:t>
            </a:r>
            <a:r>
              <a:rPr b="1" lang="en">
                <a:solidFill>
                  <a:srgbClr val="666666"/>
                </a:solidFill>
              </a:rPr>
              <a:t>ipady</a:t>
            </a:r>
            <a:endParaRPr b="1">
              <a:solidFill>
                <a:srgbClr val="666666"/>
              </a:solidFill>
            </a:endParaRPr>
          </a:p>
          <a:p>
            <a:pPr indent="-317500" lvl="1" marL="1371600" rtl="0" algn="l">
              <a:spcBef>
                <a:spcPts val="0"/>
              </a:spcBef>
              <a:spcAft>
                <a:spcPts val="0"/>
              </a:spcAft>
              <a:buClr>
                <a:srgbClr val="666666"/>
              </a:buClr>
              <a:buSzPts val="1400"/>
              <a:buChar char="○"/>
            </a:pPr>
            <a:r>
              <a:rPr lang="en">
                <a:solidFill>
                  <a:srgbClr val="666666"/>
                </a:solidFill>
              </a:rPr>
              <a:t>Specifies the internal padding: how much to add to the size of the component. The default value is zero. </a:t>
            </a:r>
            <a:endParaRPr b="1">
              <a:solidFill>
                <a:srgbClr val="666666"/>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3" name="Google Shape;243;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fill</a:t>
            </a:r>
            <a:endParaRPr/>
          </a:p>
          <a:p>
            <a:pPr indent="-317500" lvl="1" marL="914400" rtl="0" algn="l">
              <a:spcBef>
                <a:spcPts val="0"/>
              </a:spcBef>
              <a:spcAft>
                <a:spcPts val="0"/>
              </a:spcAft>
              <a:buSzPts val="1400"/>
              <a:buChar char="○"/>
            </a:pPr>
            <a:r>
              <a:rPr lang="en"/>
              <a:t>This field is used when the component's display area is larger than the component's requested size. It determines whether to resize the component, and if so, how.</a:t>
            </a:r>
            <a:endParaRPr/>
          </a:p>
          <a:p>
            <a:pPr indent="-317500" lvl="1" marL="914400" rtl="0" algn="l">
              <a:spcBef>
                <a:spcPts val="0"/>
              </a:spcBef>
              <a:spcAft>
                <a:spcPts val="0"/>
              </a:spcAft>
              <a:buSzPts val="1400"/>
              <a:buChar char="○"/>
            </a:pPr>
            <a:r>
              <a:rPr lang="en"/>
              <a:t>The following values are valid for fill:</a:t>
            </a:r>
            <a:endParaRPr/>
          </a:p>
          <a:p>
            <a:pPr indent="-317500" lvl="2" marL="1371600" rtl="0" algn="l">
              <a:spcBef>
                <a:spcPts val="0"/>
              </a:spcBef>
              <a:spcAft>
                <a:spcPts val="0"/>
              </a:spcAft>
              <a:buSzPts val="1400"/>
              <a:buChar char="■"/>
            </a:pPr>
            <a:r>
              <a:rPr lang="en"/>
              <a:t>NONE: Do not resize the component.</a:t>
            </a:r>
            <a:endParaRPr/>
          </a:p>
          <a:p>
            <a:pPr indent="-317500" lvl="2" marL="1371600" rtl="0" algn="l">
              <a:spcBef>
                <a:spcPts val="0"/>
              </a:spcBef>
              <a:spcAft>
                <a:spcPts val="0"/>
              </a:spcAft>
              <a:buSzPts val="1400"/>
              <a:buChar char="■"/>
            </a:pPr>
            <a:r>
              <a:rPr lang="en"/>
              <a:t>HORIZONTAL: Make the component wide enough to fill its display area horizontally, but do not change its height.</a:t>
            </a:r>
            <a:endParaRPr/>
          </a:p>
          <a:p>
            <a:pPr indent="-317500" lvl="2" marL="1371600" rtl="0" algn="l">
              <a:spcBef>
                <a:spcPts val="0"/>
              </a:spcBef>
              <a:spcAft>
                <a:spcPts val="0"/>
              </a:spcAft>
              <a:buSzPts val="1400"/>
              <a:buChar char="■"/>
            </a:pPr>
            <a:r>
              <a:rPr lang="en"/>
              <a:t>VERTICAL: Make the component tall enough to fill its display area vertically, but do not change its width.</a:t>
            </a:r>
            <a:endParaRPr/>
          </a:p>
          <a:p>
            <a:pPr indent="-317500" lvl="2" marL="1371600" rtl="0" algn="l">
              <a:spcBef>
                <a:spcPts val="0"/>
              </a:spcBef>
              <a:spcAft>
                <a:spcPts val="0"/>
              </a:spcAft>
              <a:buSzPts val="1400"/>
              <a:buChar char="■"/>
            </a:pPr>
            <a:r>
              <a:rPr lang="en"/>
              <a:t>BOTH: Make the component fill its display area entirely.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Menu</a:t>
            </a:r>
            <a:endParaRPr/>
          </a:p>
        </p:txBody>
      </p:sp>
      <p:sp>
        <p:nvSpPr>
          <p:cNvPr id="249" name="Google Shape;249;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top-level window can have a menu bar associated with it. </a:t>
            </a:r>
            <a:endParaRPr/>
          </a:p>
          <a:p>
            <a:pPr indent="-342900" lvl="0" marL="457200" rtl="0" algn="l">
              <a:spcBef>
                <a:spcPts val="0"/>
              </a:spcBef>
              <a:spcAft>
                <a:spcPts val="0"/>
              </a:spcAft>
              <a:buSzPts val="1800"/>
              <a:buChar char="●"/>
            </a:pPr>
            <a:r>
              <a:rPr lang="en"/>
              <a:t>A menu bar displays a list of top-level menu choices. Each choice is associated with a drop-down menu. </a:t>
            </a:r>
            <a:endParaRPr/>
          </a:p>
          <a:p>
            <a:pPr indent="-342900" lvl="0" marL="457200" rtl="0" algn="l">
              <a:spcBef>
                <a:spcPts val="0"/>
              </a:spcBef>
              <a:spcAft>
                <a:spcPts val="0"/>
              </a:spcAft>
              <a:buSzPts val="1800"/>
              <a:buChar char="●"/>
            </a:pPr>
            <a:r>
              <a:rPr lang="en"/>
              <a:t>This concept is implemented in the Swing by the following classes: JMenuBar, JMenu, and JMenuItem. </a:t>
            </a:r>
            <a:endParaRPr/>
          </a:p>
          <a:p>
            <a:pPr indent="-342900" lvl="0" marL="457200" rtl="0" algn="l">
              <a:spcBef>
                <a:spcPts val="0"/>
              </a:spcBef>
              <a:spcAft>
                <a:spcPts val="0"/>
              </a:spcAft>
              <a:buSzPts val="1800"/>
              <a:buChar char="●"/>
            </a:pPr>
            <a:r>
              <a:rPr lang="en"/>
              <a:t>In general, a menu bar contains one or more Menu objects. Each Menu object contains a list of MenuItem objects. Each MenuItem object represents something that can be selected by the user. </a:t>
            </a:r>
            <a:endParaRPr/>
          </a:p>
          <a:p>
            <a:pPr indent="-342900" lvl="0" marL="457200" rtl="0" algn="l">
              <a:spcBef>
                <a:spcPts val="0"/>
              </a:spcBef>
              <a:spcAft>
                <a:spcPts val="0"/>
              </a:spcAft>
              <a:buSzPts val="1800"/>
              <a:buChar char="●"/>
            </a:pPr>
            <a:r>
              <a:rPr lang="en"/>
              <a:t>Since JMenu is a subclass of JMenuItem, a hierarchy of nested submenus can be created. It is also possible to include checkable menu items. These are menu options of type JCheckboxMenuItem and will have a check mark next to them when they are selected.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to Create Menu</a:t>
            </a:r>
            <a:endParaRPr/>
          </a:p>
        </p:txBody>
      </p:sp>
      <p:sp>
        <p:nvSpPr>
          <p:cNvPr id="255" name="Google Shape;255;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901700" rtl="0" algn="l">
              <a:spcBef>
                <a:spcPts val="0"/>
              </a:spcBef>
              <a:spcAft>
                <a:spcPts val="0"/>
              </a:spcAft>
              <a:buClr>
                <a:srgbClr val="666666"/>
              </a:buClr>
              <a:buSzPts val="1800"/>
              <a:buFont typeface="Arial"/>
              <a:buChar char="●"/>
            </a:pPr>
            <a:r>
              <a:rPr lang="en">
                <a:solidFill>
                  <a:srgbClr val="666666"/>
                </a:solidFill>
                <a:highlight>
                  <a:srgbClr val="FFFFFF"/>
                </a:highlight>
              </a:rPr>
              <a:t>Create menu bar</a:t>
            </a:r>
            <a:endParaRPr>
              <a:solidFill>
                <a:srgbClr val="666666"/>
              </a:solidFill>
              <a:highlight>
                <a:srgbClr val="FFFFFF"/>
              </a:highlight>
            </a:endParaRPr>
          </a:p>
          <a:p>
            <a:pPr indent="-342900" lvl="0" marL="901700" rtl="0" algn="l">
              <a:spcBef>
                <a:spcPts val="0"/>
              </a:spcBef>
              <a:spcAft>
                <a:spcPts val="0"/>
              </a:spcAft>
              <a:buClr>
                <a:srgbClr val="666666"/>
              </a:buClr>
              <a:buSzPts val="1800"/>
              <a:buFont typeface="Arial"/>
              <a:buChar char="●"/>
            </a:pPr>
            <a:r>
              <a:rPr lang="en">
                <a:solidFill>
                  <a:srgbClr val="666666"/>
                </a:solidFill>
                <a:highlight>
                  <a:srgbClr val="FFFFFF"/>
                </a:highlight>
              </a:rPr>
              <a:t>Add menu bar to the frame</a:t>
            </a:r>
            <a:endParaRPr>
              <a:solidFill>
                <a:srgbClr val="666666"/>
              </a:solidFill>
              <a:highlight>
                <a:srgbClr val="FFFFFF"/>
              </a:highlight>
            </a:endParaRPr>
          </a:p>
          <a:p>
            <a:pPr indent="-342900" lvl="0" marL="901700" rtl="0" algn="l">
              <a:spcBef>
                <a:spcPts val="0"/>
              </a:spcBef>
              <a:spcAft>
                <a:spcPts val="0"/>
              </a:spcAft>
              <a:buClr>
                <a:srgbClr val="666666"/>
              </a:buClr>
              <a:buSzPts val="1800"/>
              <a:buFont typeface="Arial"/>
              <a:buChar char="●"/>
            </a:pPr>
            <a:r>
              <a:rPr lang="en">
                <a:solidFill>
                  <a:srgbClr val="666666"/>
                </a:solidFill>
                <a:highlight>
                  <a:srgbClr val="FFFFFF"/>
                </a:highlight>
              </a:rPr>
              <a:t>Create menus</a:t>
            </a:r>
            <a:endParaRPr>
              <a:solidFill>
                <a:srgbClr val="666666"/>
              </a:solidFill>
              <a:highlight>
                <a:srgbClr val="FFFFFF"/>
              </a:highlight>
            </a:endParaRPr>
          </a:p>
          <a:p>
            <a:pPr indent="-342900" lvl="0" marL="901700" rtl="0" algn="l">
              <a:spcBef>
                <a:spcPts val="0"/>
              </a:spcBef>
              <a:spcAft>
                <a:spcPts val="0"/>
              </a:spcAft>
              <a:buClr>
                <a:srgbClr val="666666"/>
              </a:buClr>
              <a:buSzPts val="1800"/>
              <a:buFont typeface="Arial"/>
              <a:buChar char="●"/>
            </a:pPr>
            <a:r>
              <a:rPr lang="en">
                <a:solidFill>
                  <a:srgbClr val="666666"/>
                </a:solidFill>
                <a:highlight>
                  <a:srgbClr val="FFFFFF"/>
                </a:highlight>
              </a:rPr>
              <a:t>Add menus to menu bar</a:t>
            </a:r>
            <a:endParaRPr>
              <a:solidFill>
                <a:srgbClr val="666666"/>
              </a:solidFill>
              <a:highlight>
                <a:srgbClr val="FFFFFF"/>
              </a:highlight>
            </a:endParaRPr>
          </a:p>
          <a:p>
            <a:pPr indent="-342900" lvl="0" marL="901700" rtl="0" algn="l">
              <a:spcBef>
                <a:spcPts val="0"/>
              </a:spcBef>
              <a:spcAft>
                <a:spcPts val="0"/>
              </a:spcAft>
              <a:buClr>
                <a:srgbClr val="666666"/>
              </a:buClr>
              <a:buSzPts val="1800"/>
              <a:buFont typeface="Arial"/>
              <a:buChar char="●"/>
            </a:pPr>
            <a:r>
              <a:rPr lang="en">
                <a:solidFill>
                  <a:srgbClr val="666666"/>
                </a:solidFill>
                <a:highlight>
                  <a:srgbClr val="FFFFFF"/>
                </a:highlight>
              </a:rPr>
              <a:t>Create menu items</a:t>
            </a:r>
            <a:endParaRPr>
              <a:solidFill>
                <a:srgbClr val="666666"/>
              </a:solidFill>
              <a:highlight>
                <a:srgbClr val="FFFFFF"/>
              </a:highlight>
            </a:endParaRPr>
          </a:p>
          <a:p>
            <a:pPr indent="-342900" lvl="0" marL="901700" rtl="0" algn="l">
              <a:spcBef>
                <a:spcPts val="0"/>
              </a:spcBef>
              <a:spcAft>
                <a:spcPts val="0"/>
              </a:spcAft>
              <a:buClr>
                <a:srgbClr val="666666"/>
              </a:buClr>
              <a:buSzPts val="1800"/>
              <a:buFont typeface="Arial"/>
              <a:buChar char="●"/>
            </a:pPr>
            <a:r>
              <a:rPr lang="en">
                <a:solidFill>
                  <a:srgbClr val="666666"/>
                </a:solidFill>
                <a:highlight>
                  <a:srgbClr val="FFFFFF"/>
                </a:highlight>
              </a:rPr>
              <a:t>Add menu items to menus</a:t>
            </a:r>
            <a:endParaRPr>
              <a:solidFill>
                <a:srgbClr val="666666"/>
              </a:solidFill>
              <a:highlight>
                <a:srgbClr val="FFFFFF"/>
              </a:highlight>
            </a:endParaRPr>
          </a:p>
          <a:p>
            <a:pPr indent="-342900" lvl="0" marL="901700" rtl="0" algn="l">
              <a:spcBef>
                <a:spcPts val="0"/>
              </a:spcBef>
              <a:spcAft>
                <a:spcPts val="0"/>
              </a:spcAft>
              <a:buClr>
                <a:srgbClr val="666666"/>
              </a:buClr>
              <a:buSzPts val="1800"/>
              <a:buFont typeface="Arial"/>
              <a:buChar char="●"/>
            </a:pPr>
            <a:r>
              <a:rPr lang="en">
                <a:solidFill>
                  <a:srgbClr val="666666"/>
                </a:solidFill>
                <a:highlight>
                  <a:srgbClr val="FFFFFF"/>
                </a:highlight>
              </a:rPr>
              <a:t>Event handling(If required)</a:t>
            </a:r>
            <a:endParaRPr>
              <a:solidFill>
                <a:srgbClr val="666666"/>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AutoNum type="arabicPeriod"/>
            </a:pPr>
            <a:r>
              <a:rPr lang="en" sz="1800">
                <a:solidFill>
                  <a:schemeClr val="dk2"/>
                </a:solidFill>
              </a:rPr>
              <a:t>Create MenuBar</a:t>
            </a:r>
            <a:endParaRPr/>
          </a:p>
        </p:txBody>
      </p:sp>
      <p:sp>
        <p:nvSpPr>
          <p:cNvPr id="261" name="Google Shape;261;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 create a menu bar, first create an instance of MenuBar. This class defines only the default constructor.</a:t>
            </a:r>
            <a:endParaRPr/>
          </a:p>
          <a:p>
            <a:pPr indent="-342900" lvl="0" marL="914400" rtl="0" algn="l">
              <a:spcBef>
                <a:spcPts val="1200"/>
              </a:spcBef>
              <a:spcAft>
                <a:spcPts val="0"/>
              </a:spcAft>
              <a:buSzPts val="1800"/>
              <a:buChar char="●"/>
            </a:pPr>
            <a:r>
              <a:rPr lang="en"/>
              <a:t>JMenuBar()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Create menu</a:t>
            </a:r>
            <a:endParaRPr/>
          </a:p>
        </p:txBody>
      </p:sp>
      <p:sp>
        <p:nvSpPr>
          <p:cNvPr id="267" name="Google Shape;267;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Following are the constructors for Menu: </a:t>
            </a:r>
            <a:endParaRPr/>
          </a:p>
          <a:p>
            <a:pPr indent="-342900" lvl="0" marL="457200" rtl="0" algn="l">
              <a:spcBef>
                <a:spcPts val="1200"/>
              </a:spcBef>
              <a:spcAft>
                <a:spcPts val="0"/>
              </a:spcAft>
              <a:buSzPts val="1800"/>
              <a:buChar char="●"/>
            </a:pPr>
            <a:r>
              <a:rPr lang="en"/>
              <a:t>JMenu( ) throws HeadlessException </a:t>
            </a:r>
            <a:endParaRPr/>
          </a:p>
          <a:p>
            <a:pPr indent="-342900" lvl="0" marL="457200" rtl="0" algn="l">
              <a:spcBef>
                <a:spcPts val="0"/>
              </a:spcBef>
              <a:spcAft>
                <a:spcPts val="0"/>
              </a:spcAft>
              <a:buSzPts val="1800"/>
              <a:buChar char="●"/>
            </a:pPr>
            <a:r>
              <a:rPr lang="en"/>
              <a:t>JMenu(String optionName) throws HeadlessException </a:t>
            </a:r>
            <a:endParaRPr/>
          </a:p>
          <a:p>
            <a:pPr indent="-342900" lvl="0" marL="457200" rtl="0" algn="l">
              <a:spcBef>
                <a:spcPts val="0"/>
              </a:spcBef>
              <a:spcAft>
                <a:spcPts val="0"/>
              </a:spcAft>
              <a:buSzPts val="1800"/>
              <a:buChar char="●"/>
            </a:pPr>
            <a:r>
              <a:rPr lang="en"/>
              <a:t>JMenu(String optionName, boolean removable) throws HeadlessException </a:t>
            </a:r>
            <a:endParaRPr/>
          </a:p>
          <a:p>
            <a:pPr indent="-342900" lvl="0" marL="457200" rtl="0" algn="l">
              <a:spcBef>
                <a:spcPts val="0"/>
              </a:spcBef>
              <a:spcAft>
                <a:spcPts val="0"/>
              </a:spcAft>
              <a:buSzPts val="1800"/>
              <a:buChar char="●"/>
            </a:pPr>
            <a:r>
              <a:rPr lang="en"/>
              <a:t>Here, optionName specifies the name of the menu selection. If removable is true, the menu can be removed and allowed to float free. Otherwise, it will remain attached to the menu bar. (Removable menus are implementation-dependent.) </a:t>
            </a:r>
            <a:endParaRPr/>
          </a:p>
          <a:p>
            <a:pPr indent="-342900" lvl="0" marL="457200" rtl="0" algn="l">
              <a:spcBef>
                <a:spcPts val="0"/>
              </a:spcBef>
              <a:spcAft>
                <a:spcPts val="0"/>
              </a:spcAft>
              <a:buSzPts val="1800"/>
              <a:buChar char="●"/>
            </a:pPr>
            <a:r>
              <a:rPr lang="en"/>
              <a:t>The first form creates an empty menu.</a:t>
            </a:r>
            <a:endParaRPr/>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Create Menu Item</a:t>
            </a:r>
            <a:endParaRPr/>
          </a:p>
        </p:txBody>
      </p:sp>
      <p:sp>
        <p:nvSpPr>
          <p:cNvPr id="273" name="Google Shape;273;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Individual menu items are of type MenuItem. </a:t>
            </a:r>
            <a:endParaRPr/>
          </a:p>
          <a:p>
            <a:pPr indent="-342900" lvl="0" marL="457200" rtl="0" algn="l">
              <a:spcBef>
                <a:spcPts val="0"/>
              </a:spcBef>
              <a:spcAft>
                <a:spcPts val="0"/>
              </a:spcAft>
              <a:buSzPts val="1800"/>
              <a:buChar char="●"/>
            </a:pPr>
            <a:r>
              <a:rPr lang="en"/>
              <a:t>It defines these constructors: </a:t>
            </a:r>
            <a:endParaRPr/>
          </a:p>
          <a:p>
            <a:pPr indent="-317500" lvl="1" marL="914400" rtl="0" algn="l">
              <a:spcBef>
                <a:spcPts val="0"/>
              </a:spcBef>
              <a:spcAft>
                <a:spcPts val="0"/>
              </a:spcAft>
              <a:buSzPts val="1400"/>
              <a:buChar char="○"/>
            </a:pPr>
            <a:r>
              <a:rPr lang="en"/>
              <a:t>JMenuItem( )</a:t>
            </a:r>
            <a:endParaRPr/>
          </a:p>
          <a:p>
            <a:pPr indent="-317500" lvl="1" marL="914400" rtl="0" algn="l">
              <a:spcBef>
                <a:spcPts val="0"/>
              </a:spcBef>
              <a:spcAft>
                <a:spcPts val="0"/>
              </a:spcAft>
              <a:buSzPts val="1400"/>
              <a:buChar char="○"/>
            </a:pPr>
            <a:r>
              <a:rPr lang="en"/>
              <a:t>MenuItem(String itemName)</a:t>
            </a:r>
            <a:endParaRPr/>
          </a:p>
          <a:p>
            <a:pPr indent="-317500" lvl="1" marL="914400" rtl="0" algn="l">
              <a:spcBef>
                <a:spcPts val="0"/>
              </a:spcBef>
              <a:spcAft>
                <a:spcPts val="0"/>
              </a:spcAft>
              <a:buSzPts val="1400"/>
              <a:buChar char="○"/>
            </a:pPr>
            <a:r>
              <a:rPr lang="en"/>
              <a:t>MenuItem(String itemName, int memonic) </a:t>
            </a:r>
            <a:endParaRPr/>
          </a:p>
          <a:p>
            <a:pPr indent="-317500" lvl="0" marL="457200" rtl="0" algn="l">
              <a:spcBef>
                <a:spcPts val="0"/>
              </a:spcBef>
              <a:spcAft>
                <a:spcPts val="0"/>
              </a:spcAft>
              <a:buSzPts val="1400"/>
              <a:buChar char="●"/>
            </a:pPr>
            <a:r>
              <a:rPr lang="en" sz="1400"/>
              <a:t>You can disable or enable a menu item by using the setEnabled( ) method. Its form is shown here: </a:t>
            </a:r>
            <a:endParaRPr sz="1400"/>
          </a:p>
          <a:p>
            <a:pPr indent="-317500" lvl="1" marL="914400" rtl="0" algn="l">
              <a:spcBef>
                <a:spcPts val="0"/>
              </a:spcBef>
              <a:spcAft>
                <a:spcPts val="0"/>
              </a:spcAft>
              <a:buSzPts val="1400"/>
              <a:buChar char="○"/>
            </a:pPr>
            <a:r>
              <a:rPr lang="en" sz="1400"/>
              <a:t>void setEnabled(boolean enabledFlag) </a:t>
            </a:r>
            <a:endParaRPr sz="1400"/>
          </a:p>
          <a:p>
            <a:pPr indent="-317500" lvl="1" marL="914400" rtl="0" algn="l">
              <a:spcBef>
                <a:spcPts val="0"/>
              </a:spcBef>
              <a:spcAft>
                <a:spcPts val="0"/>
              </a:spcAft>
              <a:buSzPts val="1400"/>
              <a:buChar char="○"/>
            </a:pPr>
            <a:r>
              <a:rPr lang="en"/>
              <a:t>If the argument enabledFlag is true, the menu item is enabled. If false, the menu item is disabled.</a:t>
            </a:r>
            <a:endParaRPr/>
          </a:p>
          <a:p>
            <a:pPr indent="0" lvl="0" marL="0" rtl="0" algn="l">
              <a:spcBef>
                <a:spcPts val="1200"/>
              </a:spcBef>
              <a:spcAft>
                <a:spcPts val="1200"/>
              </a:spcAft>
              <a:buNone/>
            </a:pPr>
            <a:r>
              <a:t/>
            </a:r>
            <a:endParaRPr sz="1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Dailog Box</a:t>
            </a:r>
            <a:endParaRPr/>
          </a:p>
        </p:txBody>
      </p:sp>
      <p:sp>
        <p:nvSpPr>
          <p:cNvPr id="279" name="Google Shape;279;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a:bodyPr>
          <a:lstStyle/>
          <a:p>
            <a:pPr indent="-317182" lvl="0" marL="457200" rtl="0" algn="l">
              <a:spcBef>
                <a:spcPts val="0"/>
              </a:spcBef>
              <a:spcAft>
                <a:spcPts val="0"/>
              </a:spcAft>
              <a:buSzPct val="100000"/>
              <a:buChar char="●"/>
            </a:pPr>
            <a:r>
              <a:rPr lang="en"/>
              <a:t>Often, you will want to use a dialog box to hold a set of related controls. </a:t>
            </a:r>
            <a:endParaRPr/>
          </a:p>
          <a:p>
            <a:pPr indent="-317182" lvl="0" marL="457200" rtl="0" algn="l">
              <a:spcBef>
                <a:spcPts val="0"/>
              </a:spcBef>
              <a:spcAft>
                <a:spcPts val="0"/>
              </a:spcAft>
              <a:buSzPct val="100000"/>
              <a:buChar char="●"/>
            </a:pPr>
            <a:r>
              <a:rPr lang="en"/>
              <a:t>Dialog boxes are primarily used to obtain user input and are often child windows of a top-level window. </a:t>
            </a:r>
            <a:endParaRPr/>
          </a:p>
          <a:p>
            <a:pPr indent="-317182" lvl="0" marL="457200" rtl="0" algn="l">
              <a:spcBef>
                <a:spcPts val="0"/>
              </a:spcBef>
              <a:spcAft>
                <a:spcPts val="0"/>
              </a:spcAft>
              <a:buSzPct val="100000"/>
              <a:buChar char="●"/>
            </a:pPr>
            <a:r>
              <a:rPr lang="en"/>
              <a:t>Dialog boxes don’t have menu bars, but in other respects, they function like frame windows. (You can add controls to them, for example, in the same way that you add controls to a frame window.) </a:t>
            </a:r>
            <a:endParaRPr/>
          </a:p>
          <a:p>
            <a:pPr indent="-317182" lvl="0" marL="457200" rtl="0" algn="l">
              <a:spcBef>
                <a:spcPts val="0"/>
              </a:spcBef>
              <a:spcAft>
                <a:spcPts val="0"/>
              </a:spcAft>
              <a:buSzPct val="100000"/>
              <a:buChar char="●"/>
            </a:pPr>
            <a:r>
              <a:rPr lang="en"/>
              <a:t>Dialog boxes may be modal or modeless. When a modal dialog box is active, all input is directed to it until it is closed. This means that you cannot access other parts of your program until you have closed the dialog box. </a:t>
            </a:r>
            <a:endParaRPr/>
          </a:p>
          <a:p>
            <a:pPr indent="-317182" lvl="0" marL="457200" rtl="0" algn="l">
              <a:spcBef>
                <a:spcPts val="0"/>
              </a:spcBef>
              <a:spcAft>
                <a:spcPts val="0"/>
              </a:spcAft>
              <a:buSzPct val="100000"/>
              <a:buChar char="●"/>
            </a:pPr>
            <a:r>
              <a:rPr lang="en"/>
              <a:t>When a modeless dialog box is active, input focus can be directed to another window in your program. Thus, other parts of your program remain active and accessible. </a:t>
            </a:r>
            <a:endParaRPr/>
          </a:p>
          <a:p>
            <a:pPr indent="-317182" lvl="0" marL="457200" rtl="0" algn="l">
              <a:spcBef>
                <a:spcPts val="0"/>
              </a:spcBef>
              <a:spcAft>
                <a:spcPts val="0"/>
              </a:spcAft>
              <a:buSzPct val="100000"/>
              <a:buChar char="●"/>
            </a:pPr>
            <a:r>
              <a:rPr lang="en"/>
              <a:t>In the Swing, dialog boxes are of type Dialog. Two commonly used constructors are shown here: </a:t>
            </a:r>
            <a:endParaRPr/>
          </a:p>
          <a:p>
            <a:pPr indent="-317182" lvl="0" marL="457200" rtl="0" algn="l">
              <a:spcBef>
                <a:spcPts val="0"/>
              </a:spcBef>
              <a:spcAft>
                <a:spcPts val="0"/>
              </a:spcAft>
              <a:buSzPct val="100000"/>
              <a:buChar char="●"/>
            </a:pPr>
            <a:r>
              <a:rPr lang="en"/>
              <a:t>JDialog(Frame parentWindow, boolean mode) </a:t>
            </a:r>
            <a:endParaRPr/>
          </a:p>
          <a:p>
            <a:pPr indent="-317182" lvl="0" marL="457200" rtl="0" algn="l">
              <a:spcBef>
                <a:spcPts val="0"/>
              </a:spcBef>
              <a:spcAft>
                <a:spcPts val="0"/>
              </a:spcAft>
              <a:buSzPct val="100000"/>
              <a:buChar char="●"/>
            </a:pPr>
            <a:r>
              <a:rPr lang="en"/>
              <a:t>JDialog(Frame parentWindow, String title, boolean mode)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Here, parentWindow is the owner of the dialog box. If mode is true, the dialog box is modal. Otherwise, it is modeless. The title of the dialog box can be passed in title. Generally, you will subclass Dialog, adding the functionality required by your application.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FileDialog </a:t>
            </a:r>
            <a:endParaRPr/>
          </a:p>
        </p:txBody>
      </p:sp>
      <p:sp>
        <p:nvSpPr>
          <p:cNvPr id="290" name="Google Shape;290;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Java provides a built-in dialog box that lets the user specify a file. </a:t>
            </a:r>
            <a:endParaRPr/>
          </a:p>
          <a:p>
            <a:pPr indent="-342900" lvl="0" marL="457200" rtl="0" algn="l">
              <a:spcBef>
                <a:spcPts val="0"/>
              </a:spcBef>
              <a:spcAft>
                <a:spcPts val="0"/>
              </a:spcAft>
              <a:buSzPts val="1800"/>
              <a:buChar char="●"/>
            </a:pPr>
            <a:r>
              <a:rPr lang="en"/>
              <a:t>To create a file dialog box, instantiate an object of type JFileChooser. This causes a file dialog box to be displayed. </a:t>
            </a:r>
            <a:endParaRPr/>
          </a:p>
          <a:p>
            <a:pPr indent="-342900" lvl="0" marL="457200" rtl="0" algn="l">
              <a:spcBef>
                <a:spcPts val="0"/>
              </a:spcBef>
              <a:spcAft>
                <a:spcPts val="0"/>
              </a:spcAft>
              <a:buSzPts val="1800"/>
              <a:buChar char="●"/>
            </a:pPr>
            <a:r>
              <a:rPr lang="en"/>
              <a:t>Usually, this is the standard file dialog box provided by the operating system. Here are three FileDialog constructors: </a:t>
            </a:r>
            <a:endParaRPr/>
          </a:p>
          <a:p>
            <a:pPr indent="-317500" lvl="1" marL="914400" rtl="0" algn="l">
              <a:spcBef>
                <a:spcPts val="0"/>
              </a:spcBef>
              <a:spcAft>
                <a:spcPts val="0"/>
              </a:spcAft>
              <a:buSzPts val="1400"/>
              <a:buChar char="○"/>
            </a:pPr>
            <a:r>
              <a:rPr lang="en" sz="1800"/>
              <a:t>JFileChooser</a:t>
            </a:r>
            <a:r>
              <a:rPr lang="en"/>
              <a:t>() </a:t>
            </a:r>
            <a:endParaRPr/>
          </a:p>
          <a:p>
            <a:pPr indent="-317500" lvl="1" marL="914400" rtl="0" algn="l">
              <a:spcBef>
                <a:spcPts val="0"/>
              </a:spcBef>
              <a:spcAft>
                <a:spcPts val="0"/>
              </a:spcAft>
              <a:buSzPts val="1400"/>
              <a:buChar char="○"/>
            </a:pPr>
            <a:r>
              <a:rPr lang="en" sz="1800"/>
              <a:t>JFileChooser</a:t>
            </a:r>
            <a:r>
              <a:rPr lang="en"/>
              <a:t>(String currentDirectory)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6" name="Google Shape;29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FileDialog provides methods that allow you to determine the name of the file and its path as selected by the user. Here are two examples: </a:t>
            </a:r>
            <a:endParaRPr/>
          </a:p>
          <a:p>
            <a:pPr indent="-317500" lvl="1" marL="914400" rtl="0" algn="l">
              <a:spcBef>
                <a:spcPts val="0"/>
              </a:spcBef>
              <a:spcAft>
                <a:spcPts val="0"/>
              </a:spcAft>
              <a:buSzPts val="1400"/>
              <a:buChar char="○"/>
            </a:pPr>
            <a:r>
              <a:rPr lang="en"/>
              <a:t>String getDirectory( ) </a:t>
            </a:r>
            <a:endParaRPr/>
          </a:p>
          <a:p>
            <a:pPr indent="-317500" lvl="1" marL="914400" rtl="0" algn="l">
              <a:spcBef>
                <a:spcPts val="0"/>
              </a:spcBef>
              <a:spcAft>
                <a:spcPts val="0"/>
              </a:spcAft>
              <a:buSzPts val="1400"/>
              <a:buChar char="○"/>
            </a:pPr>
            <a:r>
              <a:rPr lang="en"/>
              <a:t>String getFile( ) </a:t>
            </a:r>
            <a:endParaRPr/>
          </a:p>
          <a:p>
            <a:pPr indent="-342900" lvl="0" marL="457200" rtl="0" algn="l">
              <a:spcBef>
                <a:spcPts val="0"/>
              </a:spcBef>
              <a:spcAft>
                <a:spcPts val="0"/>
              </a:spcAft>
              <a:buSzPts val="1800"/>
              <a:buChar char="●"/>
            </a:pPr>
            <a:r>
              <a:rPr lang="en"/>
              <a:t>These methods return the directory and the filename, respectively.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Tooltip</a:t>
            </a:r>
            <a:endParaRPr/>
          </a:p>
        </p:txBody>
      </p:sp>
      <p:sp>
        <p:nvSpPr>
          <p:cNvPr id="302" name="Google Shape;302;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Tooltips are small windows of text that popup when the user leaves the mouse cursor over a component. </a:t>
            </a:r>
            <a:endParaRPr/>
          </a:p>
          <a:p>
            <a:pPr indent="-342900" lvl="0" marL="457200" rtl="0" algn="l">
              <a:spcBef>
                <a:spcPts val="0"/>
              </a:spcBef>
              <a:spcAft>
                <a:spcPts val="0"/>
              </a:spcAft>
              <a:buSzPts val="1800"/>
              <a:buChar char="●"/>
            </a:pPr>
            <a:r>
              <a:rPr lang="en"/>
              <a:t>They are used to explain the functionality of the component.</a:t>
            </a:r>
            <a:endParaRPr/>
          </a:p>
          <a:p>
            <a:pPr indent="-342900" lvl="0" marL="457200" rtl="0" algn="l">
              <a:spcBef>
                <a:spcPts val="0"/>
              </a:spcBef>
              <a:spcAft>
                <a:spcPts val="0"/>
              </a:spcAft>
              <a:buSzPts val="1800"/>
              <a:buChar char="●"/>
            </a:pPr>
            <a:r>
              <a:rPr lang="en"/>
              <a:t>Tooltips are an integral part of Swing components. They can be specified by calling the setToolTipText method as shown below.</a:t>
            </a:r>
            <a:endParaRPr/>
          </a:p>
          <a:p>
            <a:pPr indent="-317500" lvl="1" marL="914400" rtl="0" algn="l">
              <a:spcBef>
                <a:spcPts val="0"/>
              </a:spcBef>
              <a:spcAft>
                <a:spcPts val="0"/>
              </a:spcAft>
              <a:buSzPts val="1400"/>
              <a:buChar char="○"/>
            </a:pPr>
            <a:r>
              <a:rPr lang="en"/>
              <a:t>setToolTipText("Deletes the selected grocery item");</a:t>
            </a:r>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Internal Frame</a:t>
            </a:r>
            <a:endParaRPr/>
          </a:p>
        </p:txBody>
      </p:sp>
      <p:sp>
        <p:nvSpPr>
          <p:cNvPr id="308" name="Google Shape;308;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JInternalFrame is a part of Java Swing . JInternalFrame is a container that provides many features of a frame which includes displaying title, opening, closing, resizing, support for menu bar, etc. </a:t>
            </a:r>
            <a:endParaRPr/>
          </a:p>
          <a:p>
            <a:pPr indent="-325755" lvl="0" marL="457200" rtl="0" algn="l">
              <a:spcBef>
                <a:spcPts val="0"/>
              </a:spcBef>
              <a:spcAft>
                <a:spcPts val="0"/>
              </a:spcAft>
              <a:buSzPct val="100000"/>
              <a:buChar char="●"/>
            </a:pPr>
            <a:r>
              <a:rPr lang="en"/>
              <a:t>Constructors for JInternalFrame </a:t>
            </a:r>
            <a:endParaRPr/>
          </a:p>
          <a:p>
            <a:pPr indent="-304165" lvl="1" marL="914400" rtl="0" algn="l">
              <a:spcBef>
                <a:spcPts val="0"/>
              </a:spcBef>
              <a:spcAft>
                <a:spcPts val="0"/>
              </a:spcAft>
              <a:buSzPct val="100000"/>
              <a:buChar char="○"/>
            </a:pPr>
            <a:r>
              <a:rPr lang="en"/>
              <a:t>JInternalFrame() : creates a new non- closable, non- resizable, non- maximizable JInternalFrame with no title</a:t>
            </a:r>
            <a:endParaRPr/>
          </a:p>
          <a:p>
            <a:pPr indent="-304165" lvl="1" marL="914400" rtl="0" algn="l">
              <a:spcBef>
                <a:spcPts val="0"/>
              </a:spcBef>
              <a:spcAft>
                <a:spcPts val="0"/>
              </a:spcAft>
              <a:buSzPct val="100000"/>
              <a:buChar char="○"/>
            </a:pPr>
            <a:r>
              <a:rPr lang="en"/>
              <a:t>JInternalFrame(String t) :creates a new non- closable, non- resizable, non- maximizable JInternalFrame with a title specified</a:t>
            </a:r>
            <a:endParaRPr/>
          </a:p>
          <a:p>
            <a:pPr indent="-304165" lvl="1" marL="914400" rtl="0" algn="l">
              <a:spcBef>
                <a:spcPts val="0"/>
              </a:spcBef>
              <a:spcAft>
                <a:spcPts val="0"/>
              </a:spcAft>
              <a:buSzPct val="100000"/>
              <a:buChar char="○"/>
            </a:pPr>
            <a:r>
              <a:rPr lang="en"/>
              <a:t>JInternalFrame(String t, boolean resizable) :creates a new non- closable, non- maximizable JInternalFrame with a title and resizability specified</a:t>
            </a:r>
            <a:endParaRPr/>
          </a:p>
          <a:p>
            <a:pPr indent="-304165" lvl="1" marL="914400" rtl="0" algn="l">
              <a:spcBef>
                <a:spcPts val="0"/>
              </a:spcBef>
              <a:spcAft>
                <a:spcPts val="0"/>
              </a:spcAft>
              <a:buSzPct val="100000"/>
              <a:buChar char="○"/>
            </a:pPr>
            <a:r>
              <a:rPr lang="en"/>
              <a:t>JInternalFrame(String t, boolean resizable, boolean closable) : creates a new non- maximizable JInternalFrame with a title, closability and resizability specified</a:t>
            </a:r>
            <a:endParaRPr/>
          </a:p>
          <a:p>
            <a:pPr indent="-304165" lvl="1" marL="914400" rtl="0" algn="l">
              <a:spcBef>
                <a:spcPts val="0"/>
              </a:spcBef>
              <a:spcAft>
                <a:spcPts val="0"/>
              </a:spcAft>
              <a:buSzPct val="100000"/>
              <a:buChar char="○"/>
            </a:pPr>
            <a:r>
              <a:rPr lang="en"/>
              <a:t>JInternalFrame(String t, boolean resizable, boolean closable, boolean maximizable) :creates a new JInternalFrame with a title, closability, maximizability and resizability specified </a:t>
            </a:r>
            <a:endParaRPr/>
          </a:p>
          <a:p>
            <a:pPr indent="-304165" lvl="1" marL="914400" rtl="0" algn="l">
              <a:spcBef>
                <a:spcPts val="0"/>
              </a:spcBef>
              <a:spcAft>
                <a:spcPts val="0"/>
              </a:spcAft>
              <a:buSzPct val="100000"/>
              <a:buChar char="○"/>
            </a:pPr>
            <a:r>
              <a:rPr lang="en"/>
              <a:t>JInternalFrame(String t, boolean resizable, boolean closable, boolean maximizable : creates a new JInternalFrame with a title, closability, maximizability, and resizability specified</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