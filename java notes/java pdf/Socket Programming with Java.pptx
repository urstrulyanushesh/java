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Int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ED9077-AB31-4ED5-981F-914DA80968C7}">
  <a:tblStyle styleId="{1AED9077-AB31-4ED5-981F-914DA80968C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8e81133bf5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28e81133bf5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8e81133bf5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8e81133bf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8e81133bf5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8e81133bf5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65290fb4ba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265290fb4ba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265290fb4ba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5290fb4ba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265290fb4ba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65290fb4ba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265290fb4ba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8e81133bf5_0_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28e81133bf5_0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8e81133bf5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28e81133bf5_0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8e81133bf5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28e81133bf5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8e81133bf5_0_1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28e81133bf5_0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8e81133bf5_0_2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28e81133bf5_0_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8e81133bf5_0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28e81133bf5_0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8e81133bf5_0_2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28e81133bf5_0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315b984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1315b984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1315b9845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1315b9845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1315b9845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1315b9845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javatpoint.com/ip-full-form" TargetMode="External"/><Relationship Id="rId4" Type="http://schemas.openxmlformats.org/officeDocument/2006/relationships/hyperlink" Target="https://www.javatpoint.com/tcp-ip-full-for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5 </a:t>
            </a:r>
            <a:br>
              <a:rPr lang="en"/>
            </a:br>
            <a:r>
              <a:rPr lang="en"/>
              <a:t>Network Programming with Java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Networking Basics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1157700" y="1306556"/>
            <a:ext cx="5957700" cy="3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74650" lvl="0" marL="381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•"/>
            </a:pPr>
            <a:r>
              <a:rPr lang="en"/>
              <a:t>TCP </a:t>
            </a:r>
            <a:endParaRPr/>
          </a:p>
          <a:p>
            <a:pPr indent="-374650" lvl="0" marL="381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•"/>
            </a:pPr>
            <a:r>
              <a:rPr lang="en"/>
              <a:t>UDP</a:t>
            </a:r>
            <a:endParaRPr/>
          </a:p>
          <a:p>
            <a:pPr indent="-374650" lvl="0" marL="381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•"/>
            </a:pPr>
            <a:r>
              <a:rPr lang="en"/>
              <a:t>Port Number</a:t>
            </a:r>
            <a:endParaRPr/>
          </a:p>
          <a:p>
            <a:pPr indent="-374650" lvl="0" marL="381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•"/>
            </a:pPr>
            <a:r>
              <a:rPr lang="en"/>
              <a:t>IP Address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b="1" lang="en" sz="18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Transmission Control Protocol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587300" y="113766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TCP stands for </a:t>
            </a:r>
            <a:r>
              <a:rPr b="1" lang="en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Transmission Control Protocol</a:t>
            </a:r>
            <a:r>
              <a:rPr lang="en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It is a transport layer protocol that facilitates the transmission of packets from source to destination. </a:t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It is a connection-oriented protocol that means it establishes the connection prior to the communication that occurs between the computing devices in a network. </a:t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This protocol is used with an </a:t>
            </a:r>
            <a:r>
              <a:rPr lang="en" sz="1400" u="sng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IP</a:t>
            </a:r>
            <a:r>
              <a:rPr lang="en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protocol, so together, they are referred to as a </a:t>
            </a:r>
            <a:r>
              <a:rPr lang="en" sz="1400" u="sng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TCP/IP</a:t>
            </a:r>
            <a:r>
              <a:rPr lang="en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TCP is  take the data from the application layer, divides the data into a several packets, provides numbering to these packets, and finally transmits these packets to the destination. </a:t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TCP, on the other side, will reassemble the packets and transmits them to the application layer. </a:t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Since, TCP is a connection-oriented protocol, so the connection will remain established until the communication is not completed between the sender and the receiver.</a:t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P" id="147" name="Google Shape;14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699" y="600178"/>
            <a:ext cx="476250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1361363" y="130543"/>
            <a:ext cx="55470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sz="2700"/>
              <a:t>TCP VS UDP</a:t>
            </a:r>
            <a:endParaRPr sz="2700"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649121" y="949550"/>
            <a:ext cx="82662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" sz="1500"/>
              <a:t>KEY DIFFERENCES:</a:t>
            </a:r>
            <a:endParaRPr/>
          </a:p>
          <a:p>
            <a:pPr indent="-16986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/>
              <a:t>TCP is a connection-oriented protocol, whereas UDP is a connectionless protocol.</a:t>
            </a:r>
            <a:endParaRPr/>
          </a:p>
          <a:p>
            <a:pPr indent="-16986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/>
              <a:t>The speed for TCP is slower while the speed of UDP is faster</a:t>
            </a:r>
            <a:endParaRPr/>
          </a:p>
          <a:p>
            <a:pPr indent="-16986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/>
              <a:t>TCP uses handshake protocol like SYN, SYN-ACK, ACK while UDP uses no handshake protocols</a:t>
            </a:r>
            <a:endParaRPr/>
          </a:p>
          <a:p>
            <a:pPr indent="-16986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/>
              <a:t>TCP does error checking and also makes error recovery, on the other hand, UDP performs error checking, but it discards erroneous packets.</a:t>
            </a:r>
            <a:endParaRPr/>
          </a:p>
          <a:p>
            <a:pPr indent="-16986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/>
              <a:t>TCP has acknowledgment segments, but UDP does not have any acknowledgment segment.</a:t>
            </a:r>
            <a:endParaRPr/>
          </a:p>
          <a:p>
            <a:pPr indent="-16986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/>
              <a:t>TCP is heavy-weight, and UDP is lightweight.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" sz="1500"/>
              <a:t>When to use UDP and TCP?</a:t>
            </a:r>
            <a:endParaRPr/>
          </a:p>
          <a:p>
            <a:pPr indent="-16986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/>
              <a:t>TCP is an ideal choice, and even it has associated overhead, Therefore, when most of the overhead is in the connection, your application stays connected for any length of time.</a:t>
            </a:r>
            <a:endParaRPr/>
          </a:p>
          <a:p>
            <a:pPr indent="-16986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/>
              <a:t>UDP is ideal to use with multimedia like VoIP.</a:t>
            </a:r>
            <a:endParaRPr/>
          </a:p>
          <a:p>
            <a:pPr indent="-16986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/>
              <a:t>Use TCP sockets when both client and server independently send packets at that time; an occasional delay is acceptable. (e.g., Online Poker).</a:t>
            </a:r>
            <a:endParaRPr/>
          </a:p>
          <a:p>
            <a:pPr indent="-16986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500"/>
              <a:t>You should use user UDP if both client and server may separately send packets, and occasional delay is also not acceptable. (e.g., Multiplayer games).</a:t>
            </a:r>
            <a:endParaRPr/>
          </a:p>
          <a:p>
            <a:pPr indent="-889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500"/>
          </a:p>
          <a:p>
            <a:pPr indent="-889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/>
          <p:nvPr/>
        </p:nvSpPr>
        <p:spPr>
          <a:xfrm>
            <a:off x="3051249" y="242770"/>
            <a:ext cx="25908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>
              <a:solidFill>
                <a:srgbClr val="610B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0"/>
          <p:cNvSpPr/>
          <p:nvPr/>
        </p:nvSpPr>
        <p:spPr>
          <a:xfrm>
            <a:off x="269401" y="1032098"/>
            <a:ext cx="88746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>
                <a:solidFill>
                  <a:srgbClr val="333333"/>
                </a:solidFill>
              </a:rPr>
              <a:t>The port number is a unique number assigned to different applications. </a:t>
            </a:r>
            <a:endParaRPr>
              <a:solidFill>
                <a:srgbClr val="333333"/>
              </a:solidFill>
            </a:endParaRPr>
          </a:p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>
                <a:solidFill>
                  <a:srgbClr val="333333"/>
                </a:solidFill>
              </a:rPr>
              <a:t>For example, we have opened the email and games applications on our computer; through email application, we want to send the mail to the host, and through games application, we want to play the online games. </a:t>
            </a:r>
            <a:endParaRPr>
              <a:solidFill>
                <a:srgbClr val="333333"/>
              </a:solidFill>
            </a:endParaRPr>
          </a:p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">
                <a:solidFill>
                  <a:srgbClr val="333333"/>
                </a:solidFill>
              </a:rPr>
              <a:t>In order to do all these tasks, different unique numbers are assigned to these applications. </a:t>
            </a:r>
            <a:endParaRPr>
              <a:solidFill>
                <a:srgbClr val="333333"/>
              </a:solidFill>
            </a:endParaRPr>
          </a:p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333333"/>
                </a:solidFill>
              </a:rPr>
              <a:t>A port number is a unique identifier used with an IP address. A port is a 16-bit unsigned integer, and the total number of ports available in the TCP/IP model is 65,535 ports. Therefore, the range of port numbers is 0 to 65535. In the case of TCP, the zero-port number is reserved and cannot be used, whereas, in UDP, the zero port is not available. IANA (Internet Assigned Numbers Authority) is a standard body that assigns the port numbers.</a:t>
            </a:r>
            <a:endParaRPr i="0">
              <a:solidFill>
                <a:srgbClr val="333333"/>
              </a:solidFill>
            </a:endParaRPr>
          </a:p>
        </p:txBody>
      </p:sp>
      <p:sp>
        <p:nvSpPr>
          <p:cNvPr id="161" name="Google Shape;161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 Number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118" y="914774"/>
            <a:ext cx="4514850" cy="253603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" name="Google Shape;167;p31"/>
          <p:cNvGraphicFramePr/>
          <p:nvPr/>
        </p:nvGraphicFramePr>
        <p:xfrm>
          <a:off x="5181458" y="1567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{1AED9077-AB31-4ED5-981F-914DA80968C7}</a:tableStyleId>
              </a:tblPr>
              <a:tblGrid>
                <a:gridCol w="704150"/>
                <a:gridCol w="2763875"/>
              </a:tblGrid>
              <a:tr h="17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 Number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Usage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7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File Transfer Protocol (FTP) Data Transfer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26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File Transfer Protocol (FTP) Command Control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7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Secure Shell (SSH)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26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Telnet - Remote login service, unencrypted text messages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26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 Mail Transfer Protocol (SMTP) E-mail Routing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7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Domain Name System (DNS) service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26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Hypertext Transfer Protocol (HTTP) used in World Wide Web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26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Office Protocol (POP3) used by e-mail clients to retrieve e-mail from a server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7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 News Transfer Protocol (NNTP)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7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 Time Protocol (NTP)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26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143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Internet Message Access Protocol (IMAP) Management of Digital Mail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26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161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 Network Management Protocol (SNMP)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7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Internet Relay Chat (IRC)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17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443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 Secure (HTTPS) HTTP over TLS/SSL</a:t>
                      </a:r>
                      <a:endParaRPr sz="1100"/>
                    </a:p>
                  </a:txBody>
                  <a:tcPr marT="37050" marB="37050" marR="37050" marL="37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628650" y="273844"/>
            <a:ext cx="78867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rPr lang="en" sz="2300"/>
              <a:t>What is Socket?</a:t>
            </a:r>
            <a:endParaRPr sz="2300"/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628650" y="1369219"/>
            <a:ext cx="7886700" cy="14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1450" lvl="0" marL="1778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A Socket is an endpoint of a two way communication link between two programs running on the network. </a:t>
            </a:r>
            <a:endParaRPr/>
          </a:p>
          <a:p>
            <a:pPr indent="-171450" lvl="0" marL="1778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The Socket is bound to a port number so that TCP Layer can identify the application that data is destined to be sent.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74" name="Google Shape;174;p32"/>
          <p:cNvSpPr/>
          <p:nvPr/>
        </p:nvSpPr>
        <p:spPr>
          <a:xfrm>
            <a:off x="1843088" y="3211116"/>
            <a:ext cx="2217900" cy="1371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 Port</a:t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2"/>
          <p:cNvSpPr/>
          <p:nvPr/>
        </p:nvSpPr>
        <p:spPr>
          <a:xfrm>
            <a:off x="6104335" y="3211116"/>
            <a:ext cx="2217900" cy="1371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 Port</a:t>
            </a:r>
            <a:endParaRPr sz="2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32"/>
          <p:cNvCxnSpPr>
            <a:stCxn id="174" idx="3"/>
            <a:endCxn id="175" idx="1"/>
          </p:cNvCxnSpPr>
          <p:nvPr/>
        </p:nvCxnSpPr>
        <p:spPr>
          <a:xfrm>
            <a:off x="4060988" y="3896916"/>
            <a:ext cx="2043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7" name="Google Shape;177;p32"/>
          <p:cNvSpPr/>
          <p:nvPr/>
        </p:nvSpPr>
        <p:spPr>
          <a:xfrm>
            <a:off x="4720901" y="3438138"/>
            <a:ext cx="94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628650" y="273844"/>
            <a:ext cx="7886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rPr lang="en" sz="2300"/>
              <a:t>Socket Programming in Java</a:t>
            </a:r>
            <a:endParaRPr sz="2300"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628650" y="1304823"/>
            <a:ext cx="7886700" cy="29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Java Socket Programming is used for communication between the application that is running on different JRE. 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It can be either connection oriented or connection less.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Socket and ServerSocket classes are used for connection-oriented socket programming. 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DatagramSocket and DatagramPacket classes are used for connection-less socket programming.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/>
              <a:t>The client in socket programming must know two information: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/>
              <a:t>IP address of Server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/>
              <a:t>Port Number.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ocket Programming in Java" id="188" name="Google Shape;18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337" y="233852"/>
            <a:ext cx="5963396" cy="468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628650" y="273844"/>
            <a:ext cx="78867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</a:pPr>
            <a:r>
              <a:rPr lang="en" sz="2300"/>
              <a:t>TCP Socket (Client and Server Side)</a:t>
            </a:r>
            <a:endParaRPr sz="2300"/>
          </a:p>
        </p:txBody>
      </p:sp>
      <p:sp>
        <p:nvSpPr>
          <p:cNvPr id="194" name="Google Shape;194;p35"/>
          <p:cNvSpPr/>
          <p:nvPr/>
        </p:nvSpPr>
        <p:spPr>
          <a:xfrm>
            <a:off x="871538" y="1602254"/>
            <a:ext cx="62295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Server: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ServerSocket ss=new ServerSocket(6666);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 s=ss.accept();</a:t>
            </a:r>
            <a:r>
              <a:rPr lang="en" sz="17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//establishes connection and waits for the client 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Client: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 s=new Socket("localhost",6666); 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137330" y="120307"/>
            <a:ext cx="4335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" sz="2700"/>
              <a:t>Socket/ServerSocket Classes</a:t>
            </a:r>
            <a:endParaRPr sz="2700"/>
          </a:p>
        </p:txBody>
      </p:sp>
      <p:graphicFrame>
        <p:nvGraphicFramePr>
          <p:cNvPr id="200" name="Google Shape;200;p36"/>
          <p:cNvGraphicFramePr/>
          <p:nvPr/>
        </p:nvGraphicFramePr>
        <p:xfrm>
          <a:off x="3013590" y="749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{1AED9077-AB31-4ED5-981F-914DA80968C7}</a:tableStyleId>
              </a:tblPr>
              <a:tblGrid>
                <a:gridCol w="3332625"/>
                <a:gridCol w="2651075"/>
              </a:tblGrid>
              <a:tr h="25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sz="1100"/>
                    </a:p>
                  </a:txBody>
                  <a:tcPr marT="85725" marB="85725" marR="85725" marL="85725">
                    <a:lnL cap="flat" cmpd="sng" w="9525">
                      <a:solidFill>
                        <a:srgbClr val="E003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03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03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100"/>
                    </a:p>
                  </a:txBody>
                  <a:tcPr marT="85725" marB="85725" marR="85725" marL="85725">
                    <a:lnL cap="flat" cmpd="sng" w="9525">
                      <a:solidFill>
                        <a:srgbClr val="E003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03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03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CBE"/>
                    </a:solidFill>
                  </a:tcPr>
                </a:tc>
              </a:tr>
              <a:tr h="36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1) public InputStream getInputStream()</a:t>
                      </a:r>
                      <a:endParaRPr sz="1100"/>
                    </a:p>
                  </a:txBody>
                  <a:tcPr marT="57150" marB="57150" marR="57150" marL="57150">
                    <a:lnL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returns the InputStream attached with this socket.</a:t>
                      </a:r>
                      <a:endParaRPr sz="1100"/>
                    </a:p>
                  </a:txBody>
                  <a:tcPr marT="57150" marB="57150" marR="57150" marL="57150">
                    <a:lnL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2) public OutputStream getOutputStream()</a:t>
                      </a:r>
                      <a:endParaRPr sz="1100"/>
                    </a:p>
                  </a:txBody>
                  <a:tcPr marT="57150" marB="57150" marR="57150" marL="57150">
                    <a:lnL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returns the OutputStream attached with this socket.</a:t>
                      </a:r>
                      <a:endParaRPr sz="1100"/>
                    </a:p>
                  </a:txBody>
                  <a:tcPr marT="57150" marB="57150" marR="57150" marL="57150">
                    <a:lnL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1EB"/>
                    </a:solidFill>
                  </a:tcPr>
                </a:tc>
              </a:tr>
              <a:tr h="36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3) public synchronized void close()</a:t>
                      </a:r>
                      <a:endParaRPr sz="1100"/>
                    </a:p>
                  </a:txBody>
                  <a:tcPr marT="57150" marB="57150" marR="57150" marL="57150">
                    <a:lnL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closes this socket</a:t>
                      </a:r>
                      <a:endParaRPr sz="1100"/>
                    </a:p>
                  </a:txBody>
                  <a:tcPr marT="57150" marB="57150" marR="57150" marL="57150">
                    <a:lnL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36"/>
          <p:cNvSpPr/>
          <p:nvPr/>
        </p:nvSpPr>
        <p:spPr>
          <a:xfrm>
            <a:off x="137330" y="972156"/>
            <a:ext cx="2657100" cy="138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0B38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10B38"/>
                </a:solidFill>
                <a:latin typeface="Arial"/>
                <a:ea typeface="Arial"/>
                <a:cs typeface="Arial"/>
                <a:sym typeface="Arial"/>
              </a:rPr>
              <a:t>Socket class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10B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Verdana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socket is simply an endpoint for communications between the machines. The Socket class can be used to create a socket.</a:t>
            </a:r>
            <a:endParaRPr b="0" i="0" sz="1100" u="none" cap="none" strike="noStrike">
              <a:solidFill>
                <a:srgbClr val="610B4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6"/>
          <p:cNvSpPr/>
          <p:nvPr/>
        </p:nvSpPr>
        <p:spPr>
          <a:xfrm>
            <a:off x="19192" y="2899549"/>
            <a:ext cx="29289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10B38"/>
                </a:solidFill>
                <a:latin typeface="Arial"/>
                <a:ea typeface="Arial"/>
                <a:cs typeface="Arial"/>
                <a:sym typeface="Arial"/>
              </a:rPr>
              <a:t>ServerSocket class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610B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ServerSocket class can be used to create a server socket. This object is used to establish communication with the clients.</a:t>
            </a:r>
            <a:endParaRPr b="0" i="0" sz="11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03" name="Google Shape;203;p36"/>
          <p:cNvGraphicFramePr/>
          <p:nvPr/>
        </p:nvGraphicFramePr>
        <p:xfrm>
          <a:off x="3114835" y="28995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{1AED9077-AB31-4ED5-981F-914DA80968C7}</a:tableStyleId>
              </a:tblPr>
              <a:tblGrid>
                <a:gridCol w="2951450"/>
                <a:gridCol w="2951450"/>
              </a:tblGrid>
              <a:tr h="19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sz="1100"/>
                    </a:p>
                  </a:txBody>
                  <a:tcPr marT="85725" marB="85725" marR="85725" marL="85725">
                    <a:lnL cap="flat" cmpd="sng" w="9525">
                      <a:solidFill>
                        <a:srgbClr val="10D9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0D9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0D9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100"/>
                    </a:p>
                  </a:txBody>
                  <a:tcPr marT="85725" marB="85725" marR="85725" marL="85725">
                    <a:lnL cap="flat" cmpd="sng" w="9525">
                      <a:solidFill>
                        <a:srgbClr val="10D9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0D9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0D9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CCBE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1) public Socket accept()</a:t>
                      </a:r>
                      <a:endParaRPr sz="1100"/>
                    </a:p>
                  </a:txBody>
                  <a:tcPr marT="57150" marB="57150" marR="57150" marL="57150">
                    <a:lnL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returns the socket and establish a connection between server and client.</a:t>
                      </a:r>
                      <a:endParaRPr sz="1100"/>
                    </a:p>
                  </a:txBody>
                  <a:tcPr marT="57150" marB="57150" marR="57150" marL="57150">
                    <a:lnL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2) public synchronized void close()</a:t>
                      </a:r>
                      <a:endParaRPr sz="1100"/>
                    </a:p>
                  </a:txBody>
                  <a:tcPr marT="57150" marB="57150" marR="57150" marL="57150">
                    <a:lnL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closes the server socket.</a:t>
                      </a:r>
                      <a:endParaRPr sz="1100"/>
                    </a:p>
                  </a:txBody>
                  <a:tcPr marT="57150" marB="57150" marR="57150" marL="57150">
                    <a:lnL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C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1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/>
          <p:nvPr/>
        </p:nvSpPr>
        <p:spPr>
          <a:xfrm>
            <a:off x="535195" y="882565"/>
            <a:ext cx="8370000" cy="3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java.io.*;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java.net.*;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MyServer {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public static void main(String[] args){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try{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ServerSocket ss=new ServerSocket(6666);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Socket s=ss.accept();</a:t>
            </a:r>
            <a:r>
              <a:rPr lang="en" sz="17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//establishes connection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DataInputStream dis=new DataInputStream(s.getInputStream());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String  str=(String)dis.readUTF();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System.out.println("message= "+str);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ss.close();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}catch(Exception e){System.out.println(e);}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}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7"/>
          <p:cNvSpPr/>
          <p:nvPr/>
        </p:nvSpPr>
        <p:spPr>
          <a:xfrm>
            <a:off x="903671" y="140100"/>
            <a:ext cx="243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MyServer.java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/>
          <p:nvPr/>
        </p:nvSpPr>
        <p:spPr>
          <a:xfrm>
            <a:off x="767878" y="887447"/>
            <a:ext cx="9161100" cy="3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java.io.*;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java.net.*;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MyClient {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public static void main(String[] args) {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try{    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Socket s=new Socket("localhost",6666);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DataOutputStream dout=new DataOutputStream(s.getOutputStream());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dout.writeUTF("Hello Server");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dout.flush();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dout.close();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s.close();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 catch(Exception e){System.out.println(e);}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}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8"/>
          <p:cNvSpPr/>
          <p:nvPr/>
        </p:nvSpPr>
        <p:spPr>
          <a:xfrm>
            <a:off x="903662" y="268700"/>
            <a:ext cx="423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MyClient.java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UDP Socket</a:t>
            </a:r>
            <a:endParaRPr/>
          </a:p>
        </p:txBody>
      </p:sp>
      <p:sp>
        <p:nvSpPr>
          <p:cNvPr id="221" name="Google Shape;221;p3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/>
          <p:nvPr>
            <p:ph idx="1" type="body"/>
          </p:nvPr>
        </p:nvSpPr>
        <p:spPr>
          <a:xfrm>
            <a:off x="628650" y="540102"/>
            <a:ext cx="7886700" cy="409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UdpServer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500">
                <a:solidFill>
                  <a:srgbClr val="00627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try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DatagramSocket ds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DatagramSocket(</a:t>
            </a:r>
            <a:r>
              <a:rPr lang="en" sz="15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3000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byte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buf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 byte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5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1024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DatagramPacket dp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DatagramPacket(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5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1024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ds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.receive(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dp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 str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String(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dp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.getData(), </a:t>
            </a:r>
            <a:r>
              <a:rPr lang="en" sz="15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dp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.getLength());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1500">
                <a:solidFill>
                  <a:srgbClr val="87109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ds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.close();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 </a:t>
            </a: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catch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Exception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e) {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1500">
                <a:solidFill>
                  <a:srgbClr val="87109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lang="en" sz="15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"Error"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UdpClient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500">
                <a:solidFill>
                  <a:srgbClr val="00627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try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DatagramSocket ds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DatagramSocket();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 str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5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"Welcome java"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InetAddress ip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InetAddress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getByName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"127.0.0.1"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DatagramPacket dp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DatagramPacket(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.getBytes(),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.length(),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ip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500">
                <a:solidFill>
                  <a:srgbClr val="1750E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3000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ds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.send(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dp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ds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.close();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 </a:t>
            </a:r>
            <a:r>
              <a:rPr lang="en" sz="15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catch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Exception 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e) {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" sz="1500">
                <a:solidFill>
                  <a:srgbClr val="87109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lang="en" sz="1500">
                <a:solidFill>
                  <a:srgbClr val="067D1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"Error"</a:t>
            </a: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