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5143500" cx="9144000"/>
  <p:notesSz cx="6858000" cy="9144000"/>
  <p:embeddedFontLst>
    <p:embeddedFont>
      <p:font typeface="Robot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schemas.openxmlformats.org/officeDocument/2006/relationships/font" Target="fonts/Roboto-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1fecf95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1fecf95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1fecf9544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1fecf9544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1fecf954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1fecf95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1fecf954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1fecf954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61fecf954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61fecf954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1fecf954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61fecf954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1fecf954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1fecf954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1fecf954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1fecf954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1fecf954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61fecf954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61fecf954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61fecf954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1fecf954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61fecf954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61fecf954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61fecf954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61fecf954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61fecf954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61fecf954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61fecf954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61fecf954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61fecf954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1fecf954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1fecf954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1fecf954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1fecf954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1fecf954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1fecf954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1fecf954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1fecf954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1fecf954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1fecf954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61fecf954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61fecf954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1fecf954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61fecf954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61fecf954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61fecf954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61fecf9544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61fecf9544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61fecf9544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61fecf9544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61fecf954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61fecf954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61fecf9544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61fecf9544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61fecf954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61fecf954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61fecf9544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61fecf9544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61fecf954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61fecf9544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61fecf954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61fecf954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1fecf954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61fecf954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2a8808d5c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2a8808d5c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a8808d5c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a8808d5c9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a8808d5c9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a8808d5c9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a8808d5c9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a8808d5c9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a8808d5c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a8808d5c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61fecf9544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61fecf9544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61fecf9544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61fecf954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1fecf9544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61fecf9544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1fecf954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1fecf954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89240bb310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89240bb310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89240bb31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89240bb31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89240bb310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89240bb310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89240bb310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89240bb310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89240bb310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289240bb310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89240bb310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89240bb310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9240bb310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89240bb310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89240bb310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89240bb310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89240bb310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89240bb310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89240bb310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89240bb310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89240bb310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89240bb310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89240bb31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89240bb31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89240bb31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89240bb31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89240bb310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89240bb310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89240bb310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89240bb310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89240bb310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89240bb31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89240bb310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89240bb310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89240bb310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89240bb310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89240bb310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89240bb310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89240bb31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89240bb31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89240bb310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89240bb310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289240bb31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289240bb31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Chapter 7</a:t>
            </a:r>
            <a:endParaRPr/>
          </a:p>
          <a:p>
            <a:pPr indent="0" lvl="0" marL="0" rtl="0" algn="ctr">
              <a:spcBef>
                <a:spcPts val="0"/>
              </a:spcBef>
              <a:spcAft>
                <a:spcPts val="0"/>
              </a:spcAft>
              <a:buNone/>
            </a:pPr>
            <a:r>
              <a:rPr lang="en"/>
              <a:t>Servlet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0" y="235550"/>
            <a:ext cx="8520600" cy="612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61" name="Google Shape;61;p14"/>
          <p:cNvSpPr txBox="1"/>
          <p:nvPr>
            <p:ph idx="1" type="subTitle"/>
          </p:nvPr>
        </p:nvSpPr>
        <p:spPr>
          <a:xfrm>
            <a:off x="311700" y="1092150"/>
            <a:ext cx="8520600" cy="35013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sz="1800"/>
              <a:t>The way the web applications work is</a:t>
            </a:r>
            <a:endParaRPr sz="1800"/>
          </a:p>
          <a:p>
            <a:pPr indent="-317500" lvl="1" marL="914400" rtl="0" algn="l">
              <a:lnSpc>
                <a:spcPct val="115000"/>
              </a:lnSpc>
              <a:spcBef>
                <a:spcPts val="0"/>
              </a:spcBef>
              <a:spcAft>
                <a:spcPts val="0"/>
              </a:spcAft>
              <a:buSzPts val="1400"/>
              <a:buChar char="○"/>
            </a:pPr>
            <a:r>
              <a:rPr lang="en" sz="1400"/>
              <a:t>Web client like Chrome sends a request using HTTP protocol. </a:t>
            </a:r>
            <a:endParaRPr sz="1400"/>
          </a:p>
          <a:p>
            <a:pPr indent="-317500" lvl="1" marL="914400" rtl="0" algn="l">
              <a:lnSpc>
                <a:spcPct val="115000"/>
              </a:lnSpc>
              <a:spcBef>
                <a:spcPts val="0"/>
              </a:spcBef>
              <a:spcAft>
                <a:spcPts val="0"/>
              </a:spcAft>
              <a:buSzPts val="1400"/>
              <a:buChar char="○"/>
            </a:pPr>
            <a:r>
              <a:rPr lang="en" sz="1400"/>
              <a:t>The server side program takes the HTTP request, processes it and sends a HTTP response back to the web client. </a:t>
            </a:r>
            <a:endParaRPr sz="1400"/>
          </a:p>
          <a:p>
            <a:pPr indent="-317500" lvl="1" marL="914400" rtl="0" algn="l">
              <a:lnSpc>
                <a:spcPct val="115000"/>
              </a:lnSpc>
              <a:spcBef>
                <a:spcPts val="0"/>
              </a:spcBef>
              <a:spcAft>
                <a:spcPts val="0"/>
              </a:spcAft>
              <a:buSzPts val="1400"/>
              <a:buChar char="○"/>
            </a:pPr>
            <a:r>
              <a:rPr lang="en" sz="1400"/>
              <a:t>The response includes body content in HTML format. </a:t>
            </a:r>
            <a:endParaRPr sz="1400"/>
          </a:p>
          <a:p>
            <a:pPr indent="-317500" lvl="1" marL="914400" rtl="0" algn="l">
              <a:lnSpc>
                <a:spcPct val="115000"/>
              </a:lnSpc>
              <a:spcBef>
                <a:spcPts val="0"/>
              </a:spcBef>
              <a:spcAft>
                <a:spcPts val="0"/>
              </a:spcAft>
              <a:buSzPts val="1400"/>
              <a:buChar char="○"/>
            </a:pPr>
            <a:r>
              <a:rPr lang="en" sz="1400"/>
              <a:t>Web client then reads the HTTP response, formats the HTML and displays it to the user. </a:t>
            </a:r>
            <a:endParaRPr sz="1400"/>
          </a:p>
          <a:p>
            <a:pPr indent="-342900" lvl="0" marL="457200" rtl="0" algn="l">
              <a:lnSpc>
                <a:spcPct val="115000"/>
              </a:lnSpc>
              <a:spcBef>
                <a:spcPts val="0"/>
              </a:spcBef>
              <a:spcAft>
                <a:spcPts val="0"/>
              </a:spcAft>
              <a:buSzPts val="1800"/>
              <a:buChar char="●"/>
            </a:pPr>
            <a:r>
              <a:rPr lang="en" sz="1800"/>
              <a:t>Since HTTP plays an important role in web applications, let’s first know some basics about it and then look at the server side details. </a:t>
            </a:r>
            <a:endParaRPr sz="1800"/>
          </a:p>
          <a:p>
            <a:pPr indent="0" lvl="0" marL="0" rtl="0" algn="ctr">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HTTP</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HTTP stands for Hypertext Transfer Protocol. </a:t>
            </a:r>
            <a:endParaRPr/>
          </a:p>
          <a:p>
            <a:pPr indent="-342900" lvl="0" marL="457200" rtl="0" algn="l">
              <a:spcBef>
                <a:spcPts val="0"/>
              </a:spcBef>
              <a:spcAft>
                <a:spcPts val="0"/>
              </a:spcAft>
              <a:buSzPts val="1800"/>
              <a:buChar char="●"/>
            </a:pPr>
            <a:r>
              <a:rPr lang="en"/>
              <a:t>Following are some of the important properties of HTTP:  </a:t>
            </a:r>
            <a:endParaRPr/>
          </a:p>
          <a:p>
            <a:pPr indent="-317500" lvl="1" marL="914400" rtl="0" algn="l">
              <a:spcBef>
                <a:spcPts val="0"/>
              </a:spcBef>
              <a:spcAft>
                <a:spcPts val="0"/>
              </a:spcAft>
              <a:buSzPts val="1400"/>
              <a:buChar char="○"/>
            </a:pPr>
            <a:r>
              <a:rPr lang="en"/>
              <a:t>It is a stateless protocol, meaning that every HTTP request is independent of each other.  </a:t>
            </a:r>
            <a:endParaRPr/>
          </a:p>
          <a:p>
            <a:pPr indent="-317500" lvl="1" marL="914400" rtl="0" algn="l">
              <a:spcBef>
                <a:spcPts val="0"/>
              </a:spcBef>
              <a:spcAft>
                <a:spcPts val="0"/>
              </a:spcAft>
              <a:buSzPts val="1400"/>
              <a:buChar char="○"/>
            </a:pPr>
            <a:r>
              <a:rPr lang="en"/>
              <a:t>It can send data in the request. The server side program reads the data, processes it and sends the response back. This is the most important feature of HTTP, the ability to send data to server side program.  </a:t>
            </a:r>
            <a:endParaRPr/>
          </a:p>
          <a:p>
            <a:pPr indent="-342900" lvl="0" marL="457200" rtl="0" algn="l">
              <a:spcBef>
                <a:spcPts val="0"/>
              </a:spcBef>
              <a:spcAft>
                <a:spcPts val="0"/>
              </a:spcAft>
              <a:buSzPts val="1800"/>
              <a:buChar char="●"/>
            </a:pPr>
            <a:r>
              <a:rPr lang="en"/>
              <a:t>Based on how the data is sent in the request, HTTP requests are categorized into several types, but the most important and widely used are the GET requests and POST requests.  </a:t>
            </a:r>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46975" y="78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Difference of Get and Post request</a:t>
            </a:r>
            <a:endParaRPr/>
          </a:p>
        </p:txBody>
      </p:sp>
      <p:pic>
        <p:nvPicPr>
          <p:cNvPr id="73" name="Google Shape;73;p16"/>
          <p:cNvPicPr preferRelativeResize="0"/>
          <p:nvPr/>
        </p:nvPicPr>
        <p:blipFill>
          <a:blip r:embed="rId3">
            <a:alphaModFix/>
          </a:blip>
          <a:stretch>
            <a:fillRect/>
          </a:stretch>
        </p:blipFill>
        <p:spPr>
          <a:xfrm>
            <a:off x="1154300" y="803225"/>
            <a:ext cx="6345775" cy="4058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Server Side of the Web Application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server- side is the heart of any web application as it comprises of the following:  </a:t>
            </a:r>
            <a:endParaRPr/>
          </a:p>
          <a:p>
            <a:pPr indent="-317500" lvl="1" marL="914400" rtl="0" algn="l">
              <a:spcBef>
                <a:spcPts val="0"/>
              </a:spcBef>
              <a:spcAft>
                <a:spcPts val="0"/>
              </a:spcAft>
              <a:buSzPts val="1400"/>
              <a:buChar char="○"/>
            </a:pPr>
            <a:r>
              <a:rPr lang="en"/>
              <a:t>Static resources like HTML files, XML files, Images etc </a:t>
            </a:r>
            <a:endParaRPr/>
          </a:p>
          <a:p>
            <a:pPr indent="-317500" lvl="1" marL="914400" rtl="0" algn="l">
              <a:spcBef>
                <a:spcPts val="0"/>
              </a:spcBef>
              <a:spcAft>
                <a:spcPts val="0"/>
              </a:spcAft>
              <a:buSzPts val="1400"/>
              <a:buChar char="○"/>
            </a:pPr>
            <a:r>
              <a:rPr lang="en"/>
              <a:t>Server programs for processing the HTTP requests </a:t>
            </a:r>
            <a:endParaRPr/>
          </a:p>
          <a:p>
            <a:pPr indent="-317500" lvl="1" marL="914400" rtl="0" algn="l">
              <a:spcBef>
                <a:spcPts val="0"/>
              </a:spcBef>
              <a:spcAft>
                <a:spcPts val="0"/>
              </a:spcAft>
              <a:buSzPts val="1400"/>
              <a:buChar char="○"/>
            </a:pPr>
            <a:r>
              <a:rPr lang="en"/>
              <a:t>A runtime that executes the server side programs </a:t>
            </a:r>
            <a:endParaRPr/>
          </a:p>
          <a:p>
            <a:pPr indent="-317500" lvl="1" marL="914400" rtl="0" algn="l">
              <a:spcBef>
                <a:spcPts val="0"/>
              </a:spcBef>
              <a:spcAft>
                <a:spcPts val="0"/>
              </a:spcAft>
              <a:buSzPts val="1400"/>
              <a:buChar char="○"/>
            </a:pPr>
            <a:r>
              <a:rPr lang="en"/>
              <a:t>A deployment tool for deploying the programs in the server  </a:t>
            </a:r>
            <a:endParaRPr/>
          </a:p>
          <a:p>
            <a:pPr indent="-342900" lvl="0" marL="457200" rtl="0" algn="l">
              <a:spcBef>
                <a:spcPts val="0"/>
              </a:spcBef>
              <a:spcAft>
                <a:spcPts val="0"/>
              </a:spcAft>
              <a:buSzPts val="1800"/>
              <a:buChar char="●"/>
            </a:pPr>
            <a:r>
              <a:rPr lang="en"/>
              <a:t>In order to meet the above requirements, J2EE offers the following:  </a:t>
            </a:r>
            <a:endParaRPr/>
          </a:p>
          <a:p>
            <a:pPr indent="-317500" lvl="1" marL="914400" rtl="0" algn="l">
              <a:spcBef>
                <a:spcPts val="0"/>
              </a:spcBef>
              <a:spcAft>
                <a:spcPts val="0"/>
              </a:spcAft>
              <a:buSzPts val="1400"/>
              <a:buChar char="○"/>
            </a:pPr>
            <a:r>
              <a:rPr lang="en"/>
              <a:t>Servlet and JSP technology to build server side programs </a:t>
            </a:r>
            <a:endParaRPr/>
          </a:p>
          <a:p>
            <a:pPr indent="-317500" lvl="1" marL="914400" rtl="0" algn="l">
              <a:spcBef>
                <a:spcPts val="0"/>
              </a:spcBef>
              <a:spcAft>
                <a:spcPts val="0"/>
              </a:spcAft>
              <a:buSzPts val="1400"/>
              <a:buChar char="○"/>
            </a:pPr>
            <a:r>
              <a:rPr lang="en"/>
              <a:t>Web Container for hosting the server side programs. </a:t>
            </a:r>
            <a:endParaRPr/>
          </a:p>
          <a:p>
            <a:pPr indent="-317500" lvl="1" marL="914400" rtl="0" algn="l">
              <a:spcBef>
                <a:spcPts val="0"/>
              </a:spcBef>
              <a:spcAft>
                <a:spcPts val="0"/>
              </a:spcAft>
              <a:buSzPts val="1400"/>
              <a:buChar char="○"/>
            </a:pPr>
            <a:r>
              <a:rPr lang="en"/>
              <a:t>Deployment descriptor which is an XML file used to configure the web application.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 Container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Web container is the heart of Java based web application which is a sophisticated program that hosts the server side programs like Servlets. </a:t>
            </a:r>
            <a:endParaRPr/>
          </a:p>
          <a:p>
            <a:pPr indent="-342900" lvl="0" marL="457200" rtl="0" algn="l">
              <a:spcBef>
                <a:spcPts val="0"/>
              </a:spcBef>
              <a:spcAft>
                <a:spcPts val="0"/>
              </a:spcAft>
              <a:buSzPts val="1800"/>
              <a:buChar char="●"/>
            </a:pPr>
            <a:r>
              <a:rPr lang="en"/>
              <a:t>Once the Servlet programs are deployed in this container, the container is ready to receive HTTP requests and delegate them to the programs that run inside the container. </a:t>
            </a:r>
            <a:endParaRPr/>
          </a:p>
          <a:p>
            <a:pPr indent="-342900" lvl="0" marL="457200" rtl="0" algn="l">
              <a:spcBef>
                <a:spcPts val="0"/>
              </a:spcBef>
              <a:spcAft>
                <a:spcPts val="0"/>
              </a:spcAft>
              <a:buSzPts val="1800"/>
              <a:buChar char="●"/>
            </a:pPr>
            <a:r>
              <a:rPr lang="en"/>
              <a:t>These programs then process the requests and generate the responses. </a:t>
            </a:r>
            <a:endParaRPr/>
          </a:p>
          <a:p>
            <a:pPr indent="-342900" lvl="0" marL="457200" rtl="0" algn="l">
              <a:spcBef>
                <a:spcPts val="0"/>
              </a:spcBef>
              <a:spcAft>
                <a:spcPts val="0"/>
              </a:spcAft>
              <a:buSzPts val="1800"/>
              <a:buChar char="●"/>
            </a:pPr>
            <a:r>
              <a:rPr lang="en"/>
              <a:t>Also a single web container can host several web applications. </a:t>
            </a:r>
            <a:endParaRPr/>
          </a:p>
          <a:p>
            <a:pPr indent="-342900" lvl="0" marL="457200" rtl="0" algn="l">
              <a:spcBef>
                <a:spcPts val="0"/>
              </a:spcBef>
              <a:spcAft>
                <a:spcPts val="0"/>
              </a:spcAft>
              <a:buSzPts val="1800"/>
              <a:buChar char="●"/>
            </a:pPr>
            <a:r>
              <a:rPr lang="en"/>
              <a:t>Look at the following figure that shows how a typical web container looks like: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9"/>
          <p:cNvPicPr preferRelativeResize="0"/>
          <p:nvPr/>
        </p:nvPicPr>
        <p:blipFill>
          <a:blip r:embed="rId3">
            <a:alphaModFix/>
          </a:blip>
          <a:stretch>
            <a:fillRect/>
          </a:stretch>
        </p:blipFill>
        <p:spPr>
          <a:xfrm>
            <a:off x="1478825" y="590975"/>
            <a:ext cx="4645400" cy="3961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are several J2EE Web Containers available in the market. </a:t>
            </a:r>
            <a:endParaRPr/>
          </a:p>
          <a:p>
            <a:pPr indent="-342900" lvl="0" marL="457200" rtl="0" algn="l">
              <a:spcBef>
                <a:spcPts val="0"/>
              </a:spcBef>
              <a:spcAft>
                <a:spcPts val="0"/>
              </a:spcAft>
              <a:buSzPts val="1800"/>
              <a:buChar char="●"/>
            </a:pPr>
            <a:r>
              <a:rPr lang="en"/>
              <a:t>One of the most notable one is the Apache’s Tomcat container which is available for free of cost. </a:t>
            </a:r>
            <a:endParaRPr/>
          </a:p>
          <a:p>
            <a:pPr indent="-342900" lvl="0" marL="457200" rtl="0" algn="l">
              <a:spcBef>
                <a:spcPts val="0"/>
              </a:spcBef>
              <a:spcAft>
                <a:spcPts val="0"/>
              </a:spcAft>
              <a:buSzPts val="1800"/>
              <a:buChar char="●"/>
            </a:pPr>
            <a:r>
              <a:rPr lang="en"/>
              <a:t>Having just the web container is not sufficient. We need to have a programming model to build server side programs that run within this container.  </a:t>
            </a:r>
            <a:endParaRPr/>
          </a:p>
          <a:p>
            <a:pPr indent="-342900" lvl="0" marL="457200" rtl="0" algn="l">
              <a:spcBef>
                <a:spcPts val="0"/>
              </a:spcBef>
              <a:spcAft>
                <a:spcPts val="0"/>
              </a:spcAft>
              <a:buSzPts val="1800"/>
              <a:buChar char="●"/>
            </a:pPr>
            <a:r>
              <a:rPr lang="en"/>
              <a:t>J2EE supports two key technologies to build server side components in Java. These are Servlet and JSP technologies.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Structure of a Web Application  </a:t>
            </a:r>
            <a:endParaRPr/>
          </a:p>
        </p:txBody>
      </p:sp>
      <p:pic>
        <p:nvPicPr>
          <p:cNvPr id="101" name="Google Shape;101;p21"/>
          <p:cNvPicPr preferRelativeResize="0"/>
          <p:nvPr/>
        </p:nvPicPr>
        <p:blipFill>
          <a:blip r:embed="rId3">
            <a:alphaModFix/>
          </a:blip>
          <a:stretch>
            <a:fillRect/>
          </a:stretch>
        </p:blipFill>
        <p:spPr>
          <a:xfrm>
            <a:off x="1050150" y="1017725"/>
            <a:ext cx="5026376" cy="3857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All the static resources namely html files, image files can be stored directly under myweb directory. </a:t>
            </a:r>
            <a:endParaRPr/>
          </a:p>
          <a:p>
            <a:pPr indent="-342900" lvl="0" marL="457200" rtl="0" algn="l">
              <a:spcBef>
                <a:spcPts val="0"/>
              </a:spcBef>
              <a:spcAft>
                <a:spcPts val="0"/>
              </a:spcAft>
              <a:buSzPts val="1800"/>
              <a:buChar char="●"/>
            </a:pPr>
            <a:r>
              <a:rPr lang="en"/>
              <a:t>Creating this directory structure is one of the steps in the environment configuration section at the beginning of the chapter.   </a:t>
            </a:r>
            <a:endParaRPr/>
          </a:p>
          <a:p>
            <a:pPr indent="-342900" lvl="0" marL="457200" rtl="0" algn="l">
              <a:spcBef>
                <a:spcPts val="0"/>
              </a:spcBef>
              <a:spcAft>
                <a:spcPts val="0"/>
              </a:spcAft>
              <a:buSzPts val="1800"/>
              <a:buChar char="●"/>
            </a:pPr>
            <a:r>
              <a:rPr lang="en"/>
              <a:t>With the above directory structure, all the components within myweb application should be accessed with the URL starting with:  </a:t>
            </a:r>
            <a:endParaRPr/>
          </a:p>
          <a:p>
            <a:pPr indent="-342900" lvl="0" marL="457200" rtl="0" algn="l">
              <a:spcBef>
                <a:spcPts val="0"/>
              </a:spcBef>
              <a:spcAft>
                <a:spcPts val="0"/>
              </a:spcAft>
              <a:buSzPts val="1800"/>
              <a:buChar char="●"/>
            </a:pPr>
            <a:r>
              <a:rPr lang="en"/>
              <a:t>http://localhost:8080/myweb/ </a:t>
            </a:r>
            <a:endParaRPr/>
          </a:p>
          <a:p>
            <a:pPr indent="-342900" lvl="0" marL="457200" rtl="0" algn="l">
              <a:spcBef>
                <a:spcPts val="0"/>
              </a:spcBef>
              <a:spcAft>
                <a:spcPts val="0"/>
              </a:spcAft>
              <a:buSzPts val="1800"/>
              <a:buChar char="●"/>
            </a:pPr>
            <a:r>
              <a:rPr lang="en"/>
              <a:t>If you want to create another web application like mywebproject, you must again create the same directory structure with mywebproject as the root directory and should access the components using the URL starting with:  </a:t>
            </a:r>
            <a:endParaRPr/>
          </a:p>
          <a:p>
            <a:pPr indent="-342900" lvl="0" marL="457200" rtl="0" algn="l">
              <a:spcBef>
                <a:spcPts val="0"/>
              </a:spcBef>
              <a:spcAft>
                <a:spcPts val="0"/>
              </a:spcAft>
              <a:buSzPts val="1800"/>
              <a:buChar char="●"/>
            </a:pPr>
            <a:r>
              <a:rPr lang="en"/>
              <a:t>http://localhost:8080/mywebproject/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Servlet Technology  </a:t>
            </a:r>
            <a:endParaRPr/>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Servlet technology is a standard J2EE technology used for building dynamic web applications in Java. </a:t>
            </a:r>
            <a:endParaRPr/>
          </a:p>
          <a:p>
            <a:pPr indent="-342900" lvl="0" marL="457200" rtl="0" algn="l">
              <a:spcBef>
                <a:spcPts val="0"/>
              </a:spcBef>
              <a:spcAft>
                <a:spcPts val="0"/>
              </a:spcAft>
              <a:buSzPts val="1800"/>
              <a:buChar char="●"/>
            </a:pPr>
            <a:r>
              <a:rPr lang="en"/>
              <a:t>Using Servlet technology is again nothing but using the standard classes and interfaces that it comes with. </a:t>
            </a:r>
            <a:endParaRPr/>
          </a:p>
          <a:p>
            <a:pPr indent="-342900" lvl="0" marL="457200" rtl="0" algn="l">
              <a:spcBef>
                <a:spcPts val="0"/>
              </a:spcBef>
              <a:spcAft>
                <a:spcPts val="0"/>
              </a:spcAft>
              <a:buSzPts val="1800"/>
              <a:buChar char="●"/>
            </a:pPr>
            <a:r>
              <a:rPr lang="en"/>
              <a:t>These classes and interfaces form what we call as Servlet API. </a:t>
            </a:r>
            <a:endParaRPr/>
          </a:p>
          <a:p>
            <a:pPr indent="0" lvl="0" marL="0" rtl="0" algn="l">
              <a:spcBef>
                <a:spcPts val="1200"/>
              </a:spcBef>
              <a:spcAft>
                <a:spcPts val="0"/>
              </a:spcAft>
              <a:buClr>
                <a:schemeClr val="dk1"/>
              </a:buClr>
              <a:buSzPts val="1100"/>
              <a:buFont typeface="Arial"/>
              <a:buNone/>
            </a:pPr>
            <a:r>
              <a:rPr b="1" lang="en"/>
              <a:t>Definition of Servlet </a:t>
            </a:r>
            <a:r>
              <a:rPr lang="en"/>
              <a:t> </a:t>
            </a:r>
            <a:endParaRPr/>
          </a:p>
          <a:p>
            <a:pPr indent="-342900" lvl="0" marL="457200" rtl="0" algn="l">
              <a:spcBef>
                <a:spcPts val="1200"/>
              </a:spcBef>
              <a:spcAft>
                <a:spcPts val="0"/>
              </a:spcAft>
              <a:buSzPts val="1800"/>
              <a:buChar char="●"/>
            </a:pPr>
            <a:r>
              <a:rPr lang="en"/>
              <a:t>A Servlet is a server side Java program that processes HTTP requests and generates HTTP response.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Servlet API  </a:t>
            </a:r>
            <a:endParaRPr/>
          </a:p>
        </p:txBody>
      </p:sp>
      <p:sp>
        <p:nvSpPr>
          <p:cNvPr id="119" name="Google Shape;119;p24"/>
          <p:cNvSpPr txBox="1"/>
          <p:nvPr>
            <p:ph idx="1" type="body"/>
          </p:nvPr>
        </p:nvSpPr>
        <p:spPr>
          <a:xfrm>
            <a:off x="311700" y="1152475"/>
            <a:ext cx="8520600" cy="900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Though there are several classes and interfaces in this API. Some of the most important are shown in table :</a:t>
            </a:r>
            <a:endParaRPr/>
          </a:p>
        </p:txBody>
      </p:sp>
      <p:pic>
        <p:nvPicPr>
          <p:cNvPr id="120" name="Google Shape;120;p24"/>
          <p:cNvPicPr preferRelativeResize="0"/>
          <p:nvPr/>
        </p:nvPicPr>
        <p:blipFill>
          <a:blip r:embed="rId3">
            <a:alphaModFix/>
          </a:blip>
          <a:stretch>
            <a:fillRect/>
          </a:stretch>
        </p:blipFill>
        <p:spPr>
          <a:xfrm>
            <a:off x="639250" y="1916200"/>
            <a:ext cx="6800202" cy="2785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Deployment Descriptor  </a:t>
            </a:r>
            <a:endParaRPr/>
          </a:p>
        </p:txBody>
      </p:sp>
      <p:sp>
        <p:nvSpPr>
          <p:cNvPr id="126" name="Google Shape;12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A deployment descriptor is a standard XML file named web.xml that is used by the web container to run the web applications. </a:t>
            </a:r>
            <a:endParaRPr/>
          </a:p>
          <a:p>
            <a:pPr indent="-308610" lvl="0" marL="457200" rtl="0" algn="l">
              <a:spcBef>
                <a:spcPts val="0"/>
              </a:spcBef>
              <a:spcAft>
                <a:spcPts val="0"/>
              </a:spcAft>
              <a:buSzPct val="100000"/>
              <a:buChar char="●"/>
            </a:pPr>
            <a:r>
              <a:rPr lang="en"/>
              <a:t>Every web application will have one and only one deployment descriptor (web.xml file). This file defines the following important information pertaining to a Servlet:  </a:t>
            </a:r>
            <a:endParaRPr/>
          </a:p>
          <a:p>
            <a:pPr indent="-290830" lvl="1" marL="914400" rtl="0" algn="l">
              <a:spcBef>
                <a:spcPts val="0"/>
              </a:spcBef>
              <a:spcAft>
                <a:spcPts val="0"/>
              </a:spcAft>
              <a:buSzPct val="100000"/>
              <a:buChar char="○"/>
            </a:pPr>
            <a:r>
              <a:rPr lang="en"/>
              <a:t> Servlet name and Servlet class </a:t>
            </a:r>
            <a:endParaRPr/>
          </a:p>
          <a:p>
            <a:pPr indent="-290830" lvl="1" marL="914400" rtl="0" algn="l">
              <a:spcBef>
                <a:spcPts val="0"/>
              </a:spcBef>
              <a:spcAft>
                <a:spcPts val="0"/>
              </a:spcAft>
              <a:buSzPct val="100000"/>
              <a:buChar char="○"/>
            </a:pPr>
            <a:r>
              <a:rPr lang="en"/>
              <a:t> The URL mapping used to access the Servlet </a:t>
            </a:r>
            <a:endParaRPr/>
          </a:p>
          <a:p>
            <a:pPr indent="-308610" lvl="0" marL="457200" rtl="0" algn="l">
              <a:spcBef>
                <a:spcPts val="0"/>
              </a:spcBef>
              <a:spcAft>
                <a:spcPts val="0"/>
              </a:spcAft>
              <a:buSzPct val="100000"/>
              <a:buChar char="●"/>
            </a:pPr>
            <a:r>
              <a:rPr lang="en"/>
              <a:t>Let’s assume we wrote a servlet named FormProcesssingServlet in a package named myservlets. The definition for this servlet in the web.xml will be as shown below:  </a:t>
            </a:r>
            <a:endParaRPr/>
          </a:p>
          <a:p>
            <a:pPr indent="0" lvl="0" marL="457200" rtl="0" algn="l">
              <a:spcBef>
                <a:spcPts val="1200"/>
              </a:spcBef>
              <a:spcAft>
                <a:spcPts val="0"/>
              </a:spcAft>
              <a:buClr>
                <a:schemeClr val="dk1"/>
              </a:buClr>
              <a:buSzPct val="61111"/>
              <a:buFont typeface="Arial"/>
              <a:buNone/>
            </a:pPr>
            <a:r>
              <a:rPr lang="en"/>
              <a:t>&lt;servlet&gt;      </a:t>
            </a:r>
            <a:endParaRPr/>
          </a:p>
          <a:p>
            <a:pPr indent="0" lvl="0" marL="457200" rtl="0" algn="l">
              <a:spcBef>
                <a:spcPts val="1200"/>
              </a:spcBef>
              <a:spcAft>
                <a:spcPts val="0"/>
              </a:spcAft>
              <a:buNone/>
            </a:pPr>
            <a:r>
              <a:rPr lang="en"/>
              <a:t>	&lt;servlet-name&gt;FormProcessingServlet&lt;/servlet-name&gt;</a:t>
            </a:r>
            <a:endParaRPr/>
          </a:p>
          <a:p>
            <a:pPr indent="0" lvl="0" marL="457200" rtl="0" algn="l">
              <a:spcBef>
                <a:spcPts val="1200"/>
              </a:spcBef>
              <a:spcAft>
                <a:spcPts val="0"/>
              </a:spcAft>
              <a:buClr>
                <a:schemeClr val="dk1"/>
              </a:buClr>
              <a:buSzPct val="61111"/>
              <a:buFont typeface="Arial"/>
              <a:buNone/>
            </a:pPr>
            <a:r>
              <a:rPr lang="en"/>
              <a:t>           &lt;servlet-class&gt;myservlets.FormProcessingServlet&lt;/servlet-class&gt; </a:t>
            </a:r>
            <a:endParaRPr/>
          </a:p>
          <a:p>
            <a:pPr indent="0" lvl="0" marL="457200" rtl="0" algn="l">
              <a:spcBef>
                <a:spcPts val="1200"/>
              </a:spcBef>
              <a:spcAft>
                <a:spcPts val="0"/>
              </a:spcAft>
              <a:buClr>
                <a:schemeClr val="dk1"/>
              </a:buClr>
              <a:buSzPct val="61111"/>
              <a:buFont typeface="Arial"/>
              <a:buNone/>
            </a:pPr>
            <a:r>
              <a:rPr lang="en"/>
              <a:t>&lt;/servlet&gt;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6"/>
          <p:cNvSpPr txBox="1"/>
          <p:nvPr>
            <p:ph idx="1" type="body"/>
          </p:nvPr>
        </p:nvSpPr>
        <p:spPr>
          <a:xfrm>
            <a:off x="346975" y="458600"/>
            <a:ext cx="8520600" cy="3821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The servlet name can be any arbitrary name, but it’s a good practice to have the class name as the servlet name. However, the servlet class tag must represent the fully qualified name of the servlet which includes the package name as shown above. </a:t>
            </a:r>
            <a:endParaRPr/>
          </a:p>
          <a:p>
            <a:pPr indent="-308610" lvl="0" marL="457200" rtl="0" algn="l">
              <a:spcBef>
                <a:spcPts val="0"/>
              </a:spcBef>
              <a:spcAft>
                <a:spcPts val="0"/>
              </a:spcAft>
              <a:buSzPct val="100000"/>
              <a:buChar char="●"/>
            </a:pPr>
            <a:r>
              <a:rPr lang="en"/>
              <a:t>The next thing we need to define is the URL mapping which identifies how the servlet is accessed from the browser. For the above servlet, the url mapping will be as shown below:  </a:t>
            </a:r>
            <a:endParaRPr/>
          </a:p>
          <a:p>
            <a:pPr indent="0" lvl="0" marL="457200" rtl="0" algn="l">
              <a:spcBef>
                <a:spcPts val="1200"/>
              </a:spcBef>
              <a:spcAft>
                <a:spcPts val="0"/>
              </a:spcAft>
              <a:buNone/>
            </a:pPr>
            <a:r>
              <a:rPr lang="en"/>
              <a:t>&lt;servlet-mapping&gt;       </a:t>
            </a:r>
            <a:endParaRPr/>
          </a:p>
          <a:p>
            <a:pPr indent="457200" lvl="0" marL="457200" rtl="0" algn="l">
              <a:spcBef>
                <a:spcPts val="1200"/>
              </a:spcBef>
              <a:spcAft>
                <a:spcPts val="0"/>
              </a:spcAft>
              <a:buNone/>
            </a:pPr>
            <a:r>
              <a:rPr lang="en"/>
              <a:t>&lt;servlet-name&gt;FormProcessingServlet&lt;/servlet-name&gt; </a:t>
            </a:r>
            <a:endParaRPr/>
          </a:p>
          <a:p>
            <a:pPr indent="457200" lvl="0" marL="457200" rtl="0" algn="l">
              <a:spcBef>
                <a:spcPts val="1200"/>
              </a:spcBef>
              <a:spcAft>
                <a:spcPts val="0"/>
              </a:spcAft>
              <a:buNone/>
            </a:pPr>
            <a:r>
              <a:rPr lang="en"/>
              <a:t> &lt;url-pattern&gt;/FormProcessingServlet&lt;/url-pattern&gt; </a:t>
            </a:r>
            <a:endParaRPr/>
          </a:p>
          <a:p>
            <a:pPr indent="0" lvl="0" marL="457200" rtl="0" algn="l">
              <a:spcBef>
                <a:spcPts val="1200"/>
              </a:spcBef>
              <a:spcAft>
                <a:spcPts val="0"/>
              </a:spcAft>
              <a:buNone/>
            </a:pPr>
            <a:r>
              <a:rPr lang="en"/>
              <a:t>&lt;/servlet-mapping&gt; </a:t>
            </a:r>
            <a:endParaRPr/>
          </a:p>
          <a:p>
            <a:pPr indent="-308610" lvl="0" marL="457200" rtl="0" algn="l">
              <a:spcBef>
                <a:spcPts val="1200"/>
              </a:spcBef>
              <a:spcAft>
                <a:spcPts val="0"/>
              </a:spcAft>
              <a:buSzPct val="100000"/>
              <a:buChar char="●"/>
            </a:pPr>
            <a:r>
              <a:rPr lang="en"/>
              <a:t>If you noticed carefully, the servlet name in both the XML snippets is the same. This is how we bind the url mapping with a servlet. The url pattern defines how the servlet will be accessed. With the above mapping, the FormProcessingServlet should be accessed with the following URL:</a:t>
            </a:r>
            <a:endParaRPr/>
          </a:p>
          <a:p>
            <a:pPr indent="-290830" lvl="1" marL="914400" rtl="0" algn="l">
              <a:spcBef>
                <a:spcPts val="0"/>
              </a:spcBef>
              <a:spcAft>
                <a:spcPts val="0"/>
              </a:spcAft>
              <a:buSzPct val="100000"/>
              <a:buChar char="○"/>
            </a:pPr>
            <a:r>
              <a:rPr lang="en"/>
              <a:t>http://localhost:8080/myweb/FormProcessingServlet  </a:t>
            </a:r>
            <a:endParaRPr/>
          </a:p>
          <a:p>
            <a:pPr indent="-308610" lvl="0" marL="457200" rtl="0" algn="l">
              <a:spcBef>
                <a:spcPts val="0"/>
              </a:spcBef>
              <a:spcAft>
                <a:spcPts val="0"/>
              </a:spcAft>
              <a:buSzPct val="100000"/>
              <a:buChar char="●"/>
            </a:pPr>
            <a:r>
              <a:rPr lang="en"/>
              <a:t>The web container then delegates the request to myservlets.FormProcessing Servlet class to process the request.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for Writing a Servlet  </a:t>
            </a:r>
            <a:endParaRPr/>
          </a:p>
        </p:txBody>
      </p:sp>
      <p:sp>
        <p:nvSpPr>
          <p:cNvPr id="137" name="Google Shape;13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Writing a servlet is very simple. </a:t>
            </a:r>
            <a:endParaRPr/>
          </a:p>
          <a:p>
            <a:pPr indent="-342900" lvl="0" marL="457200" rtl="0" algn="l">
              <a:spcBef>
                <a:spcPts val="0"/>
              </a:spcBef>
              <a:spcAft>
                <a:spcPts val="0"/>
              </a:spcAft>
              <a:buSzPts val="1800"/>
              <a:buChar char="●"/>
            </a:pPr>
            <a:r>
              <a:rPr lang="en"/>
              <a:t>You just have to follow a standard process as shown below:  </a:t>
            </a:r>
            <a:endParaRPr/>
          </a:p>
          <a:p>
            <a:pPr indent="-317500" lvl="1" marL="914400" rtl="0" algn="l">
              <a:spcBef>
                <a:spcPts val="0"/>
              </a:spcBef>
              <a:spcAft>
                <a:spcPts val="0"/>
              </a:spcAft>
              <a:buSzPts val="1400"/>
              <a:buChar char="○"/>
            </a:pPr>
            <a:r>
              <a:rPr lang="en"/>
              <a:t> Create a class that extends HttpServlet </a:t>
            </a:r>
            <a:endParaRPr/>
          </a:p>
          <a:p>
            <a:pPr indent="-317500" lvl="1" marL="914400" rtl="0" algn="l">
              <a:spcBef>
                <a:spcPts val="0"/>
              </a:spcBef>
              <a:spcAft>
                <a:spcPts val="0"/>
              </a:spcAft>
              <a:buSzPts val="1400"/>
              <a:buChar char="○"/>
            </a:pPr>
            <a:r>
              <a:rPr lang="en"/>
              <a:t> Define 3 methods namely init(), doGet() and doPost(). </a:t>
            </a:r>
            <a:endParaRPr/>
          </a:p>
          <a:p>
            <a:pPr indent="-342900" lvl="0" marL="457200" rtl="0" algn="l">
              <a:spcBef>
                <a:spcPts val="0"/>
              </a:spcBef>
              <a:spcAft>
                <a:spcPts val="0"/>
              </a:spcAft>
              <a:buSzPts val="1800"/>
              <a:buChar char="●"/>
            </a:pPr>
            <a:r>
              <a:rPr lang="en"/>
              <a:t>These three methods are the standard methods for any servlet. These are called as callback methods that the web container invokes automatically when a HTTP request comes to this servlet. </a:t>
            </a:r>
            <a:endParaRPr/>
          </a:p>
          <a:p>
            <a:pPr indent="-342900" lvl="0" marL="457200" rtl="0" algn="l">
              <a:spcBef>
                <a:spcPts val="0"/>
              </a:spcBef>
              <a:spcAft>
                <a:spcPts val="0"/>
              </a:spcAft>
              <a:buSzPts val="1800"/>
              <a:buChar char="●"/>
            </a:pPr>
            <a:r>
              <a:rPr lang="en"/>
              <a:t>For all the GET requests, the web container invokes the doGet() method, and for POST requests it invokes the doPost() method.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8"/>
          <p:cNvPicPr preferRelativeResize="0"/>
          <p:nvPr/>
        </p:nvPicPr>
        <p:blipFill>
          <a:blip r:embed="rId3">
            <a:alphaModFix/>
          </a:blip>
          <a:stretch>
            <a:fillRect/>
          </a:stretch>
        </p:blipFill>
        <p:spPr>
          <a:xfrm>
            <a:off x="691800" y="653275"/>
            <a:ext cx="6123826" cy="408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you look at the above servlet, it does the following things  </a:t>
            </a:r>
            <a:endParaRPr/>
          </a:p>
          <a:p>
            <a:pPr indent="-317500" lvl="1" marL="914400" rtl="0" algn="l">
              <a:spcBef>
                <a:spcPts val="0"/>
              </a:spcBef>
              <a:spcAft>
                <a:spcPts val="0"/>
              </a:spcAft>
              <a:buSzPts val="1400"/>
              <a:buChar char="○"/>
            </a:pPr>
            <a:r>
              <a:rPr lang="en"/>
              <a:t>Imports all the servlet classes </a:t>
            </a:r>
            <a:endParaRPr/>
          </a:p>
          <a:p>
            <a:pPr indent="-317500" lvl="1" marL="914400" rtl="0" algn="l">
              <a:spcBef>
                <a:spcPts val="0"/>
              </a:spcBef>
              <a:spcAft>
                <a:spcPts val="0"/>
              </a:spcAft>
              <a:buSzPts val="1400"/>
              <a:buChar char="○"/>
            </a:pPr>
            <a:r>
              <a:rPr lang="en"/>
              <a:t>The class extends HttpServlet </a:t>
            </a:r>
            <a:endParaRPr/>
          </a:p>
          <a:p>
            <a:pPr indent="-317500" lvl="1" marL="914400" rtl="0" algn="l">
              <a:spcBef>
                <a:spcPts val="0"/>
              </a:spcBef>
              <a:spcAft>
                <a:spcPts val="0"/>
              </a:spcAft>
              <a:buSzPts val="1400"/>
              <a:buChar char="○"/>
            </a:pPr>
            <a:r>
              <a:rPr lang="en"/>
              <a:t>Defined 3 methods init(),doGet() and doPost()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LifeCycle of a Servlet  </a:t>
            </a:r>
            <a:endParaRPr/>
          </a:p>
        </p:txBody>
      </p:sp>
      <p:sp>
        <p:nvSpPr>
          <p:cNvPr id="153" name="Google Shape;15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life cycle of a servlet represents how the web container uses the servlet to process the requests. Following is what a web container does with a servlet:  </a:t>
            </a:r>
            <a:endParaRPr/>
          </a:p>
          <a:p>
            <a:pPr indent="-317500" lvl="1" marL="914400" rtl="0" algn="l">
              <a:spcBef>
                <a:spcPts val="0"/>
              </a:spcBef>
              <a:spcAft>
                <a:spcPts val="0"/>
              </a:spcAft>
              <a:buSzPts val="1400"/>
              <a:buChar char="○"/>
            </a:pPr>
            <a:r>
              <a:rPr lang="en"/>
              <a:t>Loads the Servlet </a:t>
            </a:r>
            <a:endParaRPr/>
          </a:p>
          <a:p>
            <a:pPr indent="-317500" lvl="1" marL="914400" rtl="0" algn="l">
              <a:spcBef>
                <a:spcPts val="0"/>
              </a:spcBef>
              <a:spcAft>
                <a:spcPts val="0"/>
              </a:spcAft>
              <a:buSzPts val="1400"/>
              <a:buChar char="○"/>
            </a:pPr>
            <a:r>
              <a:rPr lang="en"/>
              <a:t>Instantiates the Servlet </a:t>
            </a:r>
            <a:endParaRPr/>
          </a:p>
          <a:p>
            <a:pPr indent="-317500" lvl="1" marL="914400" rtl="0" algn="l">
              <a:spcBef>
                <a:spcPts val="0"/>
              </a:spcBef>
              <a:spcAft>
                <a:spcPts val="0"/>
              </a:spcAft>
              <a:buSzPts val="1400"/>
              <a:buChar char="○"/>
            </a:pPr>
            <a:r>
              <a:rPr lang="en"/>
              <a:t>Initializes the servlet by executing the init() method. </a:t>
            </a:r>
            <a:endParaRPr/>
          </a:p>
          <a:p>
            <a:pPr indent="-317500" lvl="1" marL="914400" rtl="0" algn="l">
              <a:spcBef>
                <a:spcPts val="0"/>
              </a:spcBef>
              <a:spcAft>
                <a:spcPts val="0"/>
              </a:spcAft>
              <a:buSzPts val="1400"/>
              <a:buChar char="○"/>
            </a:pPr>
            <a:r>
              <a:rPr lang="en"/>
              <a:t>Invokes the doGet() or doPost() methods to process the requests. </a:t>
            </a:r>
            <a:endParaRPr/>
          </a:p>
          <a:p>
            <a:pPr indent="-317500" lvl="1" marL="914400" rtl="0" algn="l">
              <a:spcBef>
                <a:spcPts val="0"/>
              </a:spcBef>
              <a:spcAft>
                <a:spcPts val="0"/>
              </a:spcAft>
              <a:buSzPts val="1400"/>
              <a:buChar char="○"/>
            </a:pPr>
            <a:r>
              <a:rPr lang="en"/>
              <a:t>Repeats Step 4 until all the requests are processed </a:t>
            </a:r>
            <a:endParaRPr/>
          </a:p>
          <a:p>
            <a:pPr indent="-317500" lvl="1" marL="914400" rtl="0" algn="l">
              <a:spcBef>
                <a:spcPts val="0"/>
              </a:spcBef>
              <a:spcAft>
                <a:spcPts val="0"/>
              </a:spcAft>
              <a:buSzPts val="1400"/>
              <a:buChar char="○"/>
            </a:pPr>
            <a:r>
              <a:rPr lang="en"/>
              <a:t>Destroy the servlet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txBox="1"/>
          <p:nvPr>
            <p:ph idx="1" type="body"/>
          </p:nvPr>
        </p:nvSpPr>
        <p:spPr>
          <a:xfrm>
            <a:off x="311700" y="363850"/>
            <a:ext cx="8520600" cy="4205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523"/>
              <a:buFont typeface="Arial"/>
              <a:buNone/>
            </a:pPr>
            <a:r>
              <a:rPr lang="en" sz="1255"/>
              <a:t>import javax.servlet.*; </a:t>
            </a:r>
            <a:endParaRPr sz="1255"/>
          </a:p>
          <a:p>
            <a:pPr indent="0" lvl="0" marL="0" rtl="0" algn="l">
              <a:lnSpc>
                <a:spcPct val="95000"/>
              </a:lnSpc>
              <a:spcBef>
                <a:spcPts val="1200"/>
              </a:spcBef>
              <a:spcAft>
                <a:spcPts val="0"/>
              </a:spcAft>
              <a:buClr>
                <a:schemeClr val="dk1"/>
              </a:buClr>
              <a:buSzPts val="523"/>
              <a:buFont typeface="Arial"/>
              <a:buNone/>
            </a:pPr>
            <a:r>
              <a:rPr lang="en" sz="1255"/>
              <a:t>import javax.servlet.http.*; </a:t>
            </a:r>
            <a:endParaRPr sz="1255"/>
          </a:p>
          <a:p>
            <a:pPr indent="0" lvl="0" marL="0" rtl="0" algn="l">
              <a:lnSpc>
                <a:spcPct val="95000"/>
              </a:lnSpc>
              <a:spcBef>
                <a:spcPts val="1200"/>
              </a:spcBef>
              <a:spcAft>
                <a:spcPts val="0"/>
              </a:spcAft>
              <a:buClr>
                <a:schemeClr val="dk1"/>
              </a:buClr>
              <a:buSzPts val="523"/>
              <a:buFont typeface="Arial"/>
              <a:buNone/>
            </a:pPr>
            <a:r>
              <a:rPr lang="en" sz="1255"/>
              <a:t>import java.io.*;  </a:t>
            </a:r>
            <a:endParaRPr sz="1255"/>
          </a:p>
          <a:p>
            <a:pPr indent="0" lvl="0" marL="0" rtl="0" algn="l">
              <a:lnSpc>
                <a:spcPct val="95000"/>
              </a:lnSpc>
              <a:spcBef>
                <a:spcPts val="1200"/>
              </a:spcBef>
              <a:spcAft>
                <a:spcPts val="0"/>
              </a:spcAft>
              <a:buClr>
                <a:schemeClr val="dk1"/>
              </a:buClr>
              <a:buSzPts val="523"/>
              <a:buFont typeface="Arial"/>
              <a:buNone/>
            </a:pPr>
            <a:r>
              <a:rPr lang="en" sz="1255"/>
              <a:t>public class GreetingServlet extends HttpServlet {    	</a:t>
            </a:r>
            <a:endParaRPr sz="1255"/>
          </a:p>
          <a:p>
            <a:pPr indent="0" lvl="0" marL="0" rtl="0" algn="l">
              <a:lnSpc>
                <a:spcPct val="95000"/>
              </a:lnSpc>
              <a:spcBef>
                <a:spcPts val="1200"/>
              </a:spcBef>
              <a:spcAft>
                <a:spcPts val="0"/>
              </a:spcAft>
              <a:buClr>
                <a:schemeClr val="dk1"/>
              </a:buClr>
              <a:buSzPts val="523"/>
              <a:buFont typeface="Arial"/>
              <a:buNone/>
            </a:pPr>
            <a:r>
              <a:rPr lang="en" sz="1255"/>
              <a:t>	public void doGet(HttpServletRequest req, HttpServletResponse res)       throws ServletException, IOException {   </a:t>
            </a:r>
            <a:endParaRPr sz="1255"/>
          </a:p>
          <a:p>
            <a:pPr indent="0" lvl="0" marL="0" rtl="0" algn="l">
              <a:lnSpc>
                <a:spcPct val="95000"/>
              </a:lnSpc>
              <a:spcBef>
                <a:spcPts val="1200"/>
              </a:spcBef>
              <a:spcAft>
                <a:spcPts val="0"/>
              </a:spcAft>
              <a:buClr>
                <a:schemeClr val="dk1"/>
              </a:buClr>
              <a:buSzPts val="523"/>
              <a:buFont typeface="Arial"/>
              <a:buNone/>
            </a:pPr>
            <a:r>
              <a:rPr lang="en" sz="1255"/>
              <a:t>	res.setContentType("text/html");      </a:t>
            </a:r>
            <a:endParaRPr sz="1255"/>
          </a:p>
          <a:p>
            <a:pPr indent="0" lvl="0" marL="0" rtl="0" algn="l">
              <a:lnSpc>
                <a:spcPct val="95000"/>
              </a:lnSpc>
              <a:spcBef>
                <a:spcPts val="1200"/>
              </a:spcBef>
              <a:spcAft>
                <a:spcPts val="0"/>
              </a:spcAft>
              <a:buClr>
                <a:schemeClr val="dk1"/>
              </a:buClr>
              <a:buSzPts val="523"/>
              <a:buFont typeface="Arial"/>
              <a:buNone/>
            </a:pPr>
            <a:r>
              <a:rPr lang="en" sz="1255"/>
              <a:t>	PrintWriter pw = res.getWriter();      </a:t>
            </a:r>
            <a:endParaRPr sz="1255"/>
          </a:p>
          <a:p>
            <a:pPr indent="0" lvl="0" marL="0" rtl="0" algn="l">
              <a:lnSpc>
                <a:spcPct val="95000"/>
              </a:lnSpc>
              <a:spcBef>
                <a:spcPts val="1200"/>
              </a:spcBef>
              <a:spcAft>
                <a:spcPts val="0"/>
              </a:spcAft>
              <a:buClr>
                <a:schemeClr val="dk1"/>
              </a:buClr>
              <a:buSzPts val="523"/>
              <a:buFont typeface="Arial"/>
              <a:buNone/>
            </a:pPr>
            <a:r>
              <a:rPr lang="en" sz="1255"/>
              <a:t>	// Send the message     </a:t>
            </a:r>
            <a:endParaRPr sz="1255"/>
          </a:p>
          <a:p>
            <a:pPr indent="0" lvl="0" marL="0" rtl="0" algn="l">
              <a:lnSpc>
                <a:spcPct val="95000"/>
              </a:lnSpc>
              <a:spcBef>
                <a:spcPts val="1200"/>
              </a:spcBef>
              <a:spcAft>
                <a:spcPts val="0"/>
              </a:spcAft>
              <a:buClr>
                <a:schemeClr val="dk1"/>
              </a:buClr>
              <a:buSzPts val="523"/>
              <a:buFont typeface="Arial"/>
              <a:buNone/>
            </a:pPr>
            <a:r>
              <a:rPr lang="en" sz="1255"/>
              <a:t>	pw.println("&lt;h1&gt;Welcome to Servlets &lt;/h1&gt;");    </a:t>
            </a:r>
            <a:endParaRPr sz="1255"/>
          </a:p>
          <a:p>
            <a:pPr indent="0" lvl="0" marL="0" rtl="0" algn="l">
              <a:lnSpc>
                <a:spcPct val="95000"/>
              </a:lnSpc>
              <a:spcBef>
                <a:spcPts val="1200"/>
              </a:spcBef>
              <a:spcAft>
                <a:spcPts val="0"/>
              </a:spcAft>
              <a:buClr>
                <a:schemeClr val="dk1"/>
              </a:buClr>
              <a:buSzPts val="523"/>
              <a:buFont typeface="Arial"/>
              <a:buNone/>
            </a:pPr>
            <a:r>
              <a:rPr lang="en" sz="1255"/>
              <a:t>	} </a:t>
            </a:r>
            <a:endParaRPr sz="1255"/>
          </a:p>
          <a:p>
            <a:pPr indent="0" lvl="0" marL="0" rtl="0" algn="l">
              <a:lnSpc>
                <a:spcPct val="95000"/>
              </a:lnSpc>
              <a:spcBef>
                <a:spcPts val="1200"/>
              </a:spcBef>
              <a:spcAft>
                <a:spcPts val="0"/>
              </a:spcAft>
              <a:buClr>
                <a:schemeClr val="dk1"/>
              </a:buClr>
              <a:buSzPts val="523"/>
              <a:buFont typeface="Arial"/>
              <a:buNone/>
            </a:pPr>
            <a:r>
              <a:rPr lang="en" sz="1255"/>
              <a:t> }</a:t>
            </a:r>
            <a:endParaRPr sz="1255"/>
          </a:p>
          <a:p>
            <a:pPr indent="0" lvl="0" marL="0" rtl="0" algn="l">
              <a:lnSpc>
                <a:spcPct val="95000"/>
              </a:lnSpc>
              <a:spcBef>
                <a:spcPts val="1200"/>
              </a:spcBef>
              <a:spcAft>
                <a:spcPts val="1200"/>
              </a:spcAft>
              <a:buSzPts val="523"/>
              <a:buNone/>
            </a:pPr>
            <a:r>
              <a:t/>
            </a:r>
            <a:endParaRPr sz="1255"/>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This is a simple servlet which defined just the doGet() method since we will only send a request from the browser which is a GET request. </a:t>
            </a:r>
            <a:endParaRPr/>
          </a:p>
          <a:p>
            <a:pPr indent="-342900" lvl="0" marL="457200" rtl="0" algn="l">
              <a:spcBef>
                <a:spcPts val="0"/>
              </a:spcBef>
              <a:spcAft>
                <a:spcPts val="0"/>
              </a:spcAft>
              <a:buSzPts val="1800"/>
              <a:buChar char="●"/>
            </a:pPr>
            <a:r>
              <a:rPr lang="en"/>
              <a:t>This method takes two arguments namely HttpServletRequest and HttpServletResponse. </a:t>
            </a:r>
            <a:endParaRPr/>
          </a:p>
          <a:p>
            <a:pPr indent="-342900" lvl="0" marL="457200" rtl="0" algn="l">
              <a:spcBef>
                <a:spcPts val="0"/>
              </a:spcBef>
              <a:spcAft>
                <a:spcPts val="0"/>
              </a:spcAft>
              <a:buSzPts val="1800"/>
              <a:buChar char="●"/>
            </a:pPr>
            <a:r>
              <a:rPr lang="en"/>
              <a:t>The former is used to read the data from the request and the later is used to send the response back to the browser. </a:t>
            </a:r>
            <a:endParaRPr/>
          </a:p>
          <a:p>
            <a:pPr indent="-342900" lvl="0" marL="457200" rtl="0" algn="l">
              <a:spcBef>
                <a:spcPts val="0"/>
              </a:spcBef>
              <a:spcAft>
                <a:spcPts val="0"/>
              </a:spcAft>
              <a:buSzPts val="1800"/>
              <a:buChar char="●"/>
            </a:pPr>
            <a:r>
              <a:rPr lang="en"/>
              <a:t>In this example we only use the response object to send a greeting message to the browser. </a:t>
            </a:r>
            <a:endParaRPr/>
          </a:p>
          <a:p>
            <a:pPr indent="-342900" lvl="0" marL="457200" rtl="0" algn="l">
              <a:spcBef>
                <a:spcPts val="0"/>
              </a:spcBef>
              <a:spcAft>
                <a:spcPts val="0"/>
              </a:spcAft>
              <a:buSzPts val="1800"/>
              <a:buChar char="●"/>
            </a:pPr>
            <a:r>
              <a:rPr lang="en"/>
              <a:t>To send a response, we need to do three things as outlined below: </a:t>
            </a:r>
            <a:endParaRPr/>
          </a:p>
          <a:p>
            <a:pPr indent="0" lvl="0" marL="45720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Define the type of the response data. This is done using the following statement:  </a:t>
            </a:r>
            <a:endParaRPr/>
          </a:p>
          <a:p>
            <a:pPr indent="-317500" lvl="1" marL="914400" rtl="0" algn="l">
              <a:spcBef>
                <a:spcPts val="0"/>
              </a:spcBef>
              <a:spcAft>
                <a:spcPts val="0"/>
              </a:spcAft>
              <a:buSzPts val="1400"/>
              <a:buAutoNum type="alphaLcPeriod"/>
            </a:pPr>
            <a:r>
              <a:rPr lang="en"/>
              <a:t>res.setContentType("text/html");  </a:t>
            </a:r>
            <a:endParaRPr/>
          </a:p>
          <a:p>
            <a:pPr indent="0" lvl="0" marL="914400" rtl="0" algn="l">
              <a:spcBef>
                <a:spcPts val="1200"/>
              </a:spcBef>
              <a:spcAft>
                <a:spcPts val="0"/>
              </a:spcAft>
              <a:buNone/>
            </a:pPr>
            <a:r>
              <a:rPr lang="en"/>
              <a:t>The above line specifies that we are sending HTML response back.  </a:t>
            </a:r>
            <a:endParaRPr/>
          </a:p>
          <a:p>
            <a:pPr indent="-342900" lvl="0" marL="457200" rtl="0" algn="l">
              <a:spcBef>
                <a:spcPts val="1200"/>
              </a:spcBef>
              <a:spcAft>
                <a:spcPts val="0"/>
              </a:spcAft>
              <a:buSzPts val="1800"/>
              <a:buAutoNum type="arabicPeriod"/>
            </a:pPr>
            <a:r>
              <a:rPr lang="en"/>
              <a:t>Open a stream/channel to the browser to send the response. This is done using the following statement:  </a:t>
            </a:r>
            <a:endParaRPr/>
          </a:p>
          <a:p>
            <a:pPr indent="-317500" lvl="1" marL="914400" rtl="0" algn="l">
              <a:spcBef>
                <a:spcPts val="0"/>
              </a:spcBef>
              <a:spcAft>
                <a:spcPts val="0"/>
              </a:spcAft>
              <a:buSzPts val="1400"/>
              <a:buAutoNum type="alphaLcPeriod"/>
            </a:pPr>
            <a:r>
              <a:rPr lang="en"/>
              <a:t>PrintWriter pw = res.getWriter();  </a:t>
            </a:r>
            <a:endParaRPr/>
          </a:p>
          <a:p>
            <a:pPr indent="-342900" lvl="0" marL="457200" rtl="0" algn="l">
              <a:spcBef>
                <a:spcPts val="0"/>
              </a:spcBef>
              <a:spcAft>
                <a:spcPts val="0"/>
              </a:spcAft>
              <a:buSzPts val="1800"/>
              <a:buAutoNum type="arabicPeriod"/>
            </a:pPr>
            <a:r>
              <a:rPr lang="en"/>
              <a:t>Send the html message to the browser. To send response message to the browser, we use the println() method as shown below:         </a:t>
            </a:r>
            <a:endParaRPr/>
          </a:p>
          <a:p>
            <a:pPr indent="-317500" lvl="1" marL="914400" rtl="0" algn="l">
              <a:spcBef>
                <a:spcPts val="0"/>
              </a:spcBef>
              <a:spcAft>
                <a:spcPts val="0"/>
              </a:spcAft>
              <a:buSzPts val="1400"/>
              <a:buAutoNum type="alphaLcPeriod"/>
            </a:pPr>
            <a:r>
              <a:rPr lang="en"/>
              <a:t>pw.println("&lt;h1&gt;Welcome to Servlets &lt;/h1&gt;");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Servlet Initialization  </a:t>
            </a:r>
            <a:endParaRPr/>
          </a:p>
        </p:txBody>
      </p:sp>
      <p:sp>
        <p:nvSpPr>
          <p:cNvPr id="175" name="Google Shape;17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Initializing a servlet is one of the most common practices. </a:t>
            </a:r>
            <a:endParaRPr/>
          </a:p>
          <a:p>
            <a:pPr indent="-308610" lvl="0" marL="457200" rtl="0" algn="l">
              <a:spcBef>
                <a:spcPts val="0"/>
              </a:spcBef>
              <a:spcAft>
                <a:spcPts val="0"/>
              </a:spcAft>
              <a:buSzPct val="100000"/>
              <a:buChar char="●"/>
            </a:pPr>
            <a:r>
              <a:rPr lang="en"/>
              <a:t>Servlet initialization is done in the init() method of the servlet. </a:t>
            </a:r>
            <a:endParaRPr/>
          </a:p>
          <a:p>
            <a:pPr indent="-308610" lvl="0" marL="457200" rtl="0" algn="l">
              <a:spcBef>
                <a:spcPts val="0"/>
              </a:spcBef>
              <a:spcAft>
                <a:spcPts val="0"/>
              </a:spcAft>
              <a:buSzPct val="100000"/>
              <a:buChar char="●"/>
            </a:pPr>
            <a:r>
              <a:rPr lang="en"/>
              <a:t>Defining initialization parameters for servlets in web.xml is a good practice as it eliminates hard coding in the servlet. </a:t>
            </a:r>
            <a:endParaRPr/>
          </a:p>
          <a:p>
            <a:pPr indent="-308610" lvl="0" marL="457200" rtl="0" algn="l">
              <a:spcBef>
                <a:spcPts val="0"/>
              </a:spcBef>
              <a:spcAft>
                <a:spcPts val="0"/>
              </a:spcAft>
              <a:buSzPct val="100000"/>
              <a:buChar char="●"/>
            </a:pPr>
            <a:r>
              <a:rPr lang="en"/>
              <a:t>The web container while loading the servlet, invokes the init() method of the servlet as part of the life cycle and passes the parameters defined in the web.xml to it. </a:t>
            </a:r>
            <a:endParaRPr/>
          </a:p>
          <a:p>
            <a:pPr indent="-308610" lvl="0" marL="457200" rtl="0" algn="l">
              <a:spcBef>
                <a:spcPts val="0"/>
              </a:spcBef>
              <a:spcAft>
                <a:spcPts val="0"/>
              </a:spcAft>
              <a:buSzPct val="100000"/>
              <a:buChar char="●"/>
            </a:pPr>
            <a:r>
              <a:rPr lang="en"/>
              <a:t>The other advantage with this is, in the future if the initialization values need to be changed, you only have to change the web.xml without having to recompile the entire web application.  </a:t>
            </a:r>
            <a:endParaRPr/>
          </a:p>
          <a:p>
            <a:pPr indent="-308610" lvl="0" marL="457200" rtl="0" algn="l">
              <a:spcBef>
                <a:spcPts val="0"/>
              </a:spcBef>
              <a:spcAft>
                <a:spcPts val="0"/>
              </a:spcAft>
              <a:buSzPct val="100000"/>
              <a:buChar char="●"/>
            </a:pPr>
            <a:r>
              <a:rPr lang="en"/>
              <a:t>Initialization parameters to a servlet are defined in the web.xml using the &lt;init-param&gt; element as shown below:  </a:t>
            </a:r>
            <a:endParaRPr/>
          </a:p>
          <a:p>
            <a:pPr indent="457200" lvl="0" marL="457200" rtl="0" algn="l">
              <a:spcBef>
                <a:spcPts val="1200"/>
              </a:spcBef>
              <a:spcAft>
                <a:spcPts val="0"/>
              </a:spcAft>
              <a:buClr>
                <a:schemeClr val="dk1"/>
              </a:buClr>
              <a:buSzPct val="61111"/>
              <a:buFont typeface="Arial"/>
              <a:buNone/>
            </a:pPr>
            <a:r>
              <a:rPr lang="en"/>
              <a:t>&lt;init-param&gt;         </a:t>
            </a:r>
            <a:endParaRPr/>
          </a:p>
          <a:p>
            <a:pPr indent="0" lvl="0" marL="0" rtl="0" algn="l">
              <a:spcBef>
                <a:spcPts val="1200"/>
              </a:spcBef>
              <a:spcAft>
                <a:spcPts val="0"/>
              </a:spcAft>
              <a:buClr>
                <a:schemeClr val="dk1"/>
              </a:buClr>
              <a:buSzPct val="61111"/>
              <a:buFont typeface="Arial"/>
              <a:buNone/>
            </a:pPr>
            <a:r>
              <a:rPr lang="en"/>
              <a:t>			&lt;param-name&gt;driver&lt;/param-name&gt;         </a:t>
            </a:r>
            <a:endParaRPr/>
          </a:p>
          <a:p>
            <a:pPr indent="0" lvl="0" marL="0" rtl="0" algn="l">
              <a:spcBef>
                <a:spcPts val="1200"/>
              </a:spcBef>
              <a:spcAft>
                <a:spcPts val="0"/>
              </a:spcAft>
              <a:buClr>
                <a:schemeClr val="dk1"/>
              </a:buClr>
              <a:buSzPct val="61111"/>
              <a:buFont typeface="Arial"/>
              <a:buNone/>
            </a:pPr>
            <a:r>
              <a:rPr lang="en"/>
              <a:t>			&lt;param-value&gt;com.mysql.jdbc.Driver&lt;/param-value&gt; </a:t>
            </a:r>
            <a:endParaRPr/>
          </a:p>
          <a:p>
            <a:pPr indent="457200" lvl="0" marL="457200" rtl="0" algn="l">
              <a:spcBef>
                <a:spcPts val="1200"/>
              </a:spcBef>
              <a:spcAft>
                <a:spcPts val="1200"/>
              </a:spcAft>
              <a:buNone/>
            </a:pPr>
            <a:r>
              <a:rPr lang="en"/>
              <a:t>&lt;/init-param&gt;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Char char="●"/>
            </a:pPr>
            <a:r>
              <a:rPr lang="en"/>
              <a:t>With the above definition, a servlet can access the parameter in the init() method as shown below:  </a:t>
            </a:r>
            <a:endParaRPr/>
          </a:p>
          <a:p>
            <a:pPr indent="457200" lvl="0" marL="457200" rtl="0" algn="l">
              <a:spcBef>
                <a:spcPts val="1200"/>
              </a:spcBef>
              <a:spcAft>
                <a:spcPts val="0"/>
              </a:spcAft>
              <a:buNone/>
            </a:pPr>
            <a:r>
              <a:rPr lang="en"/>
              <a:t>public void init(ServletConfig config){</a:t>
            </a:r>
            <a:endParaRPr/>
          </a:p>
          <a:p>
            <a:pPr indent="457200" lvl="0" marL="914400" rtl="0" algn="l">
              <a:spcBef>
                <a:spcPts val="1200"/>
              </a:spcBef>
              <a:spcAft>
                <a:spcPts val="0"/>
              </a:spcAft>
              <a:buNone/>
            </a:pPr>
            <a:r>
              <a:rPr lang="en"/>
              <a:t>String drivername = config.getInitParameter(“driver”); </a:t>
            </a:r>
            <a:endParaRPr/>
          </a:p>
          <a:p>
            <a:pPr indent="457200" lvl="0" marL="457200" rtl="0" algn="l">
              <a:spcBef>
                <a:spcPts val="1200"/>
              </a:spcBef>
              <a:spcAft>
                <a:spcPts val="0"/>
              </a:spcAft>
              <a:buNone/>
            </a:pPr>
            <a:r>
              <a:rPr lang="en"/>
              <a:t>}  </a:t>
            </a:r>
            <a:endParaRPr/>
          </a:p>
          <a:p>
            <a:pPr indent="-317182" lvl="0" marL="457200" rtl="0" algn="l">
              <a:spcBef>
                <a:spcPts val="1200"/>
              </a:spcBef>
              <a:spcAft>
                <a:spcPts val="0"/>
              </a:spcAft>
              <a:buSzPct val="100000"/>
              <a:buChar char="●"/>
            </a:pPr>
            <a:r>
              <a:rPr lang="en"/>
              <a:t>As you can see from the above code, the ServletConfig class defines a method named getInitParameter() that takes the name of the initialization parameter defined in the web.xml for that servlet, and returns the value. </a:t>
            </a:r>
            <a:endParaRPr/>
          </a:p>
          <a:p>
            <a:pPr indent="-317182" lvl="0" marL="457200" rtl="0" algn="l">
              <a:spcBef>
                <a:spcPts val="0"/>
              </a:spcBef>
              <a:spcAft>
                <a:spcPts val="0"/>
              </a:spcAft>
              <a:buSzPct val="100000"/>
              <a:buChar char="●"/>
            </a:pPr>
            <a:r>
              <a:rPr lang="en"/>
              <a:t>Therefore drivername will be initialized with com.mysql.jdbc.Driver. </a:t>
            </a:r>
            <a:endParaRPr/>
          </a:p>
          <a:p>
            <a:pPr indent="-317182" lvl="0" marL="457200" rtl="0" algn="l">
              <a:spcBef>
                <a:spcPts val="0"/>
              </a:spcBef>
              <a:spcAft>
                <a:spcPts val="0"/>
              </a:spcAft>
              <a:buSzPct val="100000"/>
              <a:buChar char="●"/>
            </a:pPr>
            <a:r>
              <a:rPr lang="en"/>
              <a:t>As you can see from the above code, the ServletConfig class defines a method named getInitParameter() that takes the name of the initialization parameter defined in the web.xml for that servlet, and returns the value.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Reading HTML Form Data  </a:t>
            </a:r>
            <a:endParaRPr/>
          </a:p>
        </p:txBody>
      </p:sp>
      <p:sp>
        <p:nvSpPr>
          <p:cNvPr id="186" name="Google Shape;186;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HTML form processing is one of the most common things that any web application does. </a:t>
            </a:r>
            <a:endParaRPr/>
          </a:p>
          <a:p>
            <a:pPr indent="-342900" lvl="0" marL="457200" rtl="0" algn="l">
              <a:spcBef>
                <a:spcPts val="0"/>
              </a:spcBef>
              <a:spcAft>
                <a:spcPts val="0"/>
              </a:spcAft>
              <a:buSzPts val="1800"/>
              <a:buChar char="●"/>
            </a:pPr>
            <a:r>
              <a:rPr lang="en"/>
              <a:t>On various websites user fill in html form with all the information and submit it for processing. </a:t>
            </a:r>
            <a:endParaRPr/>
          </a:p>
          <a:p>
            <a:pPr indent="-342900" lvl="0" marL="457200" rtl="0" algn="l">
              <a:spcBef>
                <a:spcPts val="0"/>
              </a:spcBef>
              <a:spcAft>
                <a:spcPts val="0"/>
              </a:spcAft>
              <a:buSzPts val="1800"/>
              <a:buChar char="●"/>
            </a:pPr>
            <a:r>
              <a:rPr lang="en"/>
              <a:t>The application then responds with a confirmation message something like “information is successfully processed”.   </a:t>
            </a:r>
            <a:endParaRPr/>
          </a:p>
          <a:p>
            <a:pPr indent="-342900" lvl="0" marL="457200" rtl="0" algn="l">
              <a:spcBef>
                <a:spcPts val="0"/>
              </a:spcBef>
              <a:spcAft>
                <a:spcPts val="0"/>
              </a:spcAft>
              <a:buSzPts val="1800"/>
              <a:buChar char="●"/>
            </a:pPr>
            <a:r>
              <a:rPr lang="en"/>
              <a:t>Following are the steps for processing a HTML form using a Servlet  </a:t>
            </a:r>
            <a:endParaRPr/>
          </a:p>
          <a:p>
            <a:pPr indent="-317500" lvl="1" marL="914400" rtl="0" algn="l">
              <a:spcBef>
                <a:spcPts val="0"/>
              </a:spcBef>
              <a:spcAft>
                <a:spcPts val="0"/>
              </a:spcAft>
              <a:buSzPts val="1400"/>
              <a:buChar char="○"/>
            </a:pPr>
            <a:r>
              <a:rPr lang="en"/>
              <a:t>User fills the data in the html page and submits it. </a:t>
            </a:r>
            <a:endParaRPr/>
          </a:p>
          <a:p>
            <a:pPr indent="-317500" lvl="1" marL="914400" rtl="0" algn="l">
              <a:spcBef>
                <a:spcPts val="0"/>
              </a:spcBef>
              <a:spcAft>
                <a:spcPts val="0"/>
              </a:spcAft>
              <a:buSzPts val="1400"/>
              <a:buChar char="○"/>
            </a:pPr>
            <a:r>
              <a:rPr lang="en"/>
              <a:t>The form data will then be sent to Servlet </a:t>
            </a:r>
            <a:endParaRPr/>
          </a:p>
          <a:p>
            <a:pPr indent="-317500" lvl="1" marL="914400" rtl="0" algn="l">
              <a:spcBef>
                <a:spcPts val="0"/>
              </a:spcBef>
              <a:spcAft>
                <a:spcPts val="0"/>
              </a:spcAft>
              <a:buSzPts val="1400"/>
              <a:buChar char="○"/>
            </a:pPr>
            <a:r>
              <a:rPr lang="en"/>
              <a:t>Servlet reads the form data, processes it and send a confirmation.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Session Management</a:t>
            </a:r>
            <a:endParaRPr/>
          </a:p>
        </p:txBody>
      </p:sp>
      <p:sp>
        <p:nvSpPr>
          <p:cNvPr id="192" name="Google Shape;19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examples we saw until now just deal with one servlet. However, a typical web application comprises of several servlets that require collaborating with each other to give a complete response. </a:t>
            </a:r>
            <a:endParaRPr/>
          </a:p>
          <a:p>
            <a:pPr indent="-342900" lvl="0" marL="457200" rtl="0" algn="l">
              <a:spcBef>
                <a:spcPts val="0"/>
              </a:spcBef>
              <a:spcAft>
                <a:spcPts val="0"/>
              </a:spcAft>
              <a:buSzPts val="1800"/>
              <a:buChar char="●"/>
            </a:pPr>
            <a:r>
              <a:rPr lang="en"/>
              <a:t>For instance, if you go online to purchase a book, you need to go through multiple pages like search page, shopping page, billing page etc before you can complete the transaction. </a:t>
            </a:r>
            <a:endParaRPr/>
          </a:p>
          <a:p>
            <a:pPr indent="-342900" lvl="0" marL="457200" rtl="0" algn="l">
              <a:spcBef>
                <a:spcPts val="0"/>
              </a:spcBef>
              <a:spcAft>
                <a:spcPts val="0"/>
              </a:spcAft>
              <a:buSzPts val="1800"/>
              <a:buChar char="●"/>
            </a:pPr>
            <a:r>
              <a:rPr lang="en"/>
              <a:t>In situations like this, it is important that one servlet shares information or data with other servlet.  </a:t>
            </a:r>
            <a:endParaRPr/>
          </a:p>
          <a:p>
            <a:pPr indent="-342900" lvl="0" marL="457200" rtl="0" algn="l">
              <a:spcBef>
                <a:spcPts val="0"/>
              </a:spcBef>
              <a:spcAft>
                <a:spcPts val="0"/>
              </a:spcAft>
              <a:buSzPts val="1800"/>
              <a:buChar char="●"/>
            </a:pPr>
            <a:r>
              <a:rPr lang="en"/>
              <a:t>In web application terminology we call the shared data or information as state. Having state is just not sufficient. Someone must be able to pass this state from one servlet to </a:t>
            </a:r>
            <a:r>
              <a:rPr lang="en"/>
              <a:t>another</a:t>
            </a:r>
            <a:r>
              <a:rPr lang="en"/>
              <a:t> servlet so that they can share the data.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8" name="Google Shape;19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web container provides a common storage area called as session which store the state and provides access to this session to all the servlets within the web application. </a:t>
            </a:r>
            <a:endParaRPr/>
          </a:p>
          <a:p>
            <a:pPr indent="-342900" lvl="0" marL="457200" rtl="0" algn="l">
              <a:spcBef>
                <a:spcPts val="0"/>
              </a:spcBef>
              <a:spcAft>
                <a:spcPts val="0"/>
              </a:spcAft>
              <a:buSzPts val="1800"/>
              <a:buChar char="●"/>
            </a:pPr>
            <a:r>
              <a:rPr lang="en"/>
              <a:t>For instance, servlet A can create some state (information) and store it in the session. Servlet B can then get hold of the session and read the state.   </a:t>
            </a:r>
            <a:endParaRPr/>
          </a:p>
          <a:p>
            <a:pPr indent="-342900" lvl="0" marL="457200" rtl="0" algn="l">
              <a:spcBef>
                <a:spcPts val="0"/>
              </a:spcBef>
              <a:spcAft>
                <a:spcPts val="0"/>
              </a:spcAft>
              <a:buSzPts val="1800"/>
              <a:buChar char="●"/>
            </a:pPr>
            <a:r>
              <a:rPr lang="en"/>
              <a:t>Since the state (data or information) in the session is user specific, the web container maintains a separate session for each and every user as shown in the following diagram.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39"/>
          <p:cNvPicPr preferRelativeResize="0"/>
          <p:nvPr/>
        </p:nvPicPr>
        <p:blipFill>
          <a:blip r:embed="rId3">
            <a:alphaModFix/>
          </a:blip>
          <a:stretch>
            <a:fillRect/>
          </a:stretch>
        </p:blipFill>
        <p:spPr>
          <a:xfrm>
            <a:off x="1837800" y="461275"/>
            <a:ext cx="6105525" cy="43338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If you look at the above figure, every user will have his own session object for storing the state pertaining to his transaction and all the servlets will have access to the same session. Also notice, the session objects are present within the container.   </a:t>
            </a:r>
            <a:endParaRPr/>
          </a:p>
          <a:p>
            <a:pPr indent="-342900" lvl="0" marL="457200" rtl="0" algn="l">
              <a:spcBef>
                <a:spcPts val="0"/>
              </a:spcBef>
              <a:spcAft>
                <a:spcPts val="0"/>
              </a:spcAft>
              <a:buSzPts val="1800"/>
              <a:buChar char="●"/>
            </a:pPr>
            <a:r>
              <a:rPr lang="en"/>
              <a:t>Now that we know what a session is, let’s see how a servlet uses the session for sharing the data across multiple pages in a web application. A servlet can do the following four most important operations to work with sessions.  </a:t>
            </a:r>
            <a:endParaRPr/>
          </a:p>
          <a:p>
            <a:pPr indent="-317500" lvl="1" marL="914400" rtl="0" algn="l">
              <a:spcBef>
                <a:spcPts val="0"/>
              </a:spcBef>
              <a:spcAft>
                <a:spcPts val="0"/>
              </a:spcAft>
              <a:buSzPts val="1400"/>
              <a:buChar char="○"/>
            </a:pPr>
            <a:r>
              <a:rPr lang="en"/>
              <a:t>Create the session </a:t>
            </a:r>
            <a:endParaRPr/>
          </a:p>
          <a:p>
            <a:pPr indent="-317500" lvl="1" marL="914400" rtl="0" algn="l">
              <a:spcBef>
                <a:spcPts val="0"/>
              </a:spcBef>
              <a:spcAft>
                <a:spcPts val="0"/>
              </a:spcAft>
              <a:buSzPts val="1400"/>
              <a:buChar char="○"/>
            </a:pPr>
            <a:r>
              <a:rPr lang="en"/>
              <a:t>Store the data in the session </a:t>
            </a:r>
            <a:endParaRPr/>
          </a:p>
          <a:p>
            <a:pPr indent="-317500" lvl="1" marL="914400" rtl="0" algn="l">
              <a:spcBef>
                <a:spcPts val="0"/>
              </a:spcBef>
              <a:spcAft>
                <a:spcPts val="0"/>
              </a:spcAft>
              <a:buSzPts val="1400"/>
              <a:buChar char="○"/>
            </a:pPr>
            <a:r>
              <a:rPr lang="en"/>
              <a:t>Read the data from the session </a:t>
            </a:r>
            <a:endParaRPr/>
          </a:p>
          <a:p>
            <a:pPr indent="-317500" lvl="1" marL="914400" rtl="0" algn="l">
              <a:spcBef>
                <a:spcPts val="0"/>
              </a:spcBef>
              <a:spcAft>
                <a:spcPts val="0"/>
              </a:spcAft>
              <a:buSzPts val="1400"/>
              <a:buChar char="○"/>
            </a:pPr>
            <a:r>
              <a:rPr lang="en"/>
              <a:t>Destroy the session or invalidate the session.  </a:t>
            </a:r>
            <a:endParaRPr/>
          </a:p>
          <a:p>
            <a:pPr indent="-342900" lvl="0" marL="457200" rtl="0" algn="l">
              <a:spcBef>
                <a:spcPts val="0"/>
              </a:spcBef>
              <a:spcAft>
                <a:spcPts val="0"/>
              </a:spcAft>
              <a:buSzPts val="1800"/>
              <a:buChar char="●"/>
            </a:pPr>
            <a:r>
              <a:rPr lang="en"/>
              <a:t>The above four operations are called as Session Management operations.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Creating a Session  </a:t>
            </a:r>
            <a:endParaRPr/>
          </a:p>
        </p:txBody>
      </p:sp>
      <p:sp>
        <p:nvSpPr>
          <p:cNvPr id="214" name="Google Shape;21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servlet API provides us with a class called HttpSession to work with sessions. To create a session, we do the following: </a:t>
            </a:r>
            <a:endParaRPr/>
          </a:p>
          <a:p>
            <a:pPr indent="-317500" lvl="1" marL="914400" rtl="0" algn="l">
              <a:spcBef>
                <a:spcPts val="0"/>
              </a:spcBef>
              <a:spcAft>
                <a:spcPts val="0"/>
              </a:spcAft>
              <a:buSzPts val="1400"/>
              <a:buChar char="○"/>
            </a:pPr>
            <a:r>
              <a:rPr lang="en"/>
              <a:t>HttpSession session = request.getSession();</a:t>
            </a:r>
            <a:endParaRPr/>
          </a:p>
          <a:p>
            <a:pPr indent="-342900" lvl="0" marL="457200" rtl="0" algn="l">
              <a:spcBef>
                <a:spcPts val="0"/>
              </a:spcBef>
              <a:spcAft>
                <a:spcPts val="0"/>
              </a:spcAft>
              <a:buSzPts val="1800"/>
              <a:buChar char="●"/>
            </a:pPr>
            <a:r>
              <a:rPr lang="en"/>
              <a:t>The above method returns a new session object if one is not present, otherwise it returns the old session object that is already created before.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Storing the data in Session  </a:t>
            </a:r>
            <a:endParaRPr/>
          </a:p>
        </p:txBody>
      </p:sp>
      <p:sp>
        <p:nvSpPr>
          <p:cNvPr id="220" name="Google Shape;22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Data in session is stored as key-value pair just like in HashMap or Hashtable. The value can be any Java object and the key is usually a String. To store the data we use the setAttribute() method as shown below:</a:t>
            </a:r>
            <a:endParaRPr/>
          </a:p>
          <a:p>
            <a:pPr indent="-317500" lvl="1" marL="914400" rtl="0" algn="l">
              <a:spcBef>
                <a:spcPts val="0"/>
              </a:spcBef>
              <a:spcAft>
                <a:spcPts val="0"/>
              </a:spcAft>
              <a:buSzPts val="1400"/>
              <a:buChar char="○"/>
            </a:pPr>
            <a:r>
              <a:rPr lang="en"/>
              <a:t>session.setAttribute(“price”,new Double(“12.45”)); </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Reading the data from the Session  </a:t>
            </a:r>
            <a:endParaRPr/>
          </a:p>
        </p:txBody>
      </p:sp>
      <p:sp>
        <p:nvSpPr>
          <p:cNvPr id="226" name="Google Shape;22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read the data, we need to use the getAttribute() method by passing in the key as shown below which then returns the value object: </a:t>
            </a:r>
            <a:endParaRPr/>
          </a:p>
          <a:p>
            <a:pPr indent="-317500" lvl="1" marL="914400" rtl="0" algn="l">
              <a:spcBef>
                <a:spcPts val="0"/>
              </a:spcBef>
              <a:spcAft>
                <a:spcPts val="0"/>
              </a:spcAft>
              <a:buSzPts val="1400"/>
              <a:buChar char="○"/>
            </a:pPr>
            <a:r>
              <a:rPr lang="en"/>
              <a:t>Double d = (Double)session.getAttribute(“price”);</a:t>
            </a:r>
            <a:endParaRPr/>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Destroying the Session  </a:t>
            </a:r>
            <a:endParaRPr/>
          </a:p>
        </p:txBody>
      </p:sp>
      <p:sp>
        <p:nvSpPr>
          <p:cNvPr id="232" name="Google Shape;23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session is usually destroyed by the last page or servlet in the web application. A session is destroyed by invoking the invalidate() method as shown below:  </a:t>
            </a:r>
            <a:endParaRPr/>
          </a:p>
          <a:p>
            <a:pPr indent="-317500" lvl="1" marL="914400" rtl="0" algn="l">
              <a:spcBef>
                <a:spcPts val="0"/>
              </a:spcBef>
              <a:spcAft>
                <a:spcPts val="0"/>
              </a:spcAft>
              <a:buSzPts val="1400"/>
              <a:buChar char="○"/>
            </a:pPr>
            <a:r>
              <a:rPr lang="en"/>
              <a:t>session.invalidate(); </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Cookies</a:t>
            </a:r>
            <a:endParaRPr/>
          </a:p>
        </p:txBody>
      </p:sp>
      <p:pic>
        <p:nvPicPr>
          <p:cNvPr id="238" name="Google Shape;238;p45"/>
          <p:cNvPicPr preferRelativeResize="0"/>
          <p:nvPr/>
        </p:nvPicPr>
        <p:blipFill>
          <a:blip r:embed="rId3">
            <a:alphaModFix/>
          </a:blip>
          <a:stretch>
            <a:fillRect/>
          </a:stretch>
        </p:blipFill>
        <p:spPr>
          <a:xfrm>
            <a:off x="673375" y="1017725"/>
            <a:ext cx="7641950" cy="3820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4" name="Google Shape;24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Cookies are the textual information that is stored in key-value pair format to the client’s browser during multiple requests.</a:t>
            </a:r>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0" name="Google Shape;25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marR="25400" rtl="0" algn="l">
              <a:lnSpc>
                <a:spcPct val="156250"/>
              </a:lnSpc>
              <a:spcBef>
                <a:spcPts val="3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&lt;form action=</a:t>
            </a:r>
            <a:r>
              <a:rPr lang="en" sz="1200">
                <a:solidFill>
                  <a:srgbClr val="0000FF"/>
                </a:solidFill>
                <a:latin typeface="Roboto"/>
                <a:ea typeface="Roboto"/>
                <a:cs typeface="Roboto"/>
                <a:sym typeface="Roboto"/>
              </a:rPr>
              <a:t>"hello"</a:t>
            </a:r>
            <a:r>
              <a:rPr lang="en" sz="1200">
                <a:solidFill>
                  <a:schemeClr val="dk1"/>
                </a:solidFill>
                <a:latin typeface="Roboto"/>
                <a:ea typeface="Roboto"/>
                <a:cs typeface="Roboto"/>
                <a:sym typeface="Roboto"/>
              </a:rPr>
              <a:t> method=</a:t>
            </a:r>
            <a:r>
              <a:rPr lang="en" sz="1200">
                <a:solidFill>
                  <a:srgbClr val="0000FF"/>
                </a:solidFill>
                <a:latin typeface="Roboto"/>
                <a:ea typeface="Roboto"/>
                <a:cs typeface="Roboto"/>
                <a:sym typeface="Roboto"/>
              </a:rPr>
              <a:t>"post"</a:t>
            </a:r>
            <a:r>
              <a:rPr lang="en" sz="1200">
                <a:solidFill>
                  <a:schemeClr val="dk1"/>
                </a:solidFill>
                <a:latin typeface="Roboto"/>
                <a:ea typeface="Roboto"/>
                <a:cs typeface="Roboto"/>
                <a:sym typeface="Roboto"/>
              </a:rPr>
              <a:t>&gt;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Name:&lt;input type=</a:t>
            </a:r>
            <a:r>
              <a:rPr lang="en" sz="1200">
                <a:solidFill>
                  <a:srgbClr val="0000FF"/>
                </a:solidFill>
                <a:latin typeface="Roboto"/>
                <a:ea typeface="Roboto"/>
                <a:cs typeface="Roboto"/>
                <a:sym typeface="Roboto"/>
              </a:rPr>
              <a:t>"text"</a:t>
            </a:r>
            <a:r>
              <a:rPr lang="en" sz="1200">
                <a:solidFill>
                  <a:schemeClr val="dk1"/>
                </a:solidFill>
                <a:latin typeface="Roboto"/>
                <a:ea typeface="Roboto"/>
                <a:cs typeface="Roboto"/>
                <a:sym typeface="Roboto"/>
              </a:rPr>
              <a:t> name=</a:t>
            </a:r>
            <a:r>
              <a:rPr lang="en" sz="1200">
                <a:solidFill>
                  <a:srgbClr val="0000FF"/>
                </a:solidFill>
                <a:latin typeface="Roboto"/>
                <a:ea typeface="Roboto"/>
                <a:cs typeface="Roboto"/>
                <a:sym typeface="Roboto"/>
              </a:rPr>
              <a:t>"userName"</a:t>
            </a:r>
            <a:r>
              <a:rPr lang="en" sz="1200">
                <a:solidFill>
                  <a:schemeClr val="dk1"/>
                </a:solidFill>
                <a:latin typeface="Roboto"/>
                <a:ea typeface="Roboto"/>
                <a:cs typeface="Roboto"/>
                <a:sym typeface="Roboto"/>
              </a:rPr>
              <a:t>/&gt;&lt;br/&gt;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&lt;input type=</a:t>
            </a:r>
            <a:r>
              <a:rPr lang="en" sz="1200">
                <a:solidFill>
                  <a:srgbClr val="0000FF"/>
                </a:solidFill>
                <a:latin typeface="Roboto"/>
                <a:ea typeface="Roboto"/>
                <a:cs typeface="Roboto"/>
                <a:sym typeface="Roboto"/>
              </a:rPr>
              <a:t>"submit"</a:t>
            </a:r>
            <a:r>
              <a:rPr lang="en" sz="1200">
                <a:solidFill>
                  <a:schemeClr val="dk1"/>
                </a:solidFill>
                <a:latin typeface="Roboto"/>
                <a:ea typeface="Roboto"/>
                <a:cs typeface="Roboto"/>
                <a:sym typeface="Roboto"/>
              </a:rPr>
              <a:t> value=</a:t>
            </a:r>
            <a:r>
              <a:rPr lang="en" sz="1200">
                <a:solidFill>
                  <a:srgbClr val="0000FF"/>
                </a:solidFill>
                <a:latin typeface="Roboto"/>
                <a:ea typeface="Roboto"/>
                <a:cs typeface="Roboto"/>
                <a:sym typeface="Roboto"/>
              </a:rPr>
              <a:t>"go"</a:t>
            </a:r>
            <a:r>
              <a:rPr lang="en" sz="1200">
                <a:solidFill>
                  <a:schemeClr val="dk1"/>
                </a:solidFill>
                <a:latin typeface="Roboto"/>
                <a:ea typeface="Roboto"/>
                <a:cs typeface="Roboto"/>
                <a:sym typeface="Roboto"/>
              </a:rPr>
              <a:t>/&gt;  </a:t>
            </a:r>
            <a:endParaRPr sz="1200">
              <a:solidFill>
                <a:schemeClr val="dk1"/>
              </a:solidFill>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&lt;/form&gt;  </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8"/>
          <p:cNvSpPr txBox="1"/>
          <p:nvPr>
            <p:ph idx="1" type="body"/>
          </p:nvPr>
        </p:nvSpPr>
        <p:spPr>
          <a:xfrm>
            <a:off x="264625" y="396925"/>
            <a:ext cx="8567700" cy="4172100"/>
          </a:xfrm>
          <a:prstGeom prst="rect">
            <a:avLst/>
          </a:prstGeom>
        </p:spPr>
        <p:txBody>
          <a:bodyPr anchorCtr="0" anchor="t" bIns="91425" lIns="91425" spcFirstLastPara="1" rIns="91425" wrap="square" tIns="91425">
            <a:normAutofit/>
          </a:bodyPr>
          <a:lstStyle/>
          <a:p>
            <a:pPr indent="0" lvl="0" marL="0" marR="25400" rtl="0" algn="l">
              <a:lnSpc>
                <a:spcPct val="156250"/>
              </a:lnSpc>
              <a:spcBef>
                <a:spcPts val="300"/>
              </a:spcBef>
              <a:spcAft>
                <a:spcPts val="0"/>
              </a:spcAft>
              <a:buNone/>
            </a:pPr>
            <a:r>
              <a:rPr b="1" lang="en" sz="1200">
                <a:solidFill>
                  <a:srgbClr val="006699"/>
                </a:solidFill>
                <a:latin typeface="Roboto"/>
                <a:ea typeface="Roboto"/>
                <a:cs typeface="Roboto"/>
                <a:sym typeface="Roboto"/>
              </a:rPr>
              <a:t>public</a:t>
            </a:r>
            <a:r>
              <a:rPr lang="en" sz="1200">
                <a:solidFill>
                  <a:schemeClr val="dk1"/>
                </a:solidFill>
                <a:latin typeface="Roboto"/>
                <a:ea typeface="Roboto"/>
                <a:cs typeface="Roboto"/>
                <a:sym typeface="Roboto"/>
              </a:rPr>
              <a:t> </a:t>
            </a:r>
            <a:r>
              <a:rPr b="1" lang="en" sz="1200">
                <a:solidFill>
                  <a:srgbClr val="006699"/>
                </a:solidFill>
                <a:latin typeface="Roboto"/>
                <a:ea typeface="Roboto"/>
                <a:cs typeface="Roboto"/>
                <a:sym typeface="Roboto"/>
              </a:rPr>
              <a:t>class</a:t>
            </a:r>
            <a:r>
              <a:rPr lang="en" sz="1200">
                <a:solidFill>
                  <a:schemeClr val="dk1"/>
                </a:solidFill>
                <a:latin typeface="Roboto"/>
                <a:ea typeface="Roboto"/>
                <a:cs typeface="Roboto"/>
                <a:sym typeface="Roboto"/>
              </a:rPr>
              <a:t> FirstServlet </a:t>
            </a:r>
            <a:r>
              <a:rPr b="1" lang="en" sz="1200">
                <a:solidFill>
                  <a:srgbClr val="006699"/>
                </a:solidFill>
                <a:latin typeface="Roboto"/>
                <a:ea typeface="Roboto"/>
                <a:cs typeface="Roboto"/>
                <a:sym typeface="Roboto"/>
              </a:rPr>
              <a:t>extends</a:t>
            </a:r>
            <a:r>
              <a:rPr lang="en" sz="1200">
                <a:solidFill>
                  <a:schemeClr val="dk1"/>
                </a:solidFill>
                <a:latin typeface="Roboto"/>
                <a:ea typeface="Roboto"/>
                <a:cs typeface="Roboto"/>
                <a:sym typeface="Roboto"/>
              </a:rPr>
              <a:t> HttpServlet {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a:t>
            </a:r>
            <a:r>
              <a:rPr b="1" lang="en" sz="1200">
                <a:solidFill>
                  <a:srgbClr val="006699"/>
                </a:solidFill>
                <a:latin typeface="Roboto"/>
                <a:ea typeface="Roboto"/>
                <a:cs typeface="Roboto"/>
                <a:sym typeface="Roboto"/>
              </a:rPr>
              <a:t>public</a:t>
            </a:r>
            <a:r>
              <a:rPr lang="en" sz="1200">
                <a:solidFill>
                  <a:schemeClr val="dk1"/>
                </a:solidFill>
                <a:latin typeface="Roboto"/>
                <a:ea typeface="Roboto"/>
                <a:cs typeface="Roboto"/>
                <a:sym typeface="Roboto"/>
              </a:rPr>
              <a:t> </a:t>
            </a:r>
            <a:r>
              <a:rPr b="1" lang="en" sz="1200">
                <a:solidFill>
                  <a:srgbClr val="006699"/>
                </a:solidFill>
                <a:latin typeface="Roboto"/>
                <a:ea typeface="Roboto"/>
                <a:cs typeface="Roboto"/>
                <a:sym typeface="Roboto"/>
              </a:rPr>
              <a:t>void</a:t>
            </a:r>
            <a:r>
              <a:rPr lang="en" sz="1200">
                <a:solidFill>
                  <a:schemeClr val="dk1"/>
                </a:solidFill>
                <a:latin typeface="Roboto"/>
                <a:ea typeface="Roboto"/>
                <a:cs typeface="Roboto"/>
                <a:sym typeface="Roboto"/>
              </a:rPr>
              <a:t> doPost(HttpServletRequest request, HttpServletResponse response){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response.setContentType(</a:t>
            </a:r>
            <a:r>
              <a:rPr lang="en" sz="1200">
                <a:solidFill>
                  <a:srgbClr val="0000FF"/>
                </a:solidFill>
                <a:latin typeface="Roboto"/>
                <a:ea typeface="Roboto"/>
                <a:cs typeface="Roboto"/>
                <a:sym typeface="Roboto"/>
              </a:rPr>
              <a:t>"text/html"</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PrintWriter out = response.getWriter();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String n=request.getParameter(</a:t>
            </a:r>
            <a:r>
              <a:rPr lang="en" sz="1200">
                <a:solidFill>
                  <a:srgbClr val="0000FF"/>
                </a:solidFill>
                <a:latin typeface="Roboto"/>
                <a:ea typeface="Roboto"/>
                <a:cs typeface="Roboto"/>
                <a:sym typeface="Roboto"/>
              </a:rPr>
              <a:t>"userName"</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out.print(</a:t>
            </a:r>
            <a:r>
              <a:rPr lang="en" sz="1200">
                <a:solidFill>
                  <a:srgbClr val="0000FF"/>
                </a:solidFill>
                <a:latin typeface="Roboto"/>
                <a:ea typeface="Roboto"/>
                <a:cs typeface="Roboto"/>
                <a:sym typeface="Roboto"/>
              </a:rPr>
              <a:t>"Welcome "</a:t>
            </a:r>
            <a:r>
              <a:rPr lang="en" sz="1200">
                <a:solidFill>
                  <a:schemeClr val="dk1"/>
                </a:solidFill>
                <a:latin typeface="Roboto"/>
                <a:ea typeface="Roboto"/>
                <a:cs typeface="Roboto"/>
                <a:sym typeface="Roboto"/>
              </a:rPr>
              <a:t>+n);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Cookie ck=</a:t>
            </a:r>
            <a:r>
              <a:rPr b="1" lang="en" sz="1200">
                <a:solidFill>
                  <a:srgbClr val="006699"/>
                </a:solidFill>
                <a:latin typeface="Roboto"/>
                <a:ea typeface="Roboto"/>
                <a:cs typeface="Roboto"/>
                <a:sym typeface="Roboto"/>
              </a:rPr>
              <a:t>new</a:t>
            </a:r>
            <a:r>
              <a:rPr lang="en" sz="1200">
                <a:solidFill>
                  <a:schemeClr val="dk1"/>
                </a:solidFill>
                <a:latin typeface="Roboto"/>
                <a:ea typeface="Roboto"/>
                <a:cs typeface="Roboto"/>
                <a:sym typeface="Roboto"/>
              </a:rPr>
              <a:t> Cookie(</a:t>
            </a:r>
            <a:r>
              <a:rPr lang="en" sz="1200">
                <a:solidFill>
                  <a:srgbClr val="0000FF"/>
                </a:solidFill>
                <a:latin typeface="Roboto"/>
                <a:ea typeface="Roboto"/>
                <a:cs typeface="Roboto"/>
                <a:sym typeface="Roboto"/>
              </a:rPr>
              <a:t>"uname"</a:t>
            </a:r>
            <a:r>
              <a:rPr lang="en" sz="1200">
                <a:solidFill>
                  <a:schemeClr val="dk1"/>
                </a:solidFill>
                <a:latin typeface="Roboto"/>
                <a:ea typeface="Roboto"/>
                <a:cs typeface="Roboto"/>
                <a:sym typeface="Roboto"/>
              </a:rPr>
              <a:t>,n);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response.addCookie(ck);    out.print(</a:t>
            </a:r>
            <a:r>
              <a:rPr lang="en" sz="1200">
                <a:solidFill>
                  <a:srgbClr val="0000FF"/>
                </a:solidFill>
                <a:latin typeface="Roboto"/>
                <a:ea typeface="Roboto"/>
                <a:cs typeface="Roboto"/>
                <a:sym typeface="Roboto"/>
              </a:rPr>
              <a:t>"&lt;form action='servlet2'&gt;"</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out.print(</a:t>
            </a:r>
            <a:r>
              <a:rPr lang="en" sz="1200">
                <a:solidFill>
                  <a:srgbClr val="0000FF"/>
                </a:solidFill>
                <a:latin typeface="Roboto"/>
                <a:ea typeface="Roboto"/>
                <a:cs typeface="Roboto"/>
                <a:sym typeface="Roboto"/>
              </a:rPr>
              <a:t>"&lt;input type='submit' value='go'&gt;"</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out.print(</a:t>
            </a:r>
            <a:r>
              <a:rPr lang="en" sz="1200">
                <a:solidFill>
                  <a:srgbClr val="0000FF"/>
                </a:solidFill>
                <a:latin typeface="Roboto"/>
                <a:ea typeface="Roboto"/>
                <a:cs typeface="Roboto"/>
                <a:sym typeface="Roboto"/>
              </a:rPr>
              <a:t>"&lt;/form&gt;"</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out.close();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marR="25400" rtl="0" algn="l">
              <a:lnSpc>
                <a:spcPct val="156250"/>
              </a:lnSpc>
              <a:spcBef>
                <a:spcPts val="300"/>
              </a:spcBef>
              <a:spcAft>
                <a:spcPts val="0"/>
              </a:spcAft>
              <a:buNone/>
            </a:pPr>
            <a:r>
              <a:rPr b="1" lang="en" sz="1200">
                <a:solidFill>
                  <a:srgbClr val="006699"/>
                </a:solidFill>
                <a:latin typeface="Roboto"/>
                <a:ea typeface="Roboto"/>
                <a:cs typeface="Roboto"/>
                <a:sym typeface="Roboto"/>
              </a:rPr>
              <a:t>public</a:t>
            </a:r>
            <a:r>
              <a:rPr lang="en" sz="1200">
                <a:solidFill>
                  <a:schemeClr val="dk1"/>
                </a:solidFill>
                <a:latin typeface="Roboto"/>
                <a:ea typeface="Roboto"/>
                <a:cs typeface="Roboto"/>
                <a:sym typeface="Roboto"/>
              </a:rPr>
              <a:t> </a:t>
            </a:r>
            <a:r>
              <a:rPr b="1" lang="en" sz="1200">
                <a:solidFill>
                  <a:srgbClr val="006699"/>
                </a:solidFill>
                <a:latin typeface="Roboto"/>
                <a:ea typeface="Roboto"/>
                <a:cs typeface="Roboto"/>
                <a:sym typeface="Roboto"/>
              </a:rPr>
              <a:t>class</a:t>
            </a:r>
            <a:r>
              <a:rPr lang="en" sz="1200">
                <a:solidFill>
                  <a:schemeClr val="dk1"/>
                </a:solidFill>
                <a:latin typeface="Roboto"/>
                <a:ea typeface="Roboto"/>
                <a:cs typeface="Roboto"/>
                <a:sym typeface="Roboto"/>
              </a:rPr>
              <a:t> SecondServlet </a:t>
            </a:r>
            <a:r>
              <a:rPr b="1" lang="en" sz="1200">
                <a:solidFill>
                  <a:srgbClr val="006699"/>
                </a:solidFill>
                <a:latin typeface="Roboto"/>
                <a:ea typeface="Roboto"/>
                <a:cs typeface="Roboto"/>
                <a:sym typeface="Roboto"/>
              </a:rPr>
              <a:t>extends</a:t>
            </a:r>
            <a:r>
              <a:rPr lang="en" sz="1200">
                <a:solidFill>
                  <a:schemeClr val="dk1"/>
                </a:solidFill>
                <a:latin typeface="Roboto"/>
                <a:ea typeface="Roboto"/>
                <a:cs typeface="Roboto"/>
                <a:sym typeface="Roboto"/>
              </a:rPr>
              <a:t> HttpServlet {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b="1" lang="en" sz="1200">
                <a:solidFill>
                  <a:srgbClr val="006699"/>
                </a:solidFill>
                <a:latin typeface="Roboto"/>
                <a:ea typeface="Roboto"/>
                <a:cs typeface="Roboto"/>
                <a:sym typeface="Roboto"/>
              </a:rPr>
              <a:t>public</a:t>
            </a:r>
            <a:r>
              <a:rPr lang="en" sz="1200">
                <a:solidFill>
                  <a:schemeClr val="dk1"/>
                </a:solidFill>
                <a:latin typeface="Roboto"/>
                <a:ea typeface="Roboto"/>
                <a:cs typeface="Roboto"/>
                <a:sym typeface="Roboto"/>
              </a:rPr>
              <a:t> </a:t>
            </a:r>
            <a:r>
              <a:rPr b="1" lang="en" sz="1200">
                <a:solidFill>
                  <a:srgbClr val="006699"/>
                </a:solidFill>
                <a:latin typeface="Roboto"/>
                <a:ea typeface="Roboto"/>
                <a:cs typeface="Roboto"/>
                <a:sym typeface="Roboto"/>
              </a:rPr>
              <a:t>void</a:t>
            </a:r>
            <a:r>
              <a:rPr lang="en" sz="1200">
                <a:solidFill>
                  <a:schemeClr val="dk1"/>
                </a:solidFill>
                <a:latin typeface="Roboto"/>
                <a:ea typeface="Roboto"/>
                <a:cs typeface="Roboto"/>
                <a:sym typeface="Roboto"/>
              </a:rPr>
              <a:t> doPost(HttpServletRequest request, HttpServletResponse response){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response.setContentType(</a:t>
            </a:r>
            <a:r>
              <a:rPr lang="en" sz="1200">
                <a:solidFill>
                  <a:srgbClr val="0000FF"/>
                </a:solidFill>
                <a:latin typeface="Roboto"/>
                <a:ea typeface="Roboto"/>
                <a:cs typeface="Roboto"/>
                <a:sym typeface="Roboto"/>
              </a:rPr>
              <a:t>"text/html"</a:t>
            </a: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PrintWriter out = response.getWriter();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Cookie ck[]=request.getCookies();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out.print(</a:t>
            </a:r>
            <a:r>
              <a:rPr lang="en" sz="1200">
                <a:solidFill>
                  <a:srgbClr val="0000FF"/>
                </a:solidFill>
                <a:latin typeface="Roboto"/>
                <a:ea typeface="Roboto"/>
                <a:cs typeface="Roboto"/>
                <a:sym typeface="Roboto"/>
              </a:rPr>
              <a:t>"Hello "</a:t>
            </a:r>
            <a:r>
              <a:rPr lang="en" sz="1200">
                <a:solidFill>
                  <a:schemeClr val="dk1"/>
                </a:solidFill>
                <a:latin typeface="Roboto"/>
                <a:ea typeface="Roboto"/>
                <a:cs typeface="Roboto"/>
                <a:sym typeface="Roboto"/>
              </a:rPr>
              <a:t>+ck[</a:t>
            </a:r>
            <a:r>
              <a:rPr lang="en" sz="1200">
                <a:solidFill>
                  <a:srgbClr val="C00000"/>
                </a:solidFill>
                <a:latin typeface="Roboto"/>
                <a:ea typeface="Roboto"/>
                <a:cs typeface="Roboto"/>
                <a:sym typeface="Roboto"/>
              </a:rPr>
              <a:t>0</a:t>
            </a:r>
            <a:r>
              <a:rPr lang="en" sz="1200">
                <a:solidFill>
                  <a:schemeClr val="dk1"/>
                </a:solidFill>
                <a:latin typeface="Roboto"/>
                <a:ea typeface="Roboto"/>
                <a:cs typeface="Roboto"/>
                <a:sym typeface="Roboto"/>
              </a:rPr>
              <a:t>].getValue());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out.close();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  </a:t>
            </a:r>
            <a:endParaRPr sz="1200">
              <a:solidFill>
                <a:schemeClr val="dk1"/>
              </a:solidFill>
              <a:latin typeface="Roboto"/>
              <a:ea typeface="Roboto"/>
              <a:cs typeface="Roboto"/>
              <a:sym typeface="Roboto"/>
            </a:endParaRPr>
          </a:p>
          <a:p>
            <a:pPr indent="0" lvl="0" marL="0" marR="25400" rtl="0" algn="l">
              <a:lnSpc>
                <a:spcPct val="156250"/>
              </a:lnSpc>
              <a:spcBef>
                <a:spcPts val="300"/>
              </a:spcBef>
              <a:spcAft>
                <a:spcPts val="0"/>
              </a:spcAft>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Request Dispatching  </a:t>
            </a:r>
            <a:endParaRPr/>
          </a:p>
        </p:txBody>
      </p:sp>
      <p:sp>
        <p:nvSpPr>
          <p:cNvPr id="266" name="Google Shape;266;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Request dispatching is the ability of one servlet to dispatch or delegate the request to another servlet for processing. </a:t>
            </a:r>
            <a:endParaRPr/>
          </a:p>
          <a:p>
            <a:pPr indent="-342900" lvl="0" marL="457200" rtl="0" algn="l">
              <a:spcBef>
                <a:spcPts val="0"/>
              </a:spcBef>
              <a:spcAft>
                <a:spcPts val="0"/>
              </a:spcAft>
              <a:buSzPts val="1800"/>
              <a:buChar char="●"/>
            </a:pPr>
            <a:r>
              <a:rPr lang="en"/>
              <a:t>In simple words, let's say we have a servlet A which doesn't know how to completely process the request. Therefore, after partially processing the request, it should forward the request to another servlet B. This servlet then does the rest of the processing and sends the final response back to the browser. </a:t>
            </a:r>
            <a:endParaRPr/>
          </a:p>
          <a:p>
            <a:pPr indent="-342900" lvl="0" marL="457200" rtl="0" algn="l">
              <a:spcBef>
                <a:spcPts val="0"/>
              </a:spcBef>
              <a:spcAft>
                <a:spcPts val="0"/>
              </a:spcAft>
              <a:buSzPts val="1800"/>
              <a:buChar char="●"/>
            </a:pPr>
            <a:r>
              <a:rPr lang="en"/>
              <a:t>The class used for dispatching requests is the RequestDispatcher interface in Servlet API. This interface has two methods namely forward() and include().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forward() method</a:t>
            </a:r>
            <a:endParaRPr/>
          </a:p>
        </p:txBody>
      </p:sp>
      <p:sp>
        <p:nvSpPr>
          <p:cNvPr id="272" name="Google Shape;27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method is used for forwarding request from one servlet to another. </a:t>
            </a:r>
            <a:endParaRPr/>
          </a:p>
          <a:p>
            <a:pPr indent="-342900" lvl="0" marL="457200" rtl="0" algn="l">
              <a:spcBef>
                <a:spcPts val="0"/>
              </a:spcBef>
              <a:spcAft>
                <a:spcPts val="0"/>
              </a:spcAft>
              <a:buSzPts val="1800"/>
              <a:buChar char="●"/>
            </a:pPr>
            <a:r>
              <a:rPr lang="en"/>
              <a:t>Consider two servlets A and B. Using this method, A gets the request, which then forwards the request to B, B processes the request and sends the response to the browser. </a:t>
            </a:r>
            <a:endParaRPr/>
          </a:p>
          <a:p>
            <a:pPr indent="-342900" lvl="0" marL="457200" rtl="0" algn="l">
              <a:spcBef>
                <a:spcPts val="0"/>
              </a:spcBef>
              <a:spcAft>
                <a:spcPts val="0"/>
              </a:spcAft>
              <a:buSzPts val="1800"/>
              <a:buChar char="●"/>
            </a:pPr>
            <a:r>
              <a:rPr lang="en"/>
              <a:t>This method takes HttpServletRequest and HttpServletResponse as parameters. </a:t>
            </a:r>
            <a:endParaRPr/>
          </a:p>
          <a:p>
            <a:pPr indent="-317500" lvl="1" marL="914400" rtl="0" algn="l">
              <a:spcBef>
                <a:spcPts val="0"/>
              </a:spcBef>
              <a:spcAft>
                <a:spcPts val="0"/>
              </a:spcAft>
              <a:buSzPts val="1400"/>
              <a:buChar char="○"/>
            </a:pPr>
            <a:r>
              <a:rPr lang="en"/>
              <a:t>RequestDispatcher rd = req.getRequestDispatcher("shop.html");</a:t>
            </a:r>
            <a:endParaRPr/>
          </a:p>
          <a:p>
            <a:pPr indent="-317500" lvl="1" marL="914400" rtl="0" algn="l">
              <a:spcBef>
                <a:spcPts val="0"/>
              </a:spcBef>
              <a:spcAft>
                <a:spcPts val="0"/>
              </a:spcAft>
              <a:buSzPts val="1400"/>
              <a:buChar char="○"/>
            </a:pPr>
            <a:r>
              <a:rPr lang="en"/>
              <a:t>rd.forward(req, res);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52"/>
          <p:cNvPicPr preferRelativeResize="0"/>
          <p:nvPr/>
        </p:nvPicPr>
        <p:blipFill>
          <a:blip r:embed="rId3">
            <a:alphaModFix/>
          </a:blip>
          <a:stretch>
            <a:fillRect/>
          </a:stretch>
        </p:blipFill>
        <p:spPr>
          <a:xfrm>
            <a:off x="1213350" y="958175"/>
            <a:ext cx="5838825" cy="22764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include() method</a:t>
            </a:r>
            <a:endParaRPr/>
          </a:p>
        </p:txBody>
      </p:sp>
      <p:sp>
        <p:nvSpPr>
          <p:cNvPr id="283" name="Google Shape;283;p53"/>
          <p:cNvSpPr txBox="1"/>
          <p:nvPr>
            <p:ph idx="1" type="body"/>
          </p:nvPr>
        </p:nvSpPr>
        <p:spPr>
          <a:xfrm>
            <a:off x="311700" y="1152475"/>
            <a:ext cx="8520600" cy="2144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With this method, one servlet can include the response of other servlet. The first servlet will then send the combined response back to the browser. </a:t>
            </a:r>
            <a:endParaRPr/>
          </a:p>
          <a:p>
            <a:pPr indent="-342900" lvl="0" marL="457200" rtl="0" algn="l">
              <a:spcBef>
                <a:spcPts val="0"/>
              </a:spcBef>
              <a:spcAft>
                <a:spcPts val="0"/>
              </a:spcAft>
              <a:buSzPts val="1800"/>
              <a:buChar char="●"/>
            </a:pPr>
            <a:r>
              <a:rPr lang="en"/>
              <a:t>This method also takes HttpServletRequest and HttpServletResponse as parameters.</a:t>
            </a:r>
            <a:endParaRPr/>
          </a:p>
          <a:p>
            <a:pPr indent="-317500" lvl="1" marL="914400" rtl="0" algn="l">
              <a:spcBef>
                <a:spcPts val="0"/>
              </a:spcBef>
              <a:spcAft>
                <a:spcPts val="0"/>
              </a:spcAft>
              <a:buSzPts val="1400"/>
              <a:buChar char="○"/>
            </a:pPr>
            <a:r>
              <a:rPr lang="en"/>
              <a:t>RequestDispatcher rd=req.getRequestDispatcher("BannerServlet");</a:t>
            </a:r>
            <a:endParaRPr/>
          </a:p>
          <a:p>
            <a:pPr indent="-317500" lvl="1" marL="914400" rtl="0" algn="l">
              <a:spcBef>
                <a:spcPts val="0"/>
              </a:spcBef>
              <a:spcAft>
                <a:spcPts val="0"/>
              </a:spcAft>
              <a:buSzPts val="1400"/>
              <a:buChar char="○"/>
            </a:pPr>
            <a:r>
              <a:rPr lang="en"/>
              <a:t>rd.include(req, res);</a:t>
            </a:r>
            <a:endParaRPr/>
          </a:p>
        </p:txBody>
      </p:sp>
      <p:pic>
        <p:nvPicPr>
          <p:cNvPr id="284" name="Google Shape;284;p53"/>
          <p:cNvPicPr preferRelativeResize="0"/>
          <p:nvPr/>
        </p:nvPicPr>
        <p:blipFill>
          <a:blip r:embed="rId3">
            <a:alphaModFix/>
          </a:blip>
          <a:stretch>
            <a:fillRect/>
          </a:stretch>
        </p:blipFill>
        <p:spPr>
          <a:xfrm>
            <a:off x="1656500" y="3350650"/>
            <a:ext cx="4473975" cy="1445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JSP</a:t>
            </a:r>
            <a:endParaRPr/>
          </a:p>
          <a:p>
            <a:pPr indent="0" lvl="0" marL="0" rtl="0" algn="ctr">
              <a:spcBef>
                <a:spcPts val="0"/>
              </a:spcBef>
              <a:spcAft>
                <a:spcPts val="0"/>
              </a:spcAft>
              <a:buNone/>
            </a:pPr>
            <a:r>
              <a:rPr lang="en"/>
              <a:t>Java Server Page</a:t>
            </a:r>
            <a:endParaRPr/>
          </a:p>
        </p:txBody>
      </p:sp>
      <p:sp>
        <p:nvSpPr>
          <p:cNvPr id="290" name="Google Shape;290;p5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JSP Basics </a:t>
            </a:r>
            <a:endParaRPr/>
          </a:p>
        </p:txBody>
      </p:sp>
      <p:sp>
        <p:nvSpPr>
          <p:cNvPr id="296" name="Google Shape;296;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typical JSP page very much looks like html page with all the html markup except that you also see Java code in it. So, in essence,  </a:t>
            </a:r>
            <a:endParaRPr/>
          </a:p>
          <a:p>
            <a:pPr indent="-317500" lvl="1" marL="914400" rtl="0" algn="l">
              <a:spcBef>
                <a:spcPts val="0"/>
              </a:spcBef>
              <a:spcAft>
                <a:spcPts val="0"/>
              </a:spcAft>
              <a:buSzPts val="1400"/>
              <a:buChar char="○"/>
            </a:pPr>
            <a:r>
              <a:rPr lang="en"/>
              <a:t>HTML + Java = JSP  </a:t>
            </a:r>
            <a:endParaRPr/>
          </a:p>
          <a:p>
            <a:pPr indent="-342900" lvl="0" marL="457200" rtl="0" algn="l">
              <a:spcBef>
                <a:spcPts val="0"/>
              </a:spcBef>
              <a:spcAft>
                <a:spcPts val="0"/>
              </a:spcAft>
              <a:buSzPts val="1800"/>
              <a:buChar char="●"/>
            </a:pPr>
            <a:r>
              <a:rPr lang="en"/>
              <a:t>Therefore, JSP content is a mixed content, with a mixture of HTML and Java. </a:t>
            </a:r>
            <a:endParaRPr/>
          </a:p>
          <a:p>
            <a:pPr indent="-342900" lvl="0" marL="457200" rtl="0" algn="l">
              <a:spcBef>
                <a:spcPts val="0"/>
              </a:spcBef>
              <a:spcAft>
                <a:spcPts val="0"/>
              </a:spcAft>
              <a:buSzPts val="1800"/>
              <a:buChar char="●"/>
            </a:pPr>
            <a:r>
              <a:rPr lang="en"/>
              <a:t>A html file will only have html markup, and a jsp file will have both html markup and Java code.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6"/>
          <p:cNvSpPr txBox="1"/>
          <p:nvPr>
            <p:ph idx="1" type="body"/>
          </p:nvPr>
        </p:nvSpPr>
        <p:spPr>
          <a:xfrm>
            <a:off x="311700" y="1152475"/>
            <a:ext cx="8520600" cy="2982000"/>
          </a:xfrm>
          <a:prstGeom prst="rect">
            <a:avLst/>
          </a:prstGeom>
        </p:spPr>
        <p:txBody>
          <a:bodyPr anchorCtr="0" anchor="t" bIns="91425" lIns="91425" spcFirstLastPara="1" rIns="91425" wrap="square" tIns="91425">
            <a:normAutofit/>
          </a:bodyPr>
          <a:lstStyle/>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JSP is a server side technology which is used for creating web application.</a:t>
            </a:r>
            <a:endParaRPr sz="1300">
              <a:solidFill>
                <a:srgbClr val="273239"/>
              </a:solidFill>
              <a:highlight>
                <a:srgbClr val="FFFFFF"/>
              </a:highlight>
            </a:endParaRPr>
          </a:p>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It is used to create dynamic web content.</a:t>
            </a:r>
            <a:endParaRPr sz="1300">
              <a:solidFill>
                <a:srgbClr val="273239"/>
              </a:solidFill>
              <a:highlight>
                <a:srgbClr val="FFFFFF"/>
              </a:highlight>
            </a:endParaRPr>
          </a:p>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JSP tags are used to insert JAVA code into HTML pages.</a:t>
            </a:r>
            <a:endParaRPr sz="1300">
              <a:solidFill>
                <a:srgbClr val="273239"/>
              </a:solidFill>
              <a:highlight>
                <a:srgbClr val="FFFFFF"/>
              </a:highlight>
            </a:endParaRPr>
          </a:p>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It is an advanced version of Servlet Technology.</a:t>
            </a:r>
            <a:endParaRPr sz="1300">
              <a:solidFill>
                <a:srgbClr val="273239"/>
              </a:solidFill>
              <a:highlight>
                <a:srgbClr val="FFFFFF"/>
              </a:highlight>
            </a:endParaRPr>
          </a:p>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In JSP, Java code can be inserted in HTML/ XML pages or both.</a:t>
            </a:r>
            <a:endParaRPr sz="1300">
              <a:solidFill>
                <a:srgbClr val="273239"/>
              </a:solidFill>
              <a:highlight>
                <a:srgbClr val="FFFFFF"/>
              </a:highlight>
            </a:endParaRPr>
          </a:p>
          <a:p>
            <a:pPr indent="-311150" lvl="0" marL="685800" rtl="0" algn="l">
              <a:lnSpc>
                <a:spcPct val="158000"/>
              </a:lnSpc>
              <a:spcBef>
                <a:spcPts val="0"/>
              </a:spcBef>
              <a:spcAft>
                <a:spcPts val="0"/>
              </a:spcAft>
              <a:buClr>
                <a:srgbClr val="273239"/>
              </a:buClr>
              <a:buSzPts val="1300"/>
              <a:buChar char="●"/>
            </a:pPr>
            <a:r>
              <a:rPr lang="en" sz="1300">
                <a:solidFill>
                  <a:srgbClr val="273239"/>
                </a:solidFill>
                <a:highlight>
                  <a:srgbClr val="FFFFFF"/>
                </a:highlight>
              </a:rPr>
              <a:t>JSP is first converted into servlet by JSP container before processing the client’s request.</a:t>
            </a:r>
            <a:endParaRPr sz="1300">
              <a:solidFill>
                <a:srgbClr val="273239"/>
              </a:solidFill>
              <a:highlight>
                <a:srgbClr val="FFFFFF"/>
              </a:highlight>
            </a:endParaRPr>
          </a:p>
          <a:p>
            <a:pPr indent="0" lvl="0" marL="0" rtl="0" algn="l">
              <a:spcBef>
                <a:spcPts val="36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57"/>
          <p:cNvPicPr preferRelativeResize="0"/>
          <p:nvPr/>
        </p:nvPicPr>
        <p:blipFill>
          <a:blip r:embed="rId3">
            <a:alphaModFix/>
          </a:blip>
          <a:stretch>
            <a:fillRect/>
          </a:stretch>
        </p:blipFill>
        <p:spPr>
          <a:xfrm>
            <a:off x="935575" y="822675"/>
            <a:ext cx="7639050" cy="3657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8"/>
          <p:cNvSpPr txBox="1"/>
          <p:nvPr>
            <p:ph idx="1" type="body"/>
          </p:nvPr>
        </p:nvSpPr>
        <p:spPr>
          <a:xfrm>
            <a:off x="311700" y="771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When the browser requests for html file, the web container simply responds with a html response without any processing. </a:t>
            </a:r>
            <a:endParaRPr/>
          </a:p>
          <a:p>
            <a:pPr indent="-342900" lvl="0" marL="457200" rtl="0" algn="l">
              <a:spcBef>
                <a:spcPts val="0"/>
              </a:spcBef>
              <a:spcAft>
                <a:spcPts val="0"/>
              </a:spcAft>
              <a:buSzPts val="1800"/>
              <a:buChar char="●"/>
            </a:pPr>
            <a:r>
              <a:rPr lang="en"/>
              <a:t>However, when the browser sends a JSP page request, the web container assumes that the JSP page might include Java code, and translates the page into a Servlet. </a:t>
            </a:r>
            <a:endParaRPr/>
          </a:p>
          <a:p>
            <a:pPr indent="-342900" lvl="0" marL="457200" rtl="0" algn="l">
              <a:spcBef>
                <a:spcPts val="0"/>
              </a:spcBef>
              <a:spcAft>
                <a:spcPts val="0"/>
              </a:spcAft>
              <a:buSzPts val="1800"/>
              <a:buChar char="●"/>
            </a:pPr>
            <a:r>
              <a:rPr lang="en"/>
              <a:t>The servlet then processes the Java code, and returns the complete html response including the dynamic content generated by the Java code. </a:t>
            </a:r>
            <a:endParaRPr/>
          </a:p>
          <a:p>
            <a:pPr indent="-342900" lvl="0" marL="457200" rtl="0" algn="l">
              <a:spcBef>
                <a:spcPts val="0"/>
              </a:spcBef>
              <a:spcAft>
                <a:spcPts val="0"/>
              </a:spcAft>
              <a:buSzPts val="1800"/>
              <a:buChar char="●"/>
            </a:pPr>
            <a:r>
              <a:rPr lang="en"/>
              <a:t>Though the web container does the translation of JSP to Servlet, we need to know how it does this translation.</a:t>
            </a:r>
            <a:endParaRPr/>
          </a:p>
          <a:p>
            <a:pPr indent="-342900" lvl="0" marL="457200" rtl="0" algn="l">
              <a:spcBef>
                <a:spcPts val="0"/>
              </a:spcBef>
              <a:spcAft>
                <a:spcPts val="0"/>
              </a:spcAft>
              <a:buSzPts val="1800"/>
              <a:buChar char="●"/>
            </a:pPr>
            <a:r>
              <a:rPr lang="en"/>
              <a:t>For a web container to translate JSP, it needs to identify from the JSP page, as to which is HTML markup and which is Java code. </a:t>
            </a:r>
            <a:endParaRPr/>
          </a:p>
          <a:p>
            <a:pPr indent="-342900" lvl="0" marL="457200" rtl="0" algn="l">
              <a:spcBef>
                <a:spcPts val="0"/>
              </a:spcBef>
              <a:spcAft>
                <a:spcPts val="0"/>
              </a:spcAft>
              <a:buSzPts val="1800"/>
              <a:buChar char="●"/>
            </a:pPr>
            <a:r>
              <a:rPr lang="en"/>
              <a:t>According to J2EE specification, a JSP page must use special symbols as placeholders for Java code.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p59"/>
          <p:cNvPicPr preferRelativeResize="0"/>
          <p:nvPr/>
        </p:nvPicPr>
        <p:blipFill>
          <a:blip r:embed="rId3">
            <a:alphaModFix/>
          </a:blip>
          <a:stretch>
            <a:fillRect/>
          </a:stretch>
        </p:blipFill>
        <p:spPr>
          <a:xfrm>
            <a:off x="917225" y="554750"/>
            <a:ext cx="7231949" cy="44132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60"/>
          <p:cNvPicPr preferRelativeResize="0"/>
          <p:nvPr/>
        </p:nvPicPr>
        <p:blipFill>
          <a:blip r:embed="rId3">
            <a:alphaModFix/>
          </a:blip>
          <a:stretch>
            <a:fillRect/>
          </a:stretch>
        </p:blipFill>
        <p:spPr>
          <a:xfrm>
            <a:off x="152400" y="152400"/>
            <a:ext cx="8067325" cy="48387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JSP Scripting</a:t>
            </a:r>
            <a:endParaRPr/>
          </a:p>
        </p:txBody>
      </p:sp>
      <p:sp>
        <p:nvSpPr>
          <p:cNvPr id="327" name="Google Shape;32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The scripting elements provides the ability to insert java code inside the jsp. </a:t>
            </a:r>
            <a:endParaRPr sz="1200">
              <a:solidFill>
                <a:srgbClr val="333333"/>
              </a:solidFill>
              <a:highlight>
                <a:srgbClr val="FFFFFF"/>
              </a:highlight>
              <a:latin typeface="Roboto"/>
              <a:ea typeface="Roboto"/>
              <a:cs typeface="Roboto"/>
              <a:sym typeface="Roboto"/>
            </a:endParaRPr>
          </a:p>
          <a:p>
            <a:pPr indent="-304800" lvl="0" marL="457200" rtl="0" algn="l">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There are three types of scripting elements:</a:t>
            </a:r>
            <a:endParaRPr sz="1200">
              <a:solidFill>
                <a:srgbClr val="333333"/>
              </a:solidFill>
              <a:highlight>
                <a:srgbClr val="FFFFFF"/>
              </a:highlight>
              <a:latin typeface="Roboto"/>
              <a:ea typeface="Roboto"/>
              <a:cs typeface="Roboto"/>
              <a:sym typeface="Roboto"/>
            </a:endParaRPr>
          </a:p>
          <a:p>
            <a:pPr indent="-304800" lvl="1" marL="914400" rtl="0" algn="l">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scriptlet tag</a:t>
            </a:r>
            <a:endParaRPr sz="1200">
              <a:solidFill>
                <a:schemeClr val="dk1"/>
              </a:solidFill>
              <a:highlight>
                <a:srgbClr val="FFFFFF"/>
              </a:highlight>
              <a:latin typeface="Roboto"/>
              <a:ea typeface="Roboto"/>
              <a:cs typeface="Roboto"/>
              <a:sym typeface="Roboto"/>
            </a:endParaRPr>
          </a:p>
          <a:p>
            <a:pPr indent="-304800" lvl="1" marL="9144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expression tag</a:t>
            </a:r>
            <a:endParaRPr sz="1200">
              <a:solidFill>
                <a:schemeClr val="dk1"/>
              </a:solidFill>
              <a:highlight>
                <a:srgbClr val="FFFFFF"/>
              </a:highlight>
              <a:latin typeface="Roboto"/>
              <a:ea typeface="Roboto"/>
              <a:cs typeface="Roboto"/>
              <a:sym typeface="Roboto"/>
            </a:endParaRPr>
          </a:p>
          <a:p>
            <a:pPr indent="-304800" lvl="1" marL="9144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declaration tag</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sz="1200">
              <a:solidFill>
                <a:srgbClr val="333333"/>
              </a:solidFill>
              <a:highlight>
                <a:srgbClr val="FFFFFF"/>
              </a:highlight>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just">
              <a:lnSpc>
                <a:spcPct val="130000"/>
              </a:lnSpc>
              <a:spcBef>
                <a:spcPts val="1400"/>
              </a:spcBef>
              <a:spcAft>
                <a:spcPts val="0"/>
              </a:spcAft>
              <a:buClr>
                <a:schemeClr val="dk1"/>
              </a:buClr>
              <a:buSzPct val="68750"/>
              <a:buFont typeface="Arial"/>
              <a:buNone/>
            </a:pPr>
            <a:r>
              <a:rPr lang="en" sz="1600">
                <a:highlight>
                  <a:srgbClr val="FFFFFF"/>
                </a:highlight>
              </a:rPr>
              <a:t>JSP scriptlet tag</a:t>
            </a:r>
            <a:endParaRPr sz="1600">
              <a:highlight>
                <a:srgbClr val="FFFFFF"/>
              </a:highlight>
            </a:endParaRPr>
          </a:p>
          <a:p>
            <a:pPr indent="0" lvl="0" marL="0" rtl="0" algn="l">
              <a:spcBef>
                <a:spcPts val="400"/>
              </a:spcBef>
              <a:spcAft>
                <a:spcPts val="0"/>
              </a:spcAft>
              <a:buNone/>
            </a:pPr>
            <a:r>
              <a:t/>
            </a:r>
            <a:endParaRPr/>
          </a:p>
        </p:txBody>
      </p:sp>
      <p:sp>
        <p:nvSpPr>
          <p:cNvPr id="333" name="Google Shape;333;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287655" lvl="0" marL="457200" rtl="0" algn="l">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A Scriptlet is a piece of Java code that represents processing logic to generate the dynamic content wherever needed in the page.</a:t>
            </a:r>
            <a:endParaRPr sz="1200">
              <a:solidFill>
                <a:srgbClr val="333333"/>
              </a:solidFill>
              <a:highlight>
                <a:srgbClr val="FFFFFF"/>
              </a:highlight>
              <a:latin typeface="Roboto"/>
              <a:ea typeface="Roboto"/>
              <a:cs typeface="Roboto"/>
              <a:sym typeface="Roboto"/>
            </a:endParaRPr>
          </a:p>
          <a:p>
            <a:pPr indent="-287655" lvl="0" marL="457200" rtl="0" algn="l">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Syntax is as follows:</a:t>
            </a:r>
            <a:endParaRPr/>
          </a:p>
          <a:p>
            <a:pPr indent="-287655" lvl="0" marL="457200" rtl="0" algn="l">
              <a:spcBef>
                <a:spcPts val="0"/>
              </a:spcBef>
              <a:spcAft>
                <a:spcPts val="0"/>
              </a:spcAft>
              <a:buClr>
                <a:srgbClr val="333333"/>
              </a:buClr>
              <a:buSzPct val="100000"/>
              <a:buFont typeface="Roboto"/>
              <a:buChar char="●"/>
            </a:pPr>
            <a:r>
              <a:rPr lang="en" sz="1200">
                <a:solidFill>
                  <a:schemeClr val="dk1"/>
                </a:solidFill>
                <a:latin typeface="Roboto"/>
                <a:ea typeface="Roboto"/>
                <a:cs typeface="Roboto"/>
                <a:sym typeface="Roboto"/>
              </a:rPr>
              <a:t>&lt;%  java source code %&gt;  </a:t>
            </a:r>
            <a:endParaRPr sz="1200">
              <a:solidFill>
                <a:schemeClr val="dk1"/>
              </a:solidFill>
              <a:latin typeface="Roboto"/>
              <a:ea typeface="Roboto"/>
              <a:cs typeface="Roboto"/>
              <a:sym typeface="Roboto"/>
            </a:endParaRPr>
          </a:p>
          <a:p>
            <a:pPr indent="0" lvl="0" marL="0" rtl="0" algn="l">
              <a:lnSpc>
                <a:spcPct val="156250"/>
              </a:lnSpc>
              <a:spcBef>
                <a:spcPts val="1200"/>
              </a:spcBef>
              <a:spcAft>
                <a:spcPts val="0"/>
              </a:spcAft>
              <a:buNone/>
            </a:pPr>
            <a:r>
              <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None/>
            </a:pPr>
            <a:r>
              <a:rPr lang="en" sz="1200">
                <a:solidFill>
                  <a:schemeClr val="dk1"/>
                </a:solidFill>
                <a:latin typeface="Roboto"/>
                <a:ea typeface="Roboto"/>
                <a:cs typeface="Roboto"/>
                <a:sym typeface="Roboto"/>
              </a:rPr>
              <a:t>Example:</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Clr>
                <a:schemeClr val="dk1"/>
              </a:buClr>
              <a:buSzPct val="91666"/>
              <a:buFont typeface="Arial"/>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 </a:t>
            </a:r>
            <a:endParaRPr sz="1200">
              <a:solidFill>
                <a:schemeClr val="dk1"/>
              </a:solidFill>
              <a:latin typeface="Roboto"/>
              <a:ea typeface="Roboto"/>
              <a:cs typeface="Roboto"/>
              <a:sym typeface="Roboto"/>
            </a:endParaRPr>
          </a:p>
          <a:p>
            <a:pPr indent="457200" lvl="0" marL="457200" rtl="0" algn="l">
              <a:lnSpc>
                <a:spcPct val="156250"/>
              </a:lnSpc>
              <a:spcBef>
                <a:spcPts val="300"/>
              </a:spcBef>
              <a:spcAft>
                <a:spcPts val="0"/>
              </a:spcAft>
              <a:buNone/>
            </a:pPr>
            <a:r>
              <a:rPr lang="en" sz="1200">
                <a:solidFill>
                  <a:schemeClr val="dk1"/>
                </a:solidFill>
                <a:latin typeface="Roboto"/>
                <a:ea typeface="Roboto"/>
                <a:cs typeface="Roboto"/>
                <a:sym typeface="Roboto"/>
              </a:rPr>
              <a:t>int a=10; int b=20; int c=30; </a:t>
            </a:r>
            <a:endParaRPr sz="1200">
              <a:solidFill>
                <a:schemeClr val="dk1"/>
              </a:solidFill>
              <a:latin typeface="Roboto"/>
              <a:ea typeface="Roboto"/>
              <a:cs typeface="Roboto"/>
              <a:sym typeface="Roboto"/>
            </a:endParaRPr>
          </a:p>
          <a:p>
            <a:pPr indent="457200" lvl="0" marL="457200" rtl="0" algn="l">
              <a:lnSpc>
                <a:spcPct val="156250"/>
              </a:lnSpc>
              <a:spcBef>
                <a:spcPts val="300"/>
              </a:spcBef>
              <a:spcAft>
                <a:spcPts val="0"/>
              </a:spcAft>
              <a:buNone/>
            </a:pPr>
            <a:r>
              <a:rPr lang="en" sz="1200">
                <a:solidFill>
                  <a:schemeClr val="dk1"/>
                </a:solidFill>
                <a:latin typeface="Roboto"/>
                <a:ea typeface="Roboto"/>
                <a:cs typeface="Roboto"/>
                <a:sym typeface="Roboto"/>
              </a:rPr>
              <a:t>out.println(a+b+c);</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Clr>
                <a:schemeClr val="dk1"/>
              </a:buClr>
              <a:buSzPct val="91666"/>
              <a:buFont typeface="Arial"/>
              <a:buNone/>
            </a:pPr>
            <a:r>
              <a:rPr lang="en" sz="1200">
                <a:solidFill>
                  <a:schemeClr val="dk1"/>
                </a:solidFill>
                <a:latin typeface="Roboto"/>
                <a:ea typeface="Roboto"/>
                <a:cs typeface="Roboto"/>
                <a:sym typeface="Roboto"/>
              </a:rPr>
              <a:t>%&gt;  </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Clr>
                <a:schemeClr val="dk1"/>
              </a:buClr>
              <a:buSzPct val="91666"/>
              <a:buFont typeface="Arial"/>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Clr>
                <a:schemeClr val="dk1"/>
              </a:buClr>
              <a:buSzPct val="91666"/>
              <a:buFont typeface="Arial"/>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0" rtl="0" algn="l">
              <a:lnSpc>
                <a:spcPct val="156250"/>
              </a:lnSpc>
              <a:spcBef>
                <a:spcPts val="300"/>
              </a:spcBef>
              <a:spcAft>
                <a:spcPts val="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JSP Expression Tag</a:t>
            </a:r>
            <a:endParaRPr/>
          </a:p>
        </p:txBody>
      </p:sp>
      <p:sp>
        <p:nvSpPr>
          <p:cNvPr id="339" name="Google Shape;33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The code placed within </a:t>
            </a:r>
            <a:r>
              <a:rPr b="1" lang="en" sz="1200">
                <a:solidFill>
                  <a:srgbClr val="333333"/>
                </a:solidFill>
                <a:highlight>
                  <a:srgbClr val="FFFFFF"/>
                </a:highlight>
                <a:latin typeface="Roboto"/>
                <a:ea typeface="Roboto"/>
                <a:cs typeface="Roboto"/>
                <a:sym typeface="Roboto"/>
              </a:rPr>
              <a:t>JSP expression tag</a:t>
            </a:r>
            <a:r>
              <a:rPr lang="en" sz="1200">
                <a:solidFill>
                  <a:srgbClr val="333333"/>
                </a:solidFill>
                <a:highlight>
                  <a:srgbClr val="FFFFFF"/>
                </a:highlight>
                <a:latin typeface="Roboto"/>
                <a:ea typeface="Roboto"/>
                <a:cs typeface="Roboto"/>
                <a:sym typeface="Roboto"/>
              </a:rPr>
              <a:t> is </a:t>
            </a:r>
            <a:r>
              <a:rPr i="1" lang="en" sz="1200">
                <a:solidFill>
                  <a:srgbClr val="333333"/>
                </a:solidFill>
                <a:highlight>
                  <a:srgbClr val="FFFFFF"/>
                </a:highlight>
                <a:latin typeface="Roboto"/>
                <a:ea typeface="Roboto"/>
                <a:cs typeface="Roboto"/>
                <a:sym typeface="Roboto"/>
              </a:rPr>
              <a:t>written to the output stream of the response</a:t>
            </a:r>
            <a:r>
              <a:rPr lang="en" sz="1200">
                <a:solidFill>
                  <a:srgbClr val="333333"/>
                </a:solidFill>
                <a:highlight>
                  <a:srgbClr val="FFFFFF"/>
                </a:highlight>
                <a:latin typeface="Roboto"/>
                <a:ea typeface="Roboto"/>
                <a:cs typeface="Roboto"/>
                <a:sym typeface="Roboto"/>
              </a:rPr>
              <a:t>. </a:t>
            </a:r>
            <a:endParaRPr sz="1200">
              <a:solidFill>
                <a:srgbClr val="333333"/>
              </a:solidFill>
              <a:highlight>
                <a:srgbClr val="FFFFFF"/>
              </a:highlight>
              <a:latin typeface="Roboto"/>
              <a:ea typeface="Roboto"/>
              <a:cs typeface="Roboto"/>
              <a:sym typeface="Roboto"/>
            </a:endParaRPr>
          </a:p>
          <a:p>
            <a:pPr indent="-299085" lvl="0" marL="457200" rtl="0" algn="l">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So you need not write out.print() to write data. </a:t>
            </a:r>
            <a:endParaRPr sz="1200">
              <a:solidFill>
                <a:srgbClr val="333333"/>
              </a:solidFill>
              <a:highlight>
                <a:srgbClr val="FFFFFF"/>
              </a:highlight>
              <a:latin typeface="Roboto"/>
              <a:ea typeface="Roboto"/>
              <a:cs typeface="Roboto"/>
              <a:sym typeface="Roboto"/>
            </a:endParaRPr>
          </a:p>
          <a:p>
            <a:pPr indent="-299085" lvl="0" marL="457200" rtl="0" algn="l">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It is mainly used to print the values of variable or method.</a:t>
            </a:r>
            <a:endParaRPr sz="1200">
              <a:solidFill>
                <a:srgbClr val="333333"/>
              </a:solidFill>
              <a:highlight>
                <a:srgbClr val="FFFFFF"/>
              </a:highlight>
              <a:latin typeface="Roboto"/>
              <a:ea typeface="Roboto"/>
              <a:cs typeface="Roboto"/>
              <a:sym typeface="Roboto"/>
            </a:endParaRPr>
          </a:p>
          <a:p>
            <a:pPr indent="0" lvl="0" marL="457200" rtl="0" algn="l">
              <a:spcBef>
                <a:spcPts val="1200"/>
              </a:spcBef>
              <a:spcAft>
                <a:spcPts val="0"/>
              </a:spcAft>
              <a:buNone/>
            </a:pPr>
            <a:r>
              <a:rPr b="1" lang="en" sz="1400">
                <a:solidFill>
                  <a:srgbClr val="333333"/>
                </a:solidFill>
                <a:highlight>
                  <a:srgbClr val="FFFFFF"/>
                </a:highlight>
                <a:latin typeface="Roboto"/>
                <a:ea typeface="Roboto"/>
                <a:cs typeface="Roboto"/>
                <a:sym typeface="Roboto"/>
              </a:rPr>
              <a:t>Syntax</a:t>
            </a:r>
            <a:endParaRPr b="1" sz="1400">
              <a:solidFill>
                <a:srgbClr val="333333"/>
              </a:solidFill>
              <a:highlight>
                <a:srgbClr val="FFFFFF"/>
              </a:highlight>
              <a:latin typeface="Roboto"/>
              <a:ea typeface="Roboto"/>
              <a:cs typeface="Roboto"/>
              <a:sym typeface="Roboto"/>
            </a:endParaRPr>
          </a:p>
          <a:p>
            <a:pPr indent="0" lvl="0" marL="457200" rtl="0" algn="l">
              <a:spcBef>
                <a:spcPts val="1200"/>
              </a:spcBef>
              <a:spcAft>
                <a:spcPts val="0"/>
              </a:spcAft>
              <a:buNone/>
            </a:pPr>
            <a:r>
              <a:rPr lang="en" sz="1100">
                <a:solidFill>
                  <a:srgbClr val="333333"/>
                </a:solidFill>
                <a:highlight>
                  <a:srgbClr val="FFFFFF"/>
                </a:highlight>
                <a:latin typeface="Roboto"/>
                <a:ea typeface="Roboto"/>
                <a:cs typeface="Roboto"/>
                <a:sym typeface="Roboto"/>
              </a:rPr>
              <a:t>&lt;%</a:t>
            </a:r>
            <a:r>
              <a:rPr lang="en" sz="1200">
                <a:solidFill>
                  <a:schemeClr val="dk1"/>
                </a:solidFill>
                <a:latin typeface="Roboto"/>
                <a:ea typeface="Roboto"/>
                <a:cs typeface="Roboto"/>
                <a:sym typeface="Roboto"/>
              </a:rPr>
              <a:t>=  statement %&gt;</a:t>
            </a:r>
            <a:endParaRPr sz="1200">
              <a:solidFill>
                <a:schemeClr val="dk1"/>
              </a:solidFill>
              <a:latin typeface="Roboto"/>
              <a:ea typeface="Roboto"/>
              <a:cs typeface="Roboto"/>
              <a:sym typeface="Roboto"/>
            </a:endParaRPr>
          </a:p>
          <a:p>
            <a:pPr indent="0" lvl="0" marL="0" rtl="0" algn="l">
              <a:spcBef>
                <a:spcPts val="1200"/>
              </a:spcBef>
              <a:spcAft>
                <a:spcPts val="0"/>
              </a:spcAft>
              <a:buNone/>
            </a:pPr>
            <a:r>
              <a:rPr lang="en" sz="1200">
                <a:solidFill>
                  <a:schemeClr val="dk1"/>
                </a:solidFill>
                <a:latin typeface="Roboto"/>
                <a:ea typeface="Roboto"/>
                <a:cs typeface="Roboto"/>
                <a:sym typeface="Roboto"/>
              </a:rPr>
              <a:t>Example:</a:t>
            </a:r>
            <a:endParaRPr sz="1200">
              <a:solidFill>
                <a:schemeClr val="dk1"/>
              </a:solidFill>
              <a:latin typeface="Roboto"/>
              <a:ea typeface="Roboto"/>
              <a:cs typeface="Roboto"/>
              <a:sym typeface="Roboto"/>
            </a:endParaRPr>
          </a:p>
          <a:p>
            <a:pPr indent="457200" lvl="0" marL="0" rtl="0" algn="l">
              <a:lnSpc>
                <a:spcPct val="156250"/>
              </a:lnSpc>
              <a:spcBef>
                <a:spcPts val="1200"/>
              </a:spcBef>
              <a:spcAft>
                <a:spcPts val="0"/>
              </a:spcAft>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457200" lvl="0" marL="457200" rtl="0" algn="l">
              <a:lnSpc>
                <a:spcPct val="156250"/>
              </a:lnSpc>
              <a:spcBef>
                <a:spcPts val="300"/>
              </a:spcBef>
              <a:spcAft>
                <a:spcPts val="0"/>
              </a:spcAft>
              <a:buNone/>
            </a:pPr>
            <a:r>
              <a:rPr lang="en" sz="1200">
                <a:solidFill>
                  <a:schemeClr val="dk1"/>
                </a:solidFill>
                <a:latin typeface="Roboto"/>
                <a:ea typeface="Roboto"/>
                <a:cs typeface="Roboto"/>
                <a:sym typeface="Roboto"/>
              </a:rPr>
              <a:t>&lt;%= "welcome to jsp" %&gt;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457200" rtl="0" algn="l">
              <a:spcBef>
                <a:spcPts val="0"/>
              </a:spcBef>
              <a:spcAft>
                <a:spcPts val="120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JSP Declaration Tag</a:t>
            </a:r>
            <a:endParaRPr/>
          </a:p>
          <a:p>
            <a:pPr indent="0" lvl="0" marL="0" rtl="0" algn="just">
              <a:lnSpc>
                <a:spcPct val="115000"/>
              </a:lnSpc>
              <a:spcBef>
                <a:spcPts val="1200"/>
              </a:spcBef>
              <a:spcAft>
                <a:spcPts val="1200"/>
              </a:spcAft>
              <a:buClr>
                <a:schemeClr val="dk1"/>
              </a:buClr>
              <a:buSzPct val="91666"/>
              <a:buFont typeface="Arial"/>
              <a:buNone/>
            </a:pPr>
            <a:r>
              <a:t/>
            </a:r>
            <a:endParaRPr b="1" sz="1200">
              <a:solidFill>
                <a:srgbClr val="333333"/>
              </a:solidFill>
              <a:highlight>
                <a:srgbClr val="FFFFFF"/>
              </a:highlight>
              <a:latin typeface="Roboto"/>
              <a:ea typeface="Roboto"/>
              <a:cs typeface="Roboto"/>
              <a:sym typeface="Roboto"/>
            </a:endParaRPr>
          </a:p>
        </p:txBody>
      </p:sp>
      <p:sp>
        <p:nvSpPr>
          <p:cNvPr id="345" name="Google Shape;34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287655" lvl="0" marL="457200" rtl="0" algn="just">
              <a:spcBef>
                <a:spcPts val="120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The </a:t>
            </a:r>
            <a:r>
              <a:rPr b="1" lang="en" sz="1200">
                <a:solidFill>
                  <a:srgbClr val="333333"/>
                </a:solidFill>
                <a:highlight>
                  <a:srgbClr val="FFFFFF"/>
                </a:highlight>
                <a:latin typeface="Roboto"/>
                <a:ea typeface="Roboto"/>
                <a:cs typeface="Roboto"/>
                <a:sym typeface="Roboto"/>
              </a:rPr>
              <a:t>JSP declaration tag</a:t>
            </a:r>
            <a:r>
              <a:rPr lang="en" sz="1200">
                <a:solidFill>
                  <a:srgbClr val="333333"/>
                </a:solidFill>
                <a:highlight>
                  <a:srgbClr val="FFFFFF"/>
                </a:highlight>
                <a:latin typeface="Roboto"/>
                <a:ea typeface="Roboto"/>
                <a:cs typeface="Roboto"/>
                <a:sym typeface="Roboto"/>
              </a:rPr>
              <a:t> is used </a:t>
            </a:r>
            <a:r>
              <a:rPr i="1" lang="en" sz="1200">
                <a:solidFill>
                  <a:srgbClr val="333333"/>
                </a:solidFill>
                <a:highlight>
                  <a:srgbClr val="FFFFFF"/>
                </a:highlight>
                <a:latin typeface="Roboto"/>
                <a:ea typeface="Roboto"/>
                <a:cs typeface="Roboto"/>
                <a:sym typeface="Roboto"/>
              </a:rPr>
              <a:t>to declare fields and methods</a:t>
            </a:r>
            <a:r>
              <a:rPr lang="en" sz="1200">
                <a:solidFill>
                  <a:srgbClr val="333333"/>
                </a:solidFill>
                <a:highlight>
                  <a:srgbClr val="FFFFFF"/>
                </a:highlight>
                <a:latin typeface="Roboto"/>
                <a:ea typeface="Roboto"/>
                <a:cs typeface="Roboto"/>
                <a:sym typeface="Roboto"/>
              </a:rPr>
              <a:t>.</a:t>
            </a:r>
            <a:endParaRPr sz="1200">
              <a:solidFill>
                <a:srgbClr val="333333"/>
              </a:solidFill>
              <a:highlight>
                <a:srgbClr val="FFFFFF"/>
              </a:highlight>
              <a:latin typeface="Roboto"/>
              <a:ea typeface="Roboto"/>
              <a:cs typeface="Roboto"/>
              <a:sym typeface="Roboto"/>
            </a:endParaRPr>
          </a:p>
          <a:p>
            <a:pPr indent="-287655" lvl="0" marL="457200" rtl="0" algn="just">
              <a:spcBef>
                <a:spcPts val="0"/>
              </a:spcBef>
              <a:spcAft>
                <a:spcPts val="0"/>
              </a:spcAft>
              <a:buClr>
                <a:srgbClr val="333333"/>
              </a:buClr>
              <a:buSzPct val="100000"/>
              <a:buFont typeface="Roboto"/>
              <a:buChar char="●"/>
            </a:pPr>
            <a:r>
              <a:rPr lang="en" sz="1200">
                <a:solidFill>
                  <a:srgbClr val="333333"/>
                </a:solidFill>
                <a:highlight>
                  <a:srgbClr val="FFFFFF"/>
                </a:highlight>
                <a:latin typeface="Roboto"/>
                <a:ea typeface="Roboto"/>
                <a:cs typeface="Roboto"/>
                <a:sym typeface="Roboto"/>
              </a:rPr>
              <a:t>The code written inside the jsp declaration tag is placed outside the service() method of auto generated servlet.</a:t>
            </a:r>
            <a:endParaRPr sz="1200">
              <a:solidFill>
                <a:srgbClr val="333333"/>
              </a:solidFill>
              <a:highlight>
                <a:srgbClr val="FFFFFF"/>
              </a:highlight>
              <a:latin typeface="Roboto"/>
              <a:ea typeface="Roboto"/>
              <a:cs typeface="Roboto"/>
              <a:sym typeface="Roboto"/>
            </a:endParaRPr>
          </a:p>
          <a:p>
            <a:pPr indent="0" lvl="0" marL="45720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Syntax:</a:t>
            </a:r>
            <a:endParaRPr sz="1200">
              <a:solidFill>
                <a:srgbClr val="333333"/>
              </a:solidFill>
              <a:highlight>
                <a:srgbClr val="FFFFFF"/>
              </a:highlight>
              <a:latin typeface="Roboto"/>
              <a:ea typeface="Roboto"/>
              <a:cs typeface="Roboto"/>
              <a:sym typeface="Roboto"/>
            </a:endParaRPr>
          </a:p>
          <a:p>
            <a:pPr indent="0" lvl="0" marL="45720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	</a:t>
            </a:r>
            <a:r>
              <a:rPr lang="en" sz="1200">
                <a:solidFill>
                  <a:schemeClr val="dk1"/>
                </a:solidFill>
                <a:latin typeface="Roboto"/>
                <a:ea typeface="Roboto"/>
                <a:cs typeface="Roboto"/>
                <a:sym typeface="Roboto"/>
              </a:rPr>
              <a:t>&lt;%! Java code %&gt;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Example:</a:t>
            </a:r>
            <a:endParaRPr sz="1200">
              <a:solidFill>
                <a:srgbClr val="333333"/>
              </a:solidFill>
              <a:highlight>
                <a:srgbClr val="FFFFFF"/>
              </a:highlight>
              <a:latin typeface="Roboto"/>
              <a:ea typeface="Roboto"/>
              <a:cs typeface="Roboto"/>
              <a:sym typeface="Roboto"/>
            </a:endParaRPr>
          </a:p>
          <a:p>
            <a:pPr indent="457200" lvl="0" marL="0" rtl="0" algn="l">
              <a:lnSpc>
                <a:spcPct val="156250"/>
              </a:lnSpc>
              <a:spcBef>
                <a:spcPts val="1200"/>
              </a:spcBef>
              <a:spcAft>
                <a:spcPts val="0"/>
              </a:spcAft>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457200" rtl="0" algn="l">
              <a:lnSpc>
                <a:spcPct val="156250"/>
              </a:lnSpc>
              <a:spcBef>
                <a:spcPts val="300"/>
              </a:spcBef>
              <a:spcAft>
                <a:spcPts val="0"/>
              </a:spcAft>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0" lvl="0" marL="914400" rtl="0" algn="l">
              <a:lnSpc>
                <a:spcPct val="156250"/>
              </a:lnSpc>
              <a:spcBef>
                <a:spcPts val="300"/>
              </a:spcBef>
              <a:spcAft>
                <a:spcPts val="0"/>
              </a:spcAft>
              <a:buNone/>
            </a:pPr>
            <a:r>
              <a:rPr lang="en" sz="1200">
                <a:solidFill>
                  <a:schemeClr val="dk1"/>
                </a:solidFill>
                <a:latin typeface="Roboto"/>
                <a:ea typeface="Roboto"/>
                <a:cs typeface="Roboto"/>
                <a:sym typeface="Roboto"/>
              </a:rPr>
              <a:t>&lt;%! int data=50; %&gt;  </a:t>
            </a:r>
            <a:endParaRPr sz="1200">
              <a:solidFill>
                <a:schemeClr val="dk1"/>
              </a:solidFill>
              <a:latin typeface="Roboto"/>
              <a:ea typeface="Roboto"/>
              <a:cs typeface="Roboto"/>
              <a:sym typeface="Roboto"/>
            </a:endParaRPr>
          </a:p>
          <a:p>
            <a:pPr indent="457200" lvl="0" marL="457200" rtl="0" algn="l">
              <a:lnSpc>
                <a:spcPct val="156250"/>
              </a:lnSpc>
              <a:spcBef>
                <a:spcPts val="300"/>
              </a:spcBef>
              <a:spcAft>
                <a:spcPts val="0"/>
              </a:spcAft>
              <a:buNone/>
            </a:pPr>
            <a:r>
              <a:rPr lang="en" sz="1200">
                <a:solidFill>
                  <a:schemeClr val="dk1"/>
                </a:solidFill>
                <a:latin typeface="Roboto"/>
                <a:ea typeface="Roboto"/>
                <a:cs typeface="Roboto"/>
                <a:sym typeface="Roboto"/>
              </a:rPr>
              <a:t>&lt;%= "Value of the variable is:"+data %&gt;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JSP Directives  </a:t>
            </a:r>
            <a:endParaRPr/>
          </a:p>
        </p:txBody>
      </p:sp>
      <p:sp>
        <p:nvSpPr>
          <p:cNvPr id="351" name="Google Shape;35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Directives are used for declaring classes, session usage etc., and does not produce any response to the client. </a:t>
            </a:r>
            <a:endParaRPr/>
          </a:p>
          <a:p>
            <a:pPr indent="0" lvl="0" marL="457200" rtl="0" algn="l">
              <a:spcBef>
                <a:spcPts val="1200"/>
              </a:spcBef>
              <a:spcAft>
                <a:spcPts val="0"/>
              </a:spcAft>
              <a:buNone/>
            </a:pPr>
            <a:r>
              <a:rPr lang="en"/>
              <a:t>Syntax:</a:t>
            </a:r>
            <a:endParaRPr sz="1200">
              <a:solidFill>
                <a:srgbClr val="333333"/>
              </a:solidFill>
              <a:highlight>
                <a:srgbClr val="FFFFFF"/>
              </a:highlight>
              <a:latin typeface="Roboto"/>
              <a:ea typeface="Roboto"/>
              <a:cs typeface="Roboto"/>
              <a:sym typeface="Roboto"/>
            </a:endParaRPr>
          </a:p>
          <a:p>
            <a:pPr indent="0" lvl="0" marL="0" rtl="0" algn="just">
              <a:spcBef>
                <a:spcPts val="1200"/>
              </a:spcBef>
              <a:spcAft>
                <a:spcPts val="0"/>
              </a:spcAft>
              <a:buNone/>
            </a:pPr>
            <a:r>
              <a:rPr lang="en" sz="1200">
                <a:solidFill>
                  <a:srgbClr val="333333"/>
                </a:solidFill>
                <a:highlight>
                  <a:srgbClr val="FFFFFF"/>
                </a:highlight>
                <a:latin typeface="Roboto"/>
                <a:ea typeface="Roboto"/>
                <a:cs typeface="Roboto"/>
                <a:sym typeface="Roboto"/>
              </a:rPr>
              <a:t>		</a:t>
            </a:r>
            <a:r>
              <a:rPr lang="en" sz="1200">
                <a:solidFill>
                  <a:schemeClr val="dk1"/>
                </a:solidFill>
                <a:latin typeface="Roboto"/>
                <a:ea typeface="Roboto"/>
                <a:cs typeface="Roboto"/>
                <a:sym typeface="Roboto"/>
              </a:rPr>
              <a:t>&lt;%@ Java code %&gt; </a:t>
            </a:r>
            <a:endParaRPr/>
          </a:p>
          <a:p>
            <a:pPr indent="-342900" lvl="0" marL="457200" rtl="0" algn="l">
              <a:spcBef>
                <a:spcPts val="1200"/>
              </a:spcBef>
              <a:spcAft>
                <a:spcPts val="0"/>
              </a:spcAft>
              <a:buSzPts val="1800"/>
              <a:buChar char="●"/>
            </a:pPr>
            <a:r>
              <a:rPr lang="en"/>
              <a:t>A directive uses attributes for declarations. There are 3 types of directives as listed below:  </a:t>
            </a:r>
            <a:endParaRPr/>
          </a:p>
          <a:p>
            <a:pPr indent="-317500" lvl="1" marL="914400" rtl="0" algn="l">
              <a:spcBef>
                <a:spcPts val="0"/>
              </a:spcBef>
              <a:spcAft>
                <a:spcPts val="0"/>
              </a:spcAft>
              <a:buSzPts val="1400"/>
              <a:buChar char="○"/>
            </a:pPr>
            <a:r>
              <a:rPr lang="en"/>
              <a:t>page directive </a:t>
            </a:r>
            <a:endParaRPr/>
          </a:p>
          <a:p>
            <a:pPr indent="-317500" lvl="1" marL="914400" rtl="0" algn="l">
              <a:spcBef>
                <a:spcPts val="0"/>
              </a:spcBef>
              <a:spcAft>
                <a:spcPts val="0"/>
              </a:spcAft>
              <a:buSzPts val="1400"/>
              <a:buChar char="○"/>
            </a:pPr>
            <a:r>
              <a:rPr lang="en"/>
              <a:t>include directive </a:t>
            </a:r>
            <a:endParaRPr/>
          </a:p>
          <a:p>
            <a:pPr indent="-317500" lvl="1" marL="914400" rtl="0" algn="l">
              <a:spcBef>
                <a:spcPts val="0"/>
              </a:spcBef>
              <a:spcAft>
                <a:spcPts val="0"/>
              </a:spcAft>
              <a:buSzPts val="1400"/>
              <a:buChar char="○"/>
            </a:pPr>
            <a:r>
              <a:rPr lang="en"/>
              <a:t>taglib directive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Page Directive</a:t>
            </a:r>
            <a:endParaRPr/>
          </a:p>
        </p:txBody>
      </p:sp>
      <p:sp>
        <p:nvSpPr>
          <p:cNvPr id="357" name="Google Shape;357;p6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directive is used to declare things that are important to the entire JSP page.</a:t>
            </a:r>
            <a:endParaRPr/>
          </a:p>
          <a:p>
            <a:pPr indent="-342900" lvl="0" marL="457200" rtl="0" algn="l">
              <a:spcBef>
                <a:spcPts val="0"/>
              </a:spcBef>
              <a:spcAft>
                <a:spcPts val="0"/>
              </a:spcAft>
              <a:buSzPts val="1800"/>
              <a:buChar char="●"/>
            </a:pPr>
            <a:r>
              <a:rPr lang="en"/>
              <a:t> The syntax for this directive is shown below </a:t>
            </a:r>
            <a:endParaRPr/>
          </a:p>
          <a:p>
            <a:pPr indent="-317500" lvl="1" marL="914400" rtl="0" algn="l">
              <a:spcBef>
                <a:spcPts val="0"/>
              </a:spcBef>
              <a:spcAft>
                <a:spcPts val="0"/>
              </a:spcAft>
              <a:buSzPts val="1400"/>
              <a:buChar char="○"/>
            </a:pPr>
            <a:r>
              <a:rPr lang="en"/>
              <a:t>&lt;%@ page  attribute list %&gt; </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Attribute List</a:t>
            </a:r>
            <a:endParaRPr/>
          </a:p>
          <a:p>
            <a:pPr indent="-304800" lvl="0" marL="457200" marR="25400" rtl="0" algn="l">
              <a:lnSpc>
                <a:spcPct val="156250"/>
              </a:lnSpc>
              <a:spcBef>
                <a:spcPts val="150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import</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contentType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extends</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info</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isThreadSafe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session</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pageEncoding</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errorPage</a:t>
            </a:r>
            <a:endParaRPr sz="1200">
              <a:solidFill>
                <a:schemeClr val="dk1"/>
              </a:solidFill>
              <a:highlight>
                <a:srgbClr val="FFFFFF"/>
              </a:highlight>
              <a:latin typeface="Roboto"/>
              <a:ea typeface="Roboto"/>
              <a:cs typeface="Roboto"/>
              <a:sym typeface="Roboto"/>
            </a:endParaRPr>
          </a:p>
          <a:p>
            <a:pPr indent="-304800" lvl="0" marL="457200" marR="25400" rtl="0" algn="l">
              <a:lnSpc>
                <a:spcPct val="15625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isErrorPage</a:t>
            </a:r>
            <a:endParaRPr sz="1200">
              <a:solidFill>
                <a:schemeClr val="dk1"/>
              </a:solidFill>
              <a:highlight>
                <a:srgbClr val="FFFFFF"/>
              </a:highlight>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8"/>
          <p:cNvSpPr txBox="1"/>
          <p:nvPr>
            <p:ph idx="1" type="body"/>
          </p:nvPr>
        </p:nvSpPr>
        <p:spPr>
          <a:xfrm>
            <a:off x="466325" y="598575"/>
            <a:ext cx="8366100" cy="39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1)</a:t>
            </a:r>
            <a:r>
              <a:rPr b="1" lang="en" sz="1200"/>
              <a:t>import</a:t>
            </a:r>
            <a:endParaRPr b="1" sz="1200"/>
          </a:p>
          <a:p>
            <a:pPr indent="0" lvl="0" marL="0" rtl="0" algn="l">
              <a:spcBef>
                <a:spcPts val="1200"/>
              </a:spcBef>
              <a:spcAft>
                <a:spcPts val="0"/>
              </a:spcAft>
              <a:buNone/>
            </a:pPr>
            <a:r>
              <a:rPr lang="en" sz="1200"/>
              <a:t>The import attribute is used to import class,interface or all the members of a package.It is similar to import keyword in java class or interface.</a:t>
            </a:r>
            <a:endParaRPr sz="1200"/>
          </a:p>
          <a:p>
            <a:pPr indent="0" lvl="0" marL="0" rtl="0" algn="l">
              <a:spcBef>
                <a:spcPts val="1200"/>
              </a:spcBef>
              <a:spcAft>
                <a:spcPts val="0"/>
              </a:spcAft>
              <a:buNone/>
            </a:pPr>
            <a:r>
              <a:rPr lang="en" sz="1200"/>
              <a:t>Example:</a:t>
            </a:r>
            <a:endParaRPr sz="1200">
              <a:solidFill>
                <a:schemeClr val="dk1"/>
              </a:solidFill>
              <a:latin typeface="Roboto"/>
              <a:ea typeface="Roboto"/>
              <a:cs typeface="Roboto"/>
              <a:sym typeface="Roboto"/>
            </a:endParaRPr>
          </a:p>
          <a:p>
            <a:pPr indent="457200" lvl="0" marL="0" rtl="0" algn="l">
              <a:lnSpc>
                <a:spcPct val="156250"/>
              </a:lnSpc>
              <a:spcBef>
                <a:spcPts val="1200"/>
              </a:spcBef>
              <a:spcAft>
                <a:spcPts val="0"/>
              </a:spcAft>
              <a:buNone/>
            </a:pPr>
            <a:r>
              <a:rPr lang="en" sz="1200">
                <a:solidFill>
                  <a:schemeClr val="dk1"/>
                </a:solidFill>
                <a:latin typeface="Roboto"/>
                <a:ea typeface="Roboto"/>
                <a:cs typeface="Roboto"/>
                <a:sym typeface="Roboto"/>
              </a:rPr>
              <a:t>&lt;%@ page import="java.util.Date" %&gt;  </a:t>
            </a:r>
            <a:endParaRPr sz="12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rPr lang="en" sz="1200">
                <a:solidFill>
                  <a:schemeClr val="dk1"/>
                </a:solidFill>
                <a:latin typeface="Roboto"/>
                <a:ea typeface="Roboto"/>
                <a:cs typeface="Roboto"/>
                <a:sym typeface="Roboto"/>
              </a:rPr>
              <a:t>Today is: &lt;%= new Date() %&gt;  </a:t>
            </a:r>
            <a:endParaRPr sz="1200">
              <a:solidFill>
                <a:schemeClr val="dk1"/>
              </a:solidFill>
              <a:latin typeface="Roboto"/>
              <a:ea typeface="Roboto"/>
              <a:cs typeface="Roboto"/>
              <a:sym typeface="Roboto"/>
            </a:endParaRPr>
          </a:p>
          <a:p>
            <a:pPr indent="0" lvl="0" marL="0" rtl="0" algn="just">
              <a:lnSpc>
                <a:spcPct val="130000"/>
              </a:lnSpc>
              <a:spcBef>
                <a:spcPts val="1400"/>
              </a:spcBef>
              <a:spcAft>
                <a:spcPts val="0"/>
              </a:spcAft>
              <a:buClr>
                <a:schemeClr val="dk1"/>
              </a:buClr>
              <a:buSzPts val="990"/>
              <a:buFont typeface="Arial"/>
              <a:buNone/>
            </a:pPr>
            <a:r>
              <a:rPr lang="en" sz="1200">
                <a:solidFill>
                  <a:schemeClr val="dk1"/>
                </a:solidFill>
                <a:highlight>
                  <a:srgbClr val="FFFFFF"/>
                </a:highlight>
              </a:rPr>
              <a:t>2) contentType</a:t>
            </a:r>
            <a:endParaRPr sz="1200">
              <a:solidFill>
                <a:schemeClr val="dk1"/>
              </a:solidFill>
              <a:latin typeface="Roboto"/>
              <a:ea typeface="Roboto"/>
              <a:cs typeface="Roboto"/>
              <a:sym typeface="Roboto"/>
            </a:endParaRPr>
          </a:p>
          <a:p>
            <a:pPr indent="0" lvl="0" marL="0" rtl="0" algn="l">
              <a:lnSpc>
                <a:spcPct val="156250"/>
              </a:lnSpc>
              <a:spcBef>
                <a:spcPts val="400"/>
              </a:spcBef>
              <a:spcAft>
                <a:spcPts val="0"/>
              </a:spcAft>
              <a:buClr>
                <a:schemeClr val="dk1"/>
              </a:buClr>
              <a:buSzPts val="1100"/>
              <a:buFont typeface="Arial"/>
              <a:buNone/>
            </a:pPr>
            <a:r>
              <a:rPr lang="en" sz="1200">
                <a:solidFill>
                  <a:srgbClr val="333333"/>
                </a:solidFill>
                <a:highlight>
                  <a:srgbClr val="FFFFFF"/>
                </a:highlight>
                <a:latin typeface="Roboto"/>
                <a:ea typeface="Roboto"/>
                <a:cs typeface="Roboto"/>
                <a:sym typeface="Roboto"/>
              </a:rPr>
              <a:t>The contentType attribute defines the MIME(Multipurpose Internet Mail Extension) type of the HTTP response.</a:t>
            </a:r>
            <a:endParaRPr sz="1200">
              <a:latin typeface="Roboto"/>
              <a:ea typeface="Roboto"/>
              <a:cs typeface="Roboto"/>
              <a:sym typeface="Roboto"/>
            </a:endParaRPr>
          </a:p>
          <a:p>
            <a:pPr indent="0" lvl="0" marL="0" rtl="0" algn="l">
              <a:lnSpc>
                <a:spcPct val="156250"/>
              </a:lnSpc>
              <a:spcBef>
                <a:spcPts val="300"/>
              </a:spcBef>
              <a:spcAft>
                <a:spcPts val="0"/>
              </a:spcAft>
              <a:buClr>
                <a:schemeClr val="dk1"/>
              </a:buClr>
              <a:buSzPts val="1100"/>
              <a:buFont typeface="Arial"/>
              <a:buNone/>
            </a:pPr>
            <a:r>
              <a:rPr lang="en" sz="1200">
                <a:latin typeface="Roboto"/>
                <a:ea typeface="Roboto"/>
                <a:cs typeface="Roboto"/>
                <a:sym typeface="Roboto"/>
              </a:rPr>
              <a:t>Example:</a:t>
            </a:r>
            <a:endParaRPr sz="1200">
              <a:latin typeface="Roboto"/>
              <a:ea typeface="Roboto"/>
              <a:cs typeface="Roboto"/>
              <a:sym typeface="Roboto"/>
            </a:endParaRPr>
          </a:p>
          <a:p>
            <a:pPr indent="457200" lvl="0" marL="0" rtl="0" algn="l">
              <a:lnSpc>
                <a:spcPct val="156250"/>
              </a:lnSpc>
              <a:spcBef>
                <a:spcPts val="300"/>
              </a:spcBef>
              <a:spcAft>
                <a:spcPts val="0"/>
              </a:spcAft>
              <a:buClr>
                <a:schemeClr val="dk1"/>
              </a:buClr>
              <a:buSzPts val="1100"/>
              <a:buFont typeface="Arial"/>
              <a:buNone/>
            </a:pPr>
            <a:r>
              <a:rPr lang="en" sz="1200">
                <a:latin typeface="Roboto"/>
                <a:ea typeface="Roboto"/>
                <a:cs typeface="Roboto"/>
                <a:sym typeface="Roboto"/>
              </a:rPr>
              <a:t>&lt;%@ page contentType=application/msword %&gt;  </a:t>
            </a:r>
            <a:endParaRPr sz="1200">
              <a:latin typeface="Roboto"/>
              <a:ea typeface="Roboto"/>
              <a:cs typeface="Roboto"/>
              <a:sym typeface="Roboto"/>
            </a:endParaRPr>
          </a:p>
          <a:p>
            <a:pPr indent="457200" lvl="0" marL="0" rtl="0" algn="l">
              <a:lnSpc>
                <a:spcPct val="156250"/>
              </a:lnSpc>
              <a:spcBef>
                <a:spcPts val="300"/>
              </a:spcBef>
              <a:spcAft>
                <a:spcPts val="0"/>
              </a:spcAft>
              <a:buClr>
                <a:schemeClr val="dk1"/>
              </a:buClr>
              <a:buSzPts val="1100"/>
              <a:buFont typeface="Arial"/>
              <a:buNone/>
            </a:pPr>
            <a:r>
              <a:rPr lang="en" sz="1200">
                <a:latin typeface="Roboto"/>
                <a:ea typeface="Roboto"/>
                <a:cs typeface="Roboto"/>
                <a:sym typeface="Roboto"/>
              </a:rPr>
              <a:t>Today is: &lt;%= new java.util.Date() %&gt;   </a:t>
            </a:r>
            <a:endParaRPr sz="12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1200"/>
              </a:spcBef>
              <a:spcAft>
                <a:spcPts val="1200"/>
              </a:spcAft>
              <a:buNone/>
            </a:pPr>
            <a:r>
              <a:t/>
            </a:r>
            <a:endParaRPr sz="12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30000"/>
              </a:lnSpc>
              <a:spcBef>
                <a:spcPts val="1400"/>
              </a:spcBef>
              <a:spcAft>
                <a:spcPts val="0"/>
              </a:spcAft>
              <a:buClr>
                <a:schemeClr val="dk1"/>
              </a:buClr>
              <a:buSzPts val="990"/>
              <a:buFont typeface="Arial"/>
              <a:buNone/>
            </a:pPr>
            <a:r>
              <a:t/>
            </a:r>
            <a:endParaRPr sz="1540">
              <a:highlight>
                <a:srgbClr val="FFFFFF"/>
              </a:highlight>
            </a:endParaRPr>
          </a:p>
          <a:p>
            <a:pPr indent="0" lvl="0" marL="0" rtl="0" algn="l">
              <a:spcBef>
                <a:spcPts val="400"/>
              </a:spcBef>
              <a:spcAft>
                <a:spcPts val="0"/>
              </a:spcAft>
              <a:buSzPts val="990"/>
              <a:buNone/>
            </a:pPr>
            <a:r>
              <a:t/>
            </a:r>
            <a:endParaRPr sz="2620"/>
          </a:p>
        </p:txBody>
      </p:sp>
      <p:sp>
        <p:nvSpPr>
          <p:cNvPr id="373" name="Google Shape;373;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30000"/>
              </a:lnSpc>
              <a:spcBef>
                <a:spcPts val="1400"/>
              </a:spcBef>
              <a:spcAft>
                <a:spcPts val="0"/>
              </a:spcAft>
              <a:buClr>
                <a:schemeClr val="dk1"/>
              </a:buClr>
              <a:buSzPts val="1100"/>
              <a:buFont typeface="Arial"/>
              <a:buNone/>
            </a:pPr>
            <a:r>
              <a:rPr lang="en" sz="1100">
                <a:solidFill>
                  <a:schemeClr val="dk1"/>
                </a:solidFill>
                <a:highlight>
                  <a:srgbClr val="FFFFFF"/>
                </a:highlight>
              </a:rPr>
              <a:t>3)info</a:t>
            </a:r>
            <a:endParaRPr sz="1100">
              <a:solidFill>
                <a:schemeClr val="dk1"/>
              </a:solidFill>
              <a:highlight>
                <a:srgbClr val="FFFFFF"/>
              </a:highlight>
            </a:endParaRPr>
          </a:p>
          <a:p>
            <a:pPr indent="0" lvl="0" marL="0" rtl="0" algn="just">
              <a:spcBef>
                <a:spcPts val="12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This attribute simply sets the information of the JSP page which is retrieved later by using getServletInfo() method of Servlet interface</a:t>
            </a:r>
            <a:endParaRPr sz="1100">
              <a:solidFill>
                <a:schemeClr val="dk1"/>
              </a:solidFill>
              <a:highlight>
                <a:srgbClr val="FFFFFF"/>
              </a:highlight>
              <a:latin typeface="Roboto"/>
              <a:ea typeface="Roboto"/>
              <a:cs typeface="Roboto"/>
              <a:sym typeface="Roboto"/>
            </a:endParaRPr>
          </a:p>
          <a:p>
            <a:pPr indent="0" lvl="0" marL="0" rtl="0" algn="l">
              <a:lnSpc>
                <a:spcPct val="156250"/>
              </a:lnSpc>
              <a:spcBef>
                <a:spcPts val="1200"/>
              </a:spcBef>
              <a:spcAft>
                <a:spcPts val="0"/>
              </a:spcAft>
              <a:buNone/>
            </a:pPr>
            <a:r>
              <a:rPr lang="en" sz="1100">
                <a:solidFill>
                  <a:schemeClr val="dk1"/>
                </a:solidFill>
                <a:latin typeface="Roboto"/>
                <a:ea typeface="Roboto"/>
                <a:cs typeface="Roboto"/>
                <a:sym typeface="Roboto"/>
              </a:rPr>
              <a:t>&lt;%@ page info="composed by Sudip" %&gt;  </a:t>
            </a:r>
            <a:endParaRPr sz="1100">
              <a:solidFill>
                <a:schemeClr val="dk1"/>
              </a:solidFill>
              <a:latin typeface="Roboto"/>
              <a:ea typeface="Roboto"/>
              <a:cs typeface="Roboto"/>
              <a:sym typeface="Roboto"/>
            </a:endParaRPr>
          </a:p>
          <a:p>
            <a:pPr indent="0" lvl="0" marL="0" rtl="0" algn="l">
              <a:lnSpc>
                <a:spcPct val="156250"/>
              </a:lnSpc>
              <a:spcBef>
                <a:spcPts val="300"/>
              </a:spcBef>
              <a:spcAft>
                <a:spcPts val="0"/>
              </a:spcAft>
              <a:buNone/>
            </a:pPr>
            <a:r>
              <a:rPr lang="en" sz="1100">
                <a:solidFill>
                  <a:schemeClr val="dk1"/>
                </a:solidFill>
                <a:latin typeface="Roboto"/>
                <a:ea typeface="Roboto"/>
                <a:cs typeface="Roboto"/>
                <a:sym typeface="Roboto"/>
              </a:rPr>
              <a:t>Today is: &lt;%= new java.util.Date() %&gt;  </a:t>
            </a:r>
            <a:endParaRPr sz="1100">
              <a:solidFill>
                <a:schemeClr val="dk1"/>
              </a:solidFill>
              <a:latin typeface="Roboto"/>
              <a:ea typeface="Roboto"/>
              <a:cs typeface="Roboto"/>
              <a:sym typeface="Roboto"/>
            </a:endParaRPr>
          </a:p>
          <a:p>
            <a:pPr indent="0" lvl="0" marL="0" rtl="0" algn="just">
              <a:lnSpc>
                <a:spcPct val="130000"/>
              </a:lnSpc>
              <a:spcBef>
                <a:spcPts val="1400"/>
              </a:spcBef>
              <a:spcAft>
                <a:spcPts val="0"/>
              </a:spcAft>
              <a:buClr>
                <a:schemeClr val="dk1"/>
              </a:buClr>
              <a:buSzPts val="1100"/>
              <a:buFont typeface="Arial"/>
              <a:buNone/>
            </a:pPr>
            <a:r>
              <a:rPr lang="en" sz="1100">
                <a:solidFill>
                  <a:schemeClr val="dk1"/>
                </a:solidFill>
                <a:highlight>
                  <a:srgbClr val="FFFFFF"/>
                </a:highlight>
              </a:rPr>
              <a:t>4)buffer</a:t>
            </a:r>
            <a:endParaRPr sz="1100">
              <a:solidFill>
                <a:schemeClr val="dk1"/>
              </a:solidFill>
              <a:highlight>
                <a:srgbClr val="FFFFFF"/>
              </a:highlight>
            </a:endParaRPr>
          </a:p>
          <a:p>
            <a:pPr indent="0" lvl="0" marL="0" rtl="0" algn="just">
              <a:spcBef>
                <a:spcPts val="12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The buffer attribute sets the buffer size in kilobytes to handle output generated by the JSP page.The default size of the buffer is 8Kb.</a:t>
            </a:r>
            <a:endParaRPr sz="1100">
              <a:solidFill>
                <a:schemeClr val="dk1"/>
              </a:solidFill>
              <a:highlight>
                <a:srgbClr val="FFFFFF"/>
              </a:highlight>
              <a:latin typeface="Roboto"/>
              <a:ea typeface="Roboto"/>
              <a:cs typeface="Roboto"/>
              <a:sym typeface="Roboto"/>
            </a:endParaRPr>
          </a:p>
          <a:p>
            <a:pPr indent="0" lvl="0" marL="0" rtl="0" algn="l">
              <a:lnSpc>
                <a:spcPct val="156250"/>
              </a:lnSpc>
              <a:spcBef>
                <a:spcPts val="1200"/>
              </a:spcBef>
              <a:spcAft>
                <a:spcPts val="0"/>
              </a:spcAft>
              <a:buNone/>
            </a:pPr>
            <a:r>
              <a:rPr lang="en" sz="1100">
                <a:solidFill>
                  <a:schemeClr val="dk1"/>
                </a:solidFill>
                <a:latin typeface="Roboto"/>
                <a:ea typeface="Roboto"/>
                <a:cs typeface="Roboto"/>
                <a:sym typeface="Roboto"/>
              </a:rPr>
              <a:t>	&lt;%@ page buffer="16kb" %&gt;  </a:t>
            </a:r>
            <a:endParaRPr sz="1100">
              <a:solidFill>
                <a:schemeClr val="dk1"/>
              </a:solidFill>
              <a:latin typeface="Roboto"/>
              <a:ea typeface="Roboto"/>
              <a:cs typeface="Roboto"/>
              <a:sym typeface="Roboto"/>
            </a:endParaRPr>
          </a:p>
          <a:p>
            <a:pPr indent="0" lvl="0" marL="457200" rtl="0" algn="l">
              <a:lnSpc>
                <a:spcPct val="156250"/>
              </a:lnSpc>
              <a:spcBef>
                <a:spcPts val="300"/>
              </a:spcBef>
              <a:spcAft>
                <a:spcPts val="0"/>
              </a:spcAft>
              <a:buNone/>
            </a:pPr>
            <a:r>
              <a:rPr lang="en" sz="1100">
                <a:solidFill>
                  <a:schemeClr val="dk1"/>
                </a:solidFill>
                <a:latin typeface="Roboto"/>
                <a:ea typeface="Roboto"/>
                <a:cs typeface="Roboto"/>
                <a:sym typeface="Roboto"/>
              </a:rPr>
              <a:t>Today is: &lt;%= new java.util.Date() %&gt;</a:t>
            </a:r>
            <a:endParaRPr sz="1100">
              <a:solidFill>
                <a:schemeClr val="dk1"/>
              </a:solidFill>
              <a:latin typeface="Roboto"/>
              <a:ea typeface="Roboto"/>
              <a:cs typeface="Roboto"/>
              <a:sym typeface="Roboto"/>
            </a:endParaRPr>
          </a:p>
          <a:p>
            <a:pPr indent="0" lvl="0" marL="0" rtl="0" algn="l">
              <a:lnSpc>
                <a:spcPct val="156250"/>
              </a:lnSpc>
              <a:spcBef>
                <a:spcPts val="300"/>
              </a:spcBef>
              <a:spcAft>
                <a:spcPts val="0"/>
              </a:spcAft>
              <a:buNone/>
            </a:pPr>
            <a:r>
              <a:t/>
            </a:r>
            <a:endParaRPr sz="1100">
              <a:solidFill>
                <a:schemeClr val="dk1"/>
              </a:solidFill>
              <a:latin typeface="Roboto"/>
              <a:ea typeface="Roboto"/>
              <a:cs typeface="Roboto"/>
              <a:sym typeface="Roboto"/>
            </a:endParaRPr>
          </a:p>
          <a:p>
            <a:pPr indent="457200" lvl="0" marL="0" rtl="0" algn="l">
              <a:lnSpc>
                <a:spcPct val="156250"/>
              </a:lnSpc>
              <a:spcBef>
                <a:spcPts val="300"/>
              </a:spcBef>
              <a:spcAft>
                <a:spcPts val="0"/>
              </a:spcAft>
              <a:buNone/>
            </a:pPr>
            <a:r>
              <a:t/>
            </a:r>
            <a:endParaRPr sz="1100">
              <a:solidFill>
                <a:schemeClr val="dk1"/>
              </a:solidFill>
              <a:latin typeface="Roboto"/>
              <a:ea typeface="Roboto"/>
              <a:cs typeface="Roboto"/>
              <a:sym typeface="Roboto"/>
            </a:endParaRPr>
          </a:p>
          <a:p>
            <a:pPr indent="0" lvl="0" marL="0" rtl="0" algn="l">
              <a:spcBef>
                <a:spcPts val="0"/>
              </a:spcBef>
              <a:spcAft>
                <a:spcPts val="1200"/>
              </a:spcAft>
              <a:buNone/>
            </a:pPr>
            <a:r>
              <a:t/>
            </a:r>
            <a:endParaRPr sz="1100">
              <a:solidFill>
                <a:schemeClr val="dk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lnSpc>
                <a:spcPct val="130000"/>
              </a:lnSpc>
              <a:spcBef>
                <a:spcPts val="1400"/>
              </a:spcBef>
              <a:spcAft>
                <a:spcPts val="0"/>
              </a:spcAft>
              <a:buClr>
                <a:schemeClr val="dk1"/>
              </a:buClr>
              <a:buSzPts val="1100"/>
              <a:buFont typeface="Arial"/>
              <a:buNone/>
            </a:pPr>
            <a:r>
              <a:rPr lang="en" sz="1100">
                <a:solidFill>
                  <a:schemeClr val="dk1"/>
                </a:solidFill>
                <a:highlight>
                  <a:srgbClr val="FFFFFF"/>
                </a:highlight>
              </a:rPr>
              <a:t>5)errorPage</a:t>
            </a:r>
            <a:endParaRPr sz="1100">
              <a:solidFill>
                <a:schemeClr val="dk1"/>
              </a:solidFill>
              <a:highlight>
                <a:srgbClr val="FFFFFF"/>
              </a:highlight>
            </a:endParaRPr>
          </a:p>
          <a:p>
            <a:pPr indent="0" lvl="0" marL="0" rtl="0" algn="just">
              <a:spcBef>
                <a:spcPts val="12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The errorPage attribute is used to define the error page, if exception occurs in the current page, it will be redirected to the error page.</a:t>
            </a:r>
            <a:endParaRPr sz="11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rPr lang="en" sz="1100">
                <a:solidFill>
                  <a:schemeClr val="dk1"/>
                </a:solidFill>
              </a:rPr>
              <a:t>	</a:t>
            </a:r>
            <a:r>
              <a:rPr lang="en" sz="1100">
                <a:solidFill>
                  <a:schemeClr val="dk1"/>
                </a:solidFill>
                <a:latin typeface="Roboto"/>
                <a:ea typeface="Roboto"/>
                <a:cs typeface="Roboto"/>
                <a:sym typeface="Roboto"/>
              </a:rPr>
              <a:t>&lt;%@ page errorPage="myerrorpage.jsp" %&gt;    </a:t>
            </a:r>
            <a:endParaRPr sz="1100">
              <a:solidFill>
                <a:schemeClr val="dk1"/>
              </a:solidFill>
              <a:latin typeface="Roboto"/>
              <a:ea typeface="Roboto"/>
              <a:cs typeface="Roboto"/>
              <a:sym typeface="Roboto"/>
            </a:endParaRPr>
          </a:p>
          <a:p>
            <a:pPr indent="457200" lvl="0" marL="0" rtl="0" algn="l">
              <a:spcBef>
                <a:spcPts val="1200"/>
              </a:spcBef>
              <a:spcAft>
                <a:spcPts val="0"/>
              </a:spcAft>
              <a:buNone/>
            </a:pPr>
            <a:r>
              <a:rPr lang="en" sz="1100">
                <a:solidFill>
                  <a:schemeClr val="dk1"/>
                </a:solidFill>
                <a:latin typeface="Roboto"/>
                <a:ea typeface="Roboto"/>
                <a:cs typeface="Roboto"/>
                <a:sym typeface="Roboto"/>
              </a:rPr>
              <a:t> &lt;%= 100/0 %&gt;  </a:t>
            </a:r>
            <a:endParaRPr sz="1100">
              <a:solidFill>
                <a:schemeClr val="dk1"/>
              </a:solidFill>
              <a:latin typeface="Roboto"/>
              <a:ea typeface="Roboto"/>
              <a:cs typeface="Roboto"/>
              <a:sym typeface="Roboto"/>
            </a:endParaRPr>
          </a:p>
          <a:p>
            <a:pPr indent="0" lvl="0" marL="0" rtl="0" algn="just">
              <a:lnSpc>
                <a:spcPct val="130000"/>
              </a:lnSpc>
              <a:spcBef>
                <a:spcPts val="1400"/>
              </a:spcBef>
              <a:spcAft>
                <a:spcPts val="0"/>
              </a:spcAft>
              <a:buClr>
                <a:schemeClr val="dk1"/>
              </a:buClr>
              <a:buSzPts val="1100"/>
              <a:buFont typeface="Arial"/>
              <a:buNone/>
            </a:pPr>
            <a:r>
              <a:rPr lang="en" sz="1100">
                <a:solidFill>
                  <a:schemeClr val="dk1"/>
                </a:solidFill>
                <a:highlight>
                  <a:srgbClr val="FFFFFF"/>
                </a:highlight>
              </a:rPr>
              <a:t>6)isErrorPage</a:t>
            </a:r>
            <a:endParaRPr sz="1100">
              <a:solidFill>
                <a:schemeClr val="dk1"/>
              </a:solidFill>
              <a:highlight>
                <a:srgbClr val="FFFFFF"/>
              </a:highlight>
            </a:endParaRPr>
          </a:p>
          <a:p>
            <a:pPr indent="0" lvl="0" marL="0" rtl="0" algn="just">
              <a:spcBef>
                <a:spcPts val="1200"/>
              </a:spcBef>
              <a:spcAft>
                <a:spcPts val="0"/>
              </a:spcAft>
              <a:buNone/>
            </a:pPr>
            <a:r>
              <a:rPr lang="en" sz="1100">
                <a:solidFill>
                  <a:schemeClr val="dk1"/>
                </a:solidFill>
                <a:highlight>
                  <a:srgbClr val="FFFFFF"/>
                </a:highlight>
                <a:latin typeface="Roboto"/>
                <a:ea typeface="Roboto"/>
                <a:cs typeface="Roboto"/>
                <a:sym typeface="Roboto"/>
              </a:rPr>
              <a:t>The isErrorPage attribute is used to declare that the current page is the error page.</a:t>
            </a:r>
            <a:endParaRPr sz="1100">
              <a:solidFill>
                <a:schemeClr val="dk1"/>
              </a:solidFill>
              <a:highlight>
                <a:srgbClr val="FFFFFF"/>
              </a:highlight>
              <a:latin typeface="Roboto"/>
              <a:ea typeface="Roboto"/>
              <a:cs typeface="Roboto"/>
              <a:sym typeface="Roboto"/>
            </a:endParaRPr>
          </a:p>
          <a:p>
            <a:pPr indent="0" lvl="0" marL="0" rtl="0" algn="just">
              <a:spcBef>
                <a:spcPts val="12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	</a:t>
            </a:r>
            <a:r>
              <a:rPr lang="en" sz="1100">
                <a:solidFill>
                  <a:schemeClr val="dk1"/>
                </a:solidFill>
                <a:latin typeface="Roboto"/>
                <a:ea typeface="Roboto"/>
                <a:cs typeface="Roboto"/>
                <a:sym typeface="Roboto"/>
              </a:rPr>
              <a:t>&lt;%@ page isErrorPage=true %&gt;  </a:t>
            </a:r>
            <a:endParaRPr sz="1100">
              <a:solidFill>
                <a:schemeClr val="dk1"/>
              </a:solidFill>
              <a:highlight>
                <a:srgbClr val="FFFFFF"/>
              </a:highlight>
              <a:latin typeface="Roboto"/>
              <a:ea typeface="Roboto"/>
              <a:cs typeface="Roboto"/>
              <a:sym typeface="Roboto"/>
            </a:endParaRPr>
          </a:p>
          <a:p>
            <a:pPr indent="0" lvl="0" marL="457200" rtl="0" algn="l">
              <a:lnSpc>
                <a:spcPct val="156250"/>
              </a:lnSpc>
              <a:spcBef>
                <a:spcPts val="1200"/>
              </a:spcBef>
              <a:spcAft>
                <a:spcPts val="0"/>
              </a:spcAft>
              <a:buNone/>
            </a:pPr>
            <a:r>
              <a:rPr lang="en" sz="1100">
                <a:solidFill>
                  <a:schemeClr val="dk1"/>
                </a:solidFill>
                <a:latin typeface="Roboto"/>
                <a:ea typeface="Roboto"/>
                <a:cs typeface="Roboto"/>
                <a:sym typeface="Roboto"/>
              </a:rPr>
              <a:t> Sorry an exception occured!&lt;br/&gt;  </a:t>
            </a:r>
            <a:endParaRPr sz="1100">
              <a:solidFill>
                <a:schemeClr val="dk1"/>
              </a:solidFill>
              <a:latin typeface="Roboto"/>
              <a:ea typeface="Roboto"/>
              <a:cs typeface="Roboto"/>
              <a:sym typeface="Roboto"/>
            </a:endParaRPr>
          </a:p>
          <a:p>
            <a:pPr indent="0" lvl="0" marL="457200" rtl="0" algn="l">
              <a:lnSpc>
                <a:spcPct val="156250"/>
              </a:lnSpc>
              <a:spcBef>
                <a:spcPts val="300"/>
              </a:spcBef>
              <a:spcAft>
                <a:spcPts val="0"/>
              </a:spcAft>
              <a:buNone/>
            </a:pPr>
            <a:r>
              <a:rPr lang="en" sz="1100">
                <a:solidFill>
                  <a:schemeClr val="dk1"/>
                </a:solidFill>
                <a:latin typeface="Roboto"/>
                <a:ea typeface="Roboto"/>
                <a:cs typeface="Roboto"/>
                <a:sym typeface="Roboto"/>
              </a:rPr>
              <a:t>The exception is: &lt;%= exception %&gt;  </a:t>
            </a:r>
            <a:endParaRPr sz="1100">
              <a:solidFill>
                <a:schemeClr val="dk1"/>
              </a:solidFill>
              <a:latin typeface="Roboto"/>
              <a:ea typeface="Roboto"/>
              <a:cs typeface="Roboto"/>
              <a:sym typeface="Roboto"/>
            </a:endParaRPr>
          </a:p>
          <a:p>
            <a:pPr indent="0" lvl="0" marL="0" rtl="0" algn="l">
              <a:spcBef>
                <a:spcPts val="0"/>
              </a:spcBef>
              <a:spcAft>
                <a:spcPts val="0"/>
              </a:spcAft>
              <a:buNone/>
            </a:pPr>
            <a:r>
              <a:t/>
            </a:r>
            <a:endParaRPr sz="1100">
              <a:solidFill>
                <a:schemeClr val="dk1"/>
              </a:solidFill>
              <a:latin typeface="Roboto"/>
              <a:ea typeface="Roboto"/>
              <a:cs typeface="Roboto"/>
              <a:sym typeface="Roboto"/>
            </a:endParaRPr>
          </a:p>
          <a:p>
            <a:pPr indent="457200" lvl="0" marL="0" rtl="0" algn="l">
              <a:spcBef>
                <a:spcPts val="1200"/>
              </a:spcBef>
              <a:spcAft>
                <a:spcPts val="0"/>
              </a:spcAft>
              <a:buNone/>
            </a:pPr>
            <a:r>
              <a:t/>
            </a:r>
            <a:endParaRPr sz="1100">
              <a:solidFill>
                <a:schemeClr val="dk1"/>
              </a:solidFill>
              <a:latin typeface="Roboto"/>
              <a:ea typeface="Roboto"/>
              <a:cs typeface="Roboto"/>
              <a:sym typeface="Roboto"/>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Include Directive</a:t>
            </a:r>
            <a:endParaRPr/>
          </a:p>
        </p:txBody>
      </p:sp>
      <p:sp>
        <p:nvSpPr>
          <p:cNvPr id="384" name="Google Shape;384;p7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directive is used to include the response of another resource (JSP or html) at the point where the directive is placed in the current JSP. Its usage is shown below. </a:t>
            </a:r>
            <a:endParaRPr/>
          </a:p>
          <a:p>
            <a:pPr indent="0" lvl="0" marL="0" rtl="0" algn="l">
              <a:spcBef>
                <a:spcPts val="1200"/>
              </a:spcBef>
              <a:spcAft>
                <a:spcPts val="0"/>
              </a:spcAft>
              <a:buNone/>
            </a:pPr>
            <a:r>
              <a:rPr lang="en"/>
              <a:t>	syntax:  &lt;%@ include file=”file name” %&gt; </a:t>
            </a:r>
            <a:endParaRPr/>
          </a:p>
          <a:p>
            <a:pPr indent="0" lvl="0" marL="0" rtl="0" algn="l">
              <a:spcBef>
                <a:spcPts val="1200"/>
              </a:spcBef>
              <a:spcAft>
                <a:spcPts val="1200"/>
              </a:spcAft>
              <a:buNone/>
            </a:pPr>
            <a:r>
              <a:rPr lang="en"/>
              <a:t>Example: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en"/>
              <a:t>&lt;HTML&gt; </a:t>
            </a:r>
            <a:endParaRPr/>
          </a:p>
          <a:p>
            <a:pPr indent="0" lvl="0" marL="0" rtl="0" algn="l">
              <a:spcBef>
                <a:spcPts val="1200"/>
              </a:spcBef>
              <a:spcAft>
                <a:spcPts val="0"/>
              </a:spcAft>
              <a:buClr>
                <a:schemeClr val="dk1"/>
              </a:buClr>
              <a:buSzPct val="61111"/>
              <a:buFont typeface="Arial"/>
              <a:buNone/>
            </a:pPr>
            <a:r>
              <a:rPr lang="en"/>
              <a:t>&lt;BODY&gt;     </a:t>
            </a:r>
            <a:endParaRPr/>
          </a:p>
          <a:p>
            <a:pPr indent="0" lvl="0" marL="0" rtl="0" algn="l">
              <a:spcBef>
                <a:spcPts val="1200"/>
              </a:spcBef>
              <a:spcAft>
                <a:spcPts val="0"/>
              </a:spcAft>
              <a:buClr>
                <a:schemeClr val="dk1"/>
              </a:buClr>
              <a:buSzPct val="61111"/>
              <a:buFont typeface="Arial"/>
              <a:buNone/>
            </a:pPr>
            <a:r>
              <a:rPr lang="en"/>
              <a:t>&lt;h4&gt; This is the response from the current JSP page&lt;/h4&gt;     </a:t>
            </a:r>
            <a:endParaRPr/>
          </a:p>
          <a:p>
            <a:pPr indent="0" lvl="0" marL="0" rtl="0" algn="l">
              <a:spcBef>
                <a:spcPts val="1200"/>
              </a:spcBef>
              <a:spcAft>
                <a:spcPts val="0"/>
              </a:spcAft>
              <a:buClr>
                <a:schemeClr val="dk1"/>
              </a:buClr>
              <a:buSzPct val="61111"/>
              <a:buFont typeface="Arial"/>
              <a:buNone/>
            </a:pPr>
            <a:r>
              <a:rPr lang="en"/>
              <a:t>&lt;h3&gt; Following is the response from another JSP &lt;/h3&gt;     </a:t>
            </a:r>
            <a:endParaRPr/>
          </a:p>
          <a:p>
            <a:pPr indent="0" lvl="0" marL="0" rtl="0" algn="l">
              <a:spcBef>
                <a:spcPts val="1200"/>
              </a:spcBef>
              <a:spcAft>
                <a:spcPts val="0"/>
              </a:spcAft>
              <a:buClr>
                <a:schemeClr val="dk1"/>
              </a:buClr>
              <a:buSzPct val="61111"/>
              <a:buFont typeface="Arial"/>
              <a:buNone/>
            </a:pPr>
            <a:r>
              <a:rPr lang="en"/>
              <a:t>&lt;hr/&gt;    </a:t>
            </a:r>
            <a:endParaRPr/>
          </a:p>
          <a:p>
            <a:pPr indent="0" lvl="0" marL="0" rtl="0" algn="l">
              <a:spcBef>
                <a:spcPts val="1200"/>
              </a:spcBef>
              <a:spcAft>
                <a:spcPts val="0"/>
              </a:spcAft>
              <a:buClr>
                <a:schemeClr val="dk1"/>
              </a:buClr>
              <a:buSzPct val="61111"/>
              <a:buFont typeface="Arial"/>
              <a:buNone/>
            </a:pPr>
            <a:r>
              <a:rPr lang="en"/>
              <a:t>&lt;%@ include file=”/jsps/PageDirectiveDemo.jsp” %&gt; </a:t>
            </a:r>
            <a:endParaRPr/>
          </a:p>
          <a:p>
            <a:pPr indent="0" lvl="0" marL="0" rtl="0" algn="l">
              <a:spcBef>
                <a:spcPts val="1200"/>
              </a:spcBef>
              <a:spcAft>
                <a:spcPts val="0"/>
              </a:spcAft>
              <a:buClr>
                <a:schemeClr val="dk1"/>
              </a:buClr>
              <a:buSzPct val="61111"/>
              <a:buFont typeface="Arial"/>
              <a:buNone/>
            </a:pPr>
            <a:r>
              <a:rPr lang="en"/>
              <a:t>&lt;hr/&gt;  </a:t>
            </a:r>
            <a:endParaRPr/>
          </a:p>
          <a:p>
            <a:pPr indent="0" lvl="0" marL="0" rtl="0" algn="l">
              <a:spcBef>
                <a:spcPts val="1200"/>
              </a:spcBef>
              <a:spcAft>
                <a:spcPts val="0"/>
              </a:spcAft>
              <a:buClr>
                <a:schemeClr val="dk1"/>
              </a:buClr>
              <a:buSzPct val="61111"/>
              <a:buFont typeface="Arial"/>
              <a:buNone/>
            </a:pPr>
            <a:r>
              <a:rPr lang="en"/>
              <a:t>&lt;/BODY&gt; </a:t>
            </a:r>
            <a:endParaRPr/>
          </a:p>
          <a:p>
            <a:pPr indent="0" lvl="0" marL="0" rtl="0" algn="l">
              <a:spcBef>
                <a:spcPts val="1200"/>
              </a:spcBef>
              <a:spcAft>
                <a:spcPts val="0"/>
              </a:spcAft>
              <a:buClr>
                <a:schemeClr val="dk1"/>
              </a:buClr>
              <a:buSzPct val="61111"/>
              <a:buFont typeface="Arial"/>
              <a:buNone/>
            </a:pPr>
            <a:r>
              <a:rPr lang="en"/>
              <a:t>&lt;/HTML&gt; </a:t>
            </a:r>
            <a:endParaRPr/>
          </a:p>
          <a:p>
            <a:pPr indent="0" lvl="0" marL="0" rtl="0" algn="l">
              <a:spcBef>
                <a:spcPts val="1200"/>
              </a:spcBef>
              <a:spcAft>
                <a:spcPts val="120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73"/>
          <p:cNvSpPr txBox="1"/>
          <p:nvPr>
            <p:ph type="title"/>
          </p:nvPr>
        </p:nvSpPr>
        <p:spPr>
          <a:xfrm>
            <a:off x="231125" y="525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taglib directive </a:t>
            </a:r>
            <a:endParaRPr/>
          </a:p>
        </p:txBody>
      </p:sp>
      <p:sp>
        <p:nvSpPr>
          <p:cNvPr id="395" name="Google Shape;395;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directive allows the JSP page to use custom tags written in Java. </a:t>
            </a:r>
            <a:endParaRPr/>
          </a:p>
          <a:p>
            <a:pPr indent="-342900" lvl="0" marL="457200" rtl="0" algn="l">
              <a:spcBef>
                <a:spcPts val="0"/>
              </a:spcBef>
              <a:spcAft>
                <a:spcPts val="0"/>
              </a:spcAft>
              <a:buSzPts val="1800"/>
              <a:buChar char="●"/>
            </a:pPr>
            <a:r>
              <a:rPr lang="en"/>
              <a:t>Custom tag definitions are usually defined in a separate file called as Tag Library Descriptor. </a:t>
            </a:r>
            <a:endParaRPr/>
          </a:p>
          <a:p>
            <a:pPr indent="-342900" lvl="0" marL="457200" rtl="0" algn="l">
              <a:spcBef>
                <a:spcPts val="0"/>
              </a:spcBef>
              <a:spcAft>
                <a:spcPts val="0"/>
              </a:spcAft>
              <a:buSzPts val="1800"/>
              <a:buChar char="●"/>
            </a:pPr>
            <a:r>
              <a:rPr lang="en"/>
              <a:t>For the current JSP to use a custom tag, it needs to import the tag library file which is why this directive is used. Following is how taglib directive is used. </a:t>
            </a:r>
            <a:endParaRPr/>
          </a:p>
          <a:p>
            <a:pPr indent="-317500" lvl="1" marL="914400" rtl="0" algn="l">
              <a:spcBef>
                <a:spcPts val="0"/>
              </a:spcBef>
              <a:spcAft>
                <a:spcPts val="0"/>
              </a:spcAft>
              <a:buSzPts val="1400"/>
              <a:buChar char="○"/>
            </a:pPr>
            <a:r>
              <a:rPr lang="en"/>
              <a:t>&lt;%@ taglib uri=”location of definition file” prefix=”prefix name” %&gt;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01" name="Google Shape;401;p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6250"/>
              </a:lnSpc>
              <a:spcBef>
                <a:spcPts val="30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 taglib uri = “./location/tags” prefix=”mytag”%&gt;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&lt;mytag:currentDate/&gt;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&lt;/body&gt;  </a:t>
            </a:r>
            <a:endParaRPr sz="1200">
              <a:solidFill>
                <a:schemeClr val="dk1"/>
              </a:solidFill>
              <a:latin typeface="Roboto"/>
              <a:ea typeface="Roboto"/>
              <a:cs typeface="Roboto"/>
              <a:sym typeface="Roboto"/>
            </a:endParaRPr>
          </a:p>
          <a:p>
            <a:pPr indent="-304800" lvl="0" marL="457200" rtl="0" algn="l">
              <a:lnSpc>
                <a:spcPct val="15625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&lt;/html&gt;  </a:t>
            </a:r>
            <a:endParaRPr sz="1200">
              <a:solidFill>
                <a:schemeClr val="dk1"/>
              </a:solidFill>
              <a:latin typeface="Roboto"/>
              <a:ea typeface="Roboto"/>
              <a:cs typeface="Roboto"/>
              <a:sym typeface="Roboto"/>
            </a:endParaRPr>
          </a:p>
          <a:p>
            <a:pPr indent="0" lvl="0" marL="0" rtl="0" algn="l">
              <a:spcBef>
                <a:spcPts val="0"/>
              </a:spcBef>
              <a:spcAft>
                <a:spcPts val="120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75"/>
          <p:cNvSpPr txBox="1"/>
          <p:nvPr>
            <p:ph type="title"/>
          </p:nvPr>
        </p:nvSpPr>
        <p:spPr>
          <a:xfrm>
            <a:off x="358700" y="275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Implicit Objects</a:t>
            </a:r>
            <a:endParaRPr/>
          </a:p>
        </p:txBody>
      </p:sp>
      <p:sp>
        <p:nvSpPr>
          <p:cNvPr id="407" name="Google Shape;407;p75"/>
          <p:cNvSpPr txBox="1"/>
          <p:nvPr>
            <p:ph idx="1" type="body"/>
          </p:nvPr>
        </p:nvSpPr>
        <p:spPr>
          <a:xfrm>
            <a:off x="358700" y="848275"/>
            <a:ext cx="8520600" cy="815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As the name suggests every JSP page has some implicit objects that it can use without even declaring them. </a:t>
            </a:r>
            <a:endParaRPr/>
          </a:p>
        </p:txBody>
      </p:sp>
      <p:pic>
        <p:nvPicPr>
          <p:cNvPr id="408" name="Google Shape;408;p75"/>
          <p:cNvPicPr preferRelativeResize="0"/>
          <p:nvPr/>
        </p:nvPicPr>
        <p:blipFill>
          <a:blip r:embed="rId3">
            <a:alphaModFix/>
          </a:blip>
          <a:stretch>
            <a:fillRect/>
          </a:stretch>
        </p:blipFill>
        <p:spPr>
          <a:xfrm>
            <a:off x="1589400" y="1703650"/>
            <a:ext cx="5581672" cy="2871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