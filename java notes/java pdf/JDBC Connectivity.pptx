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9CD780-2326-44F3-AE5B-2E21C28B02A0}">
  <a:tblStyle styleId="{C09CD780-2326-44F3-AE5B-2E21C28B02A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5e862261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5e862261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5e8622612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5e8622612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5e8622612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5e8622612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5e8622612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5e8622612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5e8622612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5e8622612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5e8622612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5e8622612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5e8622612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5e8622612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5e8622612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5e8622612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5e8622612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5e8622612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5e8622612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5e8622612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5e8622612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5e8622612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5e8622612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5e8622612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5e8622612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5e8622612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5e8622612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5e8622612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5e8622612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5e8622612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5e8622612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5e8622612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5e8622612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5e8622612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5e8622612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5e8622612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5e86226120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5e8622612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5e86226120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5e86226120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5e8622612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5e8622612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5e8622612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5e86226120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5e86226120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5e86226120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5e8622612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5e8622612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5e86226120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5e86226120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5e8622612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5e8622612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5e86226120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5e86226120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5e86226120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5e86226120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5e86226120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5e86226120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5e86226120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5e86226120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5e86226120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5e86226120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60291395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60291395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602913955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602913955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61e2a1d3c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61e2a1d3c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61e2a1d3c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61e2a1d3c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Chapter 4</a:t>
            </a:r>
            <a:endParaRPr/>
          </a:p>
          <a:p>
            <a:pPr indent="0" lvl="0" marL="0" rtl="0" algn="ctr">
              <a:spcBef>
                <a:spcPts val="0"/>
              </a:spcBef>
              <a:spcAft>
                <a:spcPts val="0"/>
              </a:spcAft>
              <a:buNone/>
            </a:pPr>
            <a:r>
              <a:rPr lang="en"/>
              <a:t>JDBC Connectivity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Database</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Databases store the data in the form of tables with each table containing several records of data in row and column. </a:t>
            </a:r>
            <a:endParaRPr/>
          </a:p>
          <a:p>
            <a:pPr indent="-334327" lvl="0" marL="457200" rtl="0" algn="l">
              <a:spcBef>
                <a:spcPts val="0"/>
              </a:spcBef>
              <a:spcAft>
                <a:spcPts val="0"/>
              </a:spcAft>
              <a:buSzPct val="100000"/>
              <a:buChar char="●"/>
            </a:pPr>
            <a:r>
              <a:rPr lang="en"/>
              <a:t>Databases are broadly categorized into two types as listed below:  </a:t>
            </a:r>
            <a:endParaRPr/>
          </a:p>
          <a:p>
            <a:pPr indent="-310832" lvl="1" marL="914400" rtl="0" algn="l">
              <a:spcBef>
                <a:spcPts val="0"/>
              </a:spcBef>
              <a:spcAft>
                <a:spcPts val="0"/>
              </a:spcAft>
              <a:buSzPct val="100000"/>
              <a:buChar char="○"/>
            </a:pPr>
            <a:r>
              <a:rPr lang="en"/>
              <a:t>Single table databases and </a:t>
            </a:r>
            <a:endParaRPr/>
          </a:p>
          <a:p>
            <a:pPr indent="-310832" lvl="1" marL="914400" rtl="0" algn="l">
              <a:spcBef>
                <a:spcPts val="0"/>
              </a:spcBef>
              <a:spcAft>
                <a:spcPts val="0"/>
              </a:spcAft>
              <a:buSzPct val="100000"/>
              <a:buChar char="○"/>
            </a:pPr>
            <a:r>
              <a:rPr lang="en"/>
              <a:t>Multi table or relational databases.  </a:t>
            </a:r>
            <a:endParaRPr/>
          </a:p>
          <a:p>
            <a:pPr indent="-334327" lvl="0" marL="457200" rtl="0" algn="l">
              <a:spcBef>
                <a:spcPts val="0"/>
              </a:spcBef>
              <a:spcAft>
                <a:spcPts val="0"/>
              </a:spcAft>
              <a:buSzPct val="100000"/>
              <a:buChar char="●"/>
            </a:pPr>
            <a:r>
              <a:rPr lang="en"/>
              <a:t>A single table databases doesn’t mean that they have just one table. It will have several tables of data and all the tables are independent of each other. </a:t>
            </a:r>
            <a:endParaRPr/>
          </a:p>
          <a:p>
            <a:pPr indent="-334327" lvl="0" marL="457200" rtl="0" algn="l">
              <a:spcBef>
                <a:spcPts val="0"/>
              </a:spcBef>
              <a:spcAft>
                <a:spcPts val="0"/>
              </a:spcAft>
              <a:buSzPct val="100000"/>
              <a:buChar char="●"/>
            </a:pPr>
            <a:r>
              <a:rPr lang="en"/>
              <a:t>The main drawback with these databases is the lack of flexibility while retrieving the data. </a:t>
            </a:r>
            <a:endParaRPr/>
          </a:p>
          <a:p>
            <a:pPr indent="-334327" lvl="0" marL="457200" rtl="0" algn="l">
              <a:spcBef>
                <a:spcPts val="0"/>
              </a:spcBef>
              <a:spcAft>
                <a:spcPts val="0"/>
              </a:spcAft>
              <a:buSzPct val="100000"/>
              <a:buChar char="●"/>
            </a:pPr>
            <a:r>
              <a:rPr lang="en"/>
              <a:t>On the other hand in multi table databases, two or more tables are related with other. This feature offers more flexibility and power to retrieve the data. </a:t>
            </a:r>
            <a:endParaRPr/>
          </a:p>
          <a:p>
            <a:pPr indent="-334327" lvl="0" marL="457200" rtl="0" algn="l">
              <a:spcBef>
                <a:spcPts val="0"/>
              </a:spcBef>
              <a:spcAft>
                <a:spcPts val="0"/>
              </a:spcAft>
              <a:buSzPct val="100000"/>
              <a:buChar char="●"/>
            </a:pPr>
            <a:r>
              <a:rPr lang="en"/>
              <a:t>These databases are therefore called as relational databases. Most of the modern enterprises use relational databases.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Structured Query Language (SQL)   </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rgbClr val="434343"/>
                </a:solidFill>
                <a:highlight>
                  <a:srgbClr val="FFFFFF"/>
                </a:highlight>
              </a:rPr>
              <a:t>SQL (Structured Query Language) is a computer language for storing, manipulating and retrieving data stored in a relational database.</a:t>
            </a:r>
            <a:endParaRPr>
              <a:solidFill>
                <a:srgbClr val="434343"/>
              </a:solidFill>
            </a:endParaRPr>
          </a:p>
          <a:p>
            <a:pPr indent="0" lvl="0" marL="0" rtl="0" algn="l">
              <a:spcBef>
                <a:spcPts val="1200"/>
              </a:spcBef>
              <a:spcAft>
                <a:spcPts val="1200"/>
              </a:spcAft>
              <a:buNone/>
            </a:pPr>
            <a:r>
              <a:rPr lang="en"/>
              <a:t>SQL is used for creating the tables, populating the tables with data, manipulating the data in the tables, deleting the data in the tables and the tables itself.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a table  </a:t>
            </a:r>
            <a:endParaRPr/>
          </a:p>
        </p:txBody>
      </p:sp>
      <p:sp>
        <p:nvSpPr>
          <p:cNvPr id="72" name="Google Shape;72;p16"/>
          <p:cNvSpPr txBox="1"/>
          <p:nvPr>
            <p:ph idx="1" type="body"/>
          </p:nvPr>
        </p:nvSpPr>
        <p:spPr>
          <a:xfrm>
            <a:off x="339925" y="11736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Let’s create a table named Customers to store customer data like firstname, lastname, city, and country as shown below:  </a:t>
            </a:r>
            <a:endParaRPr/>
          </a:p>
          <a:p>
            <a:pPr indent="0" lvl="0" marL="0" rtl="0" algn="l">
              <a:spcBef>
                <a:spcPts val="1200"/>
              </a:spcBef>
              <a:spcAft>
                <a:spcPts val="1200"/>
              </a:spcAft>
              <a:buNone/>
            </a:pPr>
            <a:r>
              <a:t/>
            </a:r>
            <a:endParaRPr/>
          </a:p>
        </p:txBody>
      </p:sp>
      <p:graphicFrame>
        <p:nvGraphicFramePr>
          <p:cNvPr id="73" name="Google Shape;73;p16"/>
          <p:cNvGraphicFramePr/>
          <p:nvPr/>
        </p:nvGraphicFramePr>
        <p:xfrm>
          <a:off x="952500" y="2190750"/>
          <a:ext cx="3000000" cy="3000000"/>
        </p:xfrm>
        <a:graphic>
          <a:graphicData uri="http://schemas.openxmlformats.org/drawingml/2006/table">
            <a:tbl>
              <a:tblPr>
                <a:noFill/>
                <a:tableStyleId>{C09CD780-2326-44F3-AE5B-2E21C28B02A0}</a:tableStyleId>
              </a:tblPr>
              <a:tblGrid>
                <a:gridCol w="1206500"/>
                <a:gridCol w="1206500"/>
                <a:gridCol w="1206500"/>
                <a:gridCol w="1206500"/>
                <a:gridCol w="1206500"/>
              </a:tblGrid>
              <a:tr h="381000">
                <a:tc>
                  <a:txBody>
                    <a:bodyPr/>
                    <a:lstStyle/>
                    <a:p>
                      <a:pPr indent="0" lvl="0" marL="0" rtl="0" algn="l">
                        <a:lnSpc>
                          <a:spcPct val="115000"/>
                        </a:lnSpc>
                        <a:spcBef>
                          <a:spcPts val="0"/>
                        </a:spcBef>
                        <a:spcAft>
                          <a:spcPts val="1200"/>
                        </a:spcAft>
                        <a:buNone/>
                      </a:pPr>
                      <a:r>
                        <a:rPr lang="en" sz="1150">
                          <a:solidFill>
                            <a:schemeClr val="dk1"/>
                          </a:solidFill>
                          <a:highlight>
                            <a:srgbClr val="FFFFFF"/>
                          </a:highlight>
                          <a:latin typeface="Courier New"/>
                          <a:ea typeface="Courier New"/>
                          <a:cs typeface="Courier New"/>
                          <a:sym typeface="Courier New"/>
                        </a:rPr>
                        <a:t>CustomerID</a:t>
                      </a:r>
                      <a:endParaRPr/>
                    </a:p>
                  </a:txBody>
                  <a:tcPr marT="91425" marB="91425" marR="91425" marL="91425"/>
                </a:tc>
                <a:tc>
                  <a:txBody>
                    <a:bodyPr/>
                    <a:lstStyle/>
                    <a:p>
                      <a:pPr indent="0" lvl="0" marL="0" rtl="0" algn="l">
                        <a:spcBef>
                          <a:spcPts val="0"/>
                        </a:spcBef>
                        <a:spcAft>
                          <a:spcPts val="0"/>
                        </a:spcAft>
                        <a:buNone/>
                      </a:pPr>
                      <a:r>
                        <a:rPr lang="en"/>
                        <a:t>FirstName</a:t>
                      </a:r>
                      <a:endParaRPr/>
                    </a:p>
                  </a:txBody>
                  <a:tcPr marT="91425" marB="91425" marR="91425" marL="91425"/>
                </a:tc>
                <a:tc>
                  <a:txBody>
                    <a:bodyPr/>
                    <a:lstStyle/>
                    <a:p>
                      <a:pPr indent="0" lvl="0" marL="0" rtl="0" algn="l">
                        <a:spcBef>
                          <a:spcPts val="0"/>
                        </a:spcBef>
                        <a:spcAft>
                          <a:spcPts val="0"/>
                        </a:spcAft>
                        <a:buNone/>
                      </a:pPr>
                      <a:r>
                        <a:rPr lang="en"/>
                        <a:t>LastName</a:t>
                      </a:r>
                      <a:endParaRPr/>
                    </a:p>
                  </a:txBody>
                  <a:tcPr marT="91425" marB="91425" marR="91425" marL="91425"/>
                </a:tc>
                <a:tc>
                  <a:txBody>
                    <a:bodyPr/>
                    <a:lstStyle/>
                    <a:p>
                      <a:pPr indent="0" lvl="0" marL="0" rtl="0" algn="l">
                        <a:spcBef>
                          <a:spcPts val="0"/>
                        </a:spcBef>
                        <a:spcAft>
                          <a:spcPts val="0"/>
                        </a:spcAft>
                        <a:buNone/>
                      </a:pPr>
                      <a:r>
                        <a:rPr lang="en"/>
                        <a:t>City</a:t>
                      </a:r>
                      <a:endParaRPr/>
                    </a:p>
                  </a:txBody>
                  <a:tcPr marT="91425" marB="91425" marR="91425" marL="91425"/>
                </a:tc>
                <a:tc>
                  <a:txBody>
                    <a:bodyPr/>
                    <a:lstStyle/>
                    <a:p>
                      <a:pPr indent="0" lvl="0" marL="0" rtl="0" algn="l">
                        <a:spcBef>
                          <a:spcPts val="0"/>
                        </a:spcBef>
                        <a:spcAft>
                          <a:spcPts val="0"/>
                        </a:spcAft>
                        <a:buNone/>
                      </a:pPr>
                      <a:r>
                        <a:rPr lang="en"/>
                        <a:t>Country</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Syntax</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50">
                <a:solidFill>
                  <a:srgbClr val="0000CD"/>
                </a:solidFill>
                <a:highlight>
                  <a:srgbClr val="FFFFFF"/>
                </a:highlight>
                <a:latin typeface="Courier New"/>
                <a:ea typeface="Courier New"/>
                <a:cs typeface="Courier New"/>
                <a:sym typeface="Courier New"/>
              </a:rPr>
              <a:t>CREATE</a:t>
            </a:r>
            <a:r>
              <a:rPr lang="en" sz="1150">
                <a:solidFill>
                  <a:schemeClr val="dk1"/>
                </a:solidFill>
                <a:highlight>
                  <a:srgbClr val="FFFFFF"/>
                </a:highlight>
                <a:latin typeface="Courier New"/>
                <a:ea typeface="Courier New"/>
                <a:cs typeface="Courier New"/>
                <a:sym typeface="Courier New"/>
              </a:rPr>
              <a:t> </a:t>
            </a:r>
            <a:r>
              <a:rPr lang="en" sz="1150">
                <a:solidFill>
                  <a:srgbClr val="0000CD"/>
                </a:solidFill>
                <a:highlight>
                  <a:srgbClr val="FFFFFF"/>
                </a:highlight>
                <a:latin typeface="Courier New"/>
                <a:ea typeface="Courier New"/>
                <a:cs typeface="Courier New"/>
                <a:sym typeface="Courier New"/>
              </a:rPr>
              <a:t>TABLE</a:t>
            </a:r>
            <a:r>
              <a:rPr lang="en" sz="1150">
                <a:solidFill>
                  <a:schemeClr val="dk1"/>
                </a:solidFill>
                <a:highlight>
                  <a:srgbClr val="FFFFFF"/>
                </a:highlight>
                <a:latin typeface="Courier New"/>
                <a:ea typeface="Courier New"/>
                <a:cs typeface="Courier New"/>
                <a:sym typeface="Courier New"/>
              </a:rPr>
              <a:t> </a:t>
            </a:r>
            <a:r>
              <a:rPr i="1" lang="en" sz="1150">
                <a:solidFill>
                  <a:schemeClr val="dk1"/>
                </a:solidFill>
                <a:highlight>
                  <a:srgbClr val="FFFFFF"/>
                </a:highlight>
                <a:latin typeface="Courier New"/>
                <a:ea typeface="Courier New"/>
                <a:cs typeface="Courier New"/>
                <a:sym typeface="Courier New"/>
              </a:rPr>
              <a:t>table_name </a:t>
            </a:r>
            <a:r>
              <a:rPr lang="en" sz="1150">
                <a:solidFill>
                  <a:schemeClr val="dk1"/>
                </a:solidFill>
                <a:highlight>
                  <a:srgbClr val="FFFFFF"/>
                </a:highlight>
                <a:latin typeface="Courier New"/>
                <a:ea typeface="Courier New"/>
                <a:cs typeface="Courier New"/>
                <a:sym typeface="Courier New"/>
              </a:rPr>
              <a:t>(</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i="1" lang="en" sz="1150">
                <a:solidFill>
                  <a:schemeClr val="dk1"/>
                </a:solidFill>
                <a:highlight>
                  <a:srgbClr val="FFFFFF"/>
                </a:highlight>
                <a:latin typeface="Courier New"/>
                <a:ea typeface="Courier New"/>
                <a:cs typeface="Courier New"/>
                <a:sym typeface="Courier New"/>
              </a:rPr>
              <a:t>	column1 datatype</a:t>
            </a:r>
            <a:r>
              <a:rPr lang="en" sz="1150">
                <a:solidFill>
                  <a:schemeClr val="dk1"/>
                </a:solidFill>
                <a:highlight>
                  <a:srgbClr val="FFFFFF"/>
                </a:highlight>
                <a:latin typeface="Courier New"/>
                <a:ea typeface="Courier New"/>
                <a:cs typeface="Courier New"/>
                <a:sym typeface="Courier New"/>
              </a:rPr>
              <a:t>,</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i="1" lang="en" sz="1150">
                <a:solidFill>
                  <a:schemeClr val="dk1"/>
                </a:solidFill>
                <a:highlight>
                  <a:srgbClr val="FFFFFF"/>
                </a:highlight>
                <a:latin typeface="Courier New"/>
                <a:ea typeface="Courier New"/>
                <a:cs typeface="Courier New"/>
                <a:sym typeface="Courier New"/>
              </a:rPr>
              <a:t>	column2 datatype</a:t>
            </a:r>
            <a:r>
              <a:rPr lang="en" sz="1150">
                <a:solidFill>
                  <a:schemeClr val="dk1"/>
                </a:solidFill>
                <a:highlight>
                  <a:srgbClr val="FFFFFF"/>
                </a:highlight>
                <a:latin typeface="Courier New"/>
                <a:ea typeface="Courier New"/>
                <a:cs typeface="Courier New"/>
                <a:sym typeface="Courier New"/>
              </a:rPr>
              <a:t>,</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i="1" lang="en" sz="1150">
                <a:solidFill>
                  <a:schemeClr val="dk1"/>
                </a:solidFill>
                <a:highlight>
                  <a:srgbClr val="FFFFFF"/>
                </a:highlight>
                <a:latin typeface="Courier New"/>
                <a:ea typeface="Courier New"/>
                <a:cs typeface="Courier New"/>
                <a:sym typeface="Courier New"/>
              </a:rPr>
              <a:t>	column3 datatype</a:t>
            </a:r>
            <a:r>
              <a:rPr lang="en" sz="1150">
                <a:solidFill>
                  <a:schemeClr val="dk1"/>
                </a:solidFill>
                <a:highlight>
                  <a:srgbClr val="FFFFFF"/>
                </a:highlight>
                <a:latin typeface="Courier New"/>
                <a:ea typeface="Courier New"/>
                <a:cs typeface="Courier New"/>
                <a:sym typeface="Courier New"/>
              </a:rPr>
              <a:t>,</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150">
                <a:solidFill>
                  <a:schemeClr val="dk1"/>
                </a:solidFill>
                <a:highlight>
                  <a:srgbClr val="FFFFFF"/>
                </a:highlight>
                <a:latin typeface="Courier New"/>
                <a:ea typeface="Courier New"/>
                <a:cs typeface="Courier New"/>
                <a:sym typeface="Courier New"/>
              </a:rPr>
              <a:t>   ....</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1200"/>
              </a:spcAft>
              <a:buNone/>
            </a:pPr>
            <a:r>
              <a:rPr lang="en" sz="1150">
                <a:solidFill>
                  <a:schemeClr val="dk1"/>
                </a:solidFill>
                <a:highlight>
                  <a:srgbClr val="FFFFFF"/>
                </a:highlight>
                <a:latin typeface="Courier New"/>
                <a:ea typeface="Courier New"/>
                <a:cs typeface="Courier New"/>
                <a:sym typeface="Courier New"/>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idx="1" type="body"/>
          </p:nvPr>
        </p:nvSpPr>
        <p:spPr>
          <a:xfrm>
            <a:off x="311700" y="566850"/>
            <a:ext cx="8520600" cy="43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latin typeface="Calibri"/>
                <a:ea typeface="Calibri"/>
                <a:cs typeface="Calibri"/>
                <a:sym typeface="Calibri"/>
              </a:rPr>
              <a:t>To create the </a:t>
            </a:r>
            <a:r>
              <a:rPr lang="en" sz="1150">
                <a:solidFill>
                  <a:schemeClr val="dk1"/>
                </a:solidFill>
                <a:highlight>
                  <a:srgbClr val="FFFFFF"/>
                </a:highlight>
                <a:latin typeface="Courier New"/>
                <a:ea typeface="Courier New"/>
                <a:cs typeface="Courier New"/>
                <a:sym typeface="Courier New"/>
              </a:rPr>
              <a:t>Customer</a:t>
            </a:r>
            <a:r>
              <a:rPr lang="en" sz="1400">
                <a:latin typeface="Calibri"/>
                <a:ea typeface="Calibri"/>
                <a:cs typeface="Calibri"/>
                <a:sym typeface="Calibri"/>
              </a:rPr>
              <a:t> table, the SQL query will be as shown below:  </a:t>
            </a:r>
            <a:endParaRPr sz="1400">
              <a:latin typeface="Calibri"/>
              <a:ea typeface="Calibri"/>
              <a:cs typeface="Calibri"/>
              <a:sym typeface="Calibri"/>
            </a:endParaRPr>
          </a:p>
          <a:p>
            <a:pPr indent="0" lvl="0" marL="0" rtl="0" algn="l">
              <a:spcBef>
                <a:spcPts val="1200"/>
              </a:spcBef>
              <a:spcAft>
                <a:spcPts val="0"/>
              </a:spcAft>
              <a:buNone/>
            </a:pPr>
            <a:r>
              <a:rPr lang="en" sz="1150">
                <a:solidFill>
                  <a:srgbClr val="0000CD"/>
                </a:solidFill>
                <a:highlight>
                  <a:srgbClr val="FFFFFF"/>
                </a:highlight>
                <a:latin typeface="Courier New"/>
                <a:ea typeface="Courier New"/>
                <a:cs typeface="Courier New"/>
                <a:sym typeface="Courier New"/>
              </a:rPr>
              <a:t>CREATE</a:t>
            </a:r>
            <a:r>
              <a:rPr lang="en" sz="1150">
                <a:solidFill>
                  <a:schemeClr val="dk1"/>
                </a:solidFill>
                <a:highlight>
                  <a:srgbClr val="FFFFFF"/>
                </a:highlight>
                <a:latin typeface="Courier New"/>
                <a:ea typeface="Courier New"/>
                <a:cs typeface="Courier New"/>
                <a:sym typeface="Courier New"/>
              </a:rPr>
              <a:t> </a:t>
            </a:r>
            <a:r>
              <a:rPr lang="en" sz="1150">
                <a:solidFill>
                  <a:srgbClr val="0000CD"/>
                </a:solidFill>
                <a:highlight>
                  <a:srgbClr val="FFFFFF"/>
                </a:highlight>
                <a:latin typeface="Courier New"/>
                <a:ea typeface="Courier New"/>
                <a:cs typeface="Courier New"/>
                <a:sym typeface="Courier New"/>
              </a:rPr>
              <a:t>TABLE</a:t>
            </a:r>
            <a:r>
              <a:rPr lang="en" sz="1150">
                <a:solidFill>
                  <a:schemeClr val="dk1"/>
                </a:solidFill>
                <a:highlight>
                  <a:srgbClr val="FFFFFF"/>
                </a:highlight>
                <a:latin typeface="Courier New"/>
                <a:ea typeface="Courier New"/>
                <a:cs typeface="Courier New"/>
                <a:sym typeface="Courier New"/>
              </a:rPr>
              <a:t> Customer (</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150">
                <a:solidFill>
                  <a:schemeClr val="dk1"/>
                </a:solidFill>
                <a:highlight>
                  <a:srgbClr val="FFFFFF"/>
                </a:highlight>
                <a:latin typeface="Courier New"/>
                <a:ea typeface="Courier New"/>
                <a:cs typeface="Courier New"/>
                <a:sym typeface="Courier New"/>
              </a:rPr>
              <a:t>	CustomerID int,</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150">
                <a:solidFill>
                  <a:schemeClr val="dk1"/>
                </a:solidFill>
                <a:highlight>
                  <a:srgbClr val="FFFFFF"/>
                </a:highlight>
                <a:latin typeface="Courier New"/>
                <a:ea typeface="Courier New"/>
                <a:cs typeface="Courier New"/>
                <a:sym typeface="Courier New"/>
              </a:rPr>
              <a:t>	FirstName varchar(255),</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150">
                <a:solidFill>
                  <a:schemeClr val="dk1"/>
                </a:solidFill>
                <a:highlight>
                  <a:srgbClr val="FFFFFF"/>
                </a:highlight>
                <a:latin typeface="Courier New"/>
                <a:ea typeface="Courier New"/>
                <a:cs typeface="Courier New"/>
                <a:sym typeface="Courier New"/>
              </a:rPr>
              <a:t>	LastName varchar(255),</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150">
                <a:solidFill>
                  <a:schemeClr val="dk1"/>
                </a:solidFill>
                <a:highlight>
                  <a:srgbClr val="FFFFFF"/>
                </a:highlight>
                <a:latin typeface="Courier New"/>
                <a:ea typeface="Courier New"/>
                <a:cs typeface="Courier New"/>
                <a:sym typeface="Courier New"/>
              </a:rPr>
              <a:t>	Country varchar(255),</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150">
                <a:solidFill>
                  <a:schemeClr val="dk1"/>
                </a:solidFill>
                <a:highlight>
                  <a:srgbClr val="FFFFFF"/>
                </a:highlight>
                <a:latin typeface="Courier New"/>
                <a:ea typeface="Courier New"/>
                <a:cs typeface="Courier New"/>
                <a:sym typeface="Courier New"/>
              </a:rPr>
              <a:t>	City varchar(255)</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a:t>
            </a:r>
            <a:endParaRPr sz="1400">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t/>
            </a:r>
            <a:endParaRPr sz="1400">
              <a:latin typeface="Calibri"/>
              <a:ea typeface="Calibri"/>
              <a:cs typeface="Calibri"/>
              <a:sym typeface="Calibri"/>
            </a:endParaRPr>
          </a:p>
          <a:p>
            <a:pPr indent="0" lvl="0" marL="0" rtl="0" algn="l">
              <a:spcBef>
                <a:spcPts val="1200"/>
              </a:spcBef>
              <a:spcAft>
                <a:spcPts val="1200"/>
              </a:spcAft>
              <a:buNone/>
            </a:pPr>
            <a:r>
              <a:t/>
            </a:r>
            <a:endParaRPr sz="14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0" name="Google Shape;9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While creating table, it’s very important to mention the type of data that will be stored in various columns. </a:t>
            </a:r>
            <a:endParaRPr/>
          </a:p>
          <a:p>
            <a:pPr indent="-342900" lvl="0" marL="457200" rtl="0" algn="l">
              <a:spcBef>
                <a:spcPts val="0"/>
              </a:spcBef>
              <a:spcAft>
                <a:spcPts val="0"/>
              </a:spcAft>
              <a:buSzPts val="1800"/>
              <a:buChar char="●"/>
            </a:pPr>
            <a:r>
              <a:rPr b="1" lang="en"/>
              <a:t>VARCHAR</a:t>
            </a:r>
            <a:r>
              <a:rPr lang="en"/>
              <a:t> is a standard datatype for storing text data. </a:t>
            </a:r>
            <a:endParaRPr/>
          </a:p>
          <a:p>
            <a:pPr indent="-342900" lvl="0" marL="457200" rtl="0" algn="l">
              <a:spcBef>
                <a:spcPts val="0"/>
              </a:spcBef>
              <a:spcAft>
                <a:spcPts val="0"/>
              </a:spcAft>
              <a:buSzPts val="1800"/>
              <a:buChar char="●"/>
            </a:pPr>
            <a:r>
              <a:rPr b="1" lang="en"/>
              <a:t>DATE</a:t>
            </a:r>
            <a:r>
              <a:rPr lang="en"/>
              <a:t> is used for storing  date</a:t>
            </a:r>
            <a:endParaRPr/>
          </a:p>
          <a:p>
            <a:pPr indent="-342900" lvl="0" marL="457200" rtl="0" algn="l">
              <a:spcBef>
                <a:spcPts val="0"/>
              </a:spcBef>
              <a:spcAft>
                <a:spcPts val="0"/>
              </a:spcAft>
              <a:buSzPts val="1800"/>
              <a:buChar char="●"/>
            </a:pPr>
            <a:r>
              <a:rPr b="1" lang="en"/>
              <a:t>INT</a:t>
            </a:r>
            <a:r>
              <a:rPr lang="en"/>
              <a:t> is used for storing numbers. </a:t>
            </a:r>
            <a:endParaRPr/>
          </a:p>
          <a:p>
            <a:pPr indent="-342900" lvl="0" marL="457200" rtl="0" algn="l">
              <a:spcBef>
                <a:spcPts val="0"/>
              </a:spcBef>
              <a:spcAft>
                <a:spcPts val="0"/>
              </a:spcAft>
              <a:buSzPts val="1800"/>
              <a:buChar char="●"/>
            </a:pPr>
            <a:r>
              <a:rPr lang="en"/>
              <a:t>The numbers in parenthesis represent the maximum length of data that can be stored. </a:t>
            </a:r>
            <a:endParaRPr/>
          </a:p>
          <a:p>
            <a:pPr indent="0" lvl="0" marL="45720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Inserting the data into the table  </a:t>
            </a:r>
            <a:endParaRPr/>
          </a:p>
        </p:txBody>
      </p:sp>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To insert the data into the tables, we use the INSERT query. </a:t>
            </a:r>
            <a:endParaRPr/>
          </a:p>
          <a:p>
            <a:pPr indent="-325755" lvl="0" marL="457200" rtl="0" algn="l">
              <a:spcBef>
                <a:spcPts val="0"/>
              </a:spcBef>
              <a:spcAft>
                <a:spcPts val="0"/>
              </a:spcAft>
              <a:buSzPct val="100000"/>
              <a:buChar char="●"/>
            </a:pPr>
            <a:r>
              <a:rPr lang="en"/>
              <a:t>A single insert query inserts one record or row of data. Following is the sql syntax.  </a:t>
            </a:r>
            <a:endParaRPr/>
          </a:p>
          <a:p>
            <a:pPr indent="0" lvl="0" marL="457200" rtl="0" algn="l">
              <a:spcBef>
                <a:spcPts val="1200"/>
              </a:spcBef>
              <a:spcAft>
                <a:spcPts val="0"/>
              </a:spcAft>
              <a:buNone/>
            </a:pPr>
            <a:r>
              <a:rPr b="1" lang="en">
                <a:solidFill>
                  <a:srgbClr val="434343"/>
                </a:solidFill>
              </a:rPr>
              <a:t>Syntax 1</a:t>
            </a:r>
            <a:endParaRPr b="1">
              <a:solidFill>
                <a:srgbClr val="434343"/>
              </a:solidFill>
            </a:endParaRPr>
          </a:p>
          <a:p>
            <a:pPr indent="-290671" lvl="1" marL="914400" rtl="0" algn="l">
              <a:spcBef>
                <a:spcPts val="1200"/>
              </a:spcBef>
              <a:spcAft>
                <a:spcPts val="0"/>
              </a:spcAft>
              <a:buClr>
                <a:srgbClr val="434343"/>
              </a:buClr>
              <a:buSzPct val="100000"/>
              <a:buFont typeface="Courier New"/>
              <a:buChar char="○"/>
            </a:pPr>
            <a:r>
              <a:rPr lang="en" sz="1150">
                <a:solidFill>
                  <a:srgbClr val="434343"/>
                </a:solidFill>
                <a:highlight>
                  <a:srgbClr val="FFFFFF"/>
                </a:highlight>
                <a:latin typeface="Courier New"/>
                <a:ea typeface="Courier New"/>
                <a:cs typeface="Courier New"/>
                <a:sym typeface="Courier New"/>
              </a:rPr>
              <a:t>INSERT INTO </a:t>
            </a:r>
            <a:r>
              <a:rPr i="1" lang="en" sz="1150">
                <a:solidFill>
                  <a:srgbClr val="434343"/>
                </a:solidFill>
                <a:highlight>
                  <a:srgbClr val="FFFFFF"/>
                </a:highlight>
                <a:latin typeface="Courier New"/>
                <a:ea typeface="Courier New"/>
                <a:cs typeface="Courier New"/>
                <a:sym typeface="Courier New"/>
              </a:rPr>
              <a:t>table_name</a:t>
            </a:r>
            <a:r>
              <a:rPr lang="en" sz="1150">
                <a:solidFill>
                  <a:srgbClr val="434343"/>
                </a:solidFill>
                <a:highlight>
                  <a:srgbClr val="FFFFFF"/>
                </a:highlight>
                <a:latin typeface="Courier New"/>
                <a:ea typeface="Courier New"/>
                <a:cs typeface="Courier New"/>
                <a:sym typeface="Courier New"/>
              </a:rPr>
              <a:t> (</a:t>
            </a:r>
            <a:r>
              <a:rPr i="1" lang="en" sz="1150">
                <a:solidFill>
                  <a:srgbClr val="434343"/>
                </a:solidFill>
                <a:highlight>
                  <a:srgbClr val="FFFFFF"/>
                </a:highlight>
                <a:latin typeface="Courier New"/>
                <a:ea typeface="Courier New"/>
                <a:cs typeface="Courier New"/>
                <a:sym typeface="Courier New"/>
              </a:rPr>
              <a:t>column1</a:t>
            </a:r>
            <a:r>
              <a:rPr lang="en" sz="1150">
                <a:solidFill>
                  <a:srgbClr val="434343"/>
                </a:solidFill>
                <a:highlight>
                  <a:srgbClr val="FFFFFF"/>
                </a:highlight>
                <a:latin typeface="Courier New"/>
                <a:ea typeface="Courier New"/>
                <a:cs typeface="Courier New"/>
                <a:sym typeface="Courier New"/>
              </a:rPr>
              <a:t>,</a:t>
            </a:r>
            <a:r>
              <a:rPr i="1" lang="en" sz="1150">
                <a:solidFill>
                  <a:srgbClr val="434343"/>
                </a:solidFill>
                <a:highlight>
                  <a:srgbClr val="FFFFFF"/>
                </a:highlight>
                <a:latin typeface="Courier New"/>
                <a:ea typeface="Courier New"/>
                <a:cs typeface="Courier New"/>
                <a:sym typeface="Courier New"/>
              </a:rPr>
              <a:t> column3</a:t>
            </a:r>
            <a:r>
              <a:rPr lang="en" sz="1150">
                <a:solidFill>
                  <a:srgbClr val="434343"/>
                </a:solidFill>
                <a:highlight>
                  <a:srgbClr val="FFFFFF"/>
                </a:highlight>
                <a:latin typeface="Courier New"/>
                <a:ea typeface="Courier New"/>
                <a:cs typeface="Courier New"/>
                <a:sym typeface="Courier New"/>
              </a:rPr>
              <a:t>,</a:t>
            </a:r>
            <a:r>
              <a:rPr i="1" lang="en" sz="1150">
                <a:solidFill>
                  <a:srgbClr val="434343"/>
                </a:solidFill>
                <a:highlight>
                  <a:srgbClr val="FFFFFF"/>
                </a:highlight>
                <a:latin typeface="Courier New"/>
                <a:ea typeface="Courier New"/>
                <a:cs typeface="Courier New"/>
                <a:sym typeface="Courier New"/>
              </a:rPr>
              <a:t> column2</a:t>
            </a:r>
            <a:r>
              <a:rPr lang="en" sz="1150">
                <a:solidFill>
                  <a:srgbClr val="434343"/>
                </a:solidFill>
                <a:highlight>
                  <a:srgbClr val="FFFFFF"/>
                </a:highlight>
                <a:latin typeface="Courier New"/>
                <a:ea typeface="Courier New"/>
                <a:cs typeface="Courier New"/>
                <a:sym typeface="Courier New"/>
              </a:rPr>
              <a:t>, ...) VALUES (</a:t>
            </a:r>
            <a:r>
              <a:rPr i="1" lang="en" sz="1150">
                <a:solidFill>
                  <a:srgbClr val="434343"/>
                </a:solidFill>
                <a:highlight>
                  <a:srgbClr val="FFFFFF"/>
                </a:highlight>
                <a:latin typeface="Courier New"/>
                <a:ea typeface="Courier New"/>
                <a:cs typeface="Courier New"/>
                <a:sym typeface="Courier New"/>
              </a:rPr>
              <a:t>value1</a:t>
            </a:r>
            <a:r>
              <a:rPr lang="en" sz="1150">
                <a:solidFill>
                  <a:srgbClr val="434343"/>
                </a:solidFill>
                <a:highlight>
                  <a:srgbClr val="FFFFFF"/>
                </a:highlight>
                <a:latin typeface="Courier New"/>
                <a:ea typeface="Courier New"/>
                <a:cs typeface="Courier New"/>
                <a:sym typeface="Courier New"/>
              </a:rPr>
              <a:t>,</a:t>
            </a:r>
            <a:r>
              <a:rPr i="1" lang="en" sz="1150">
                <a:solidFill>
                  <a:srgbClr val="434343"/>
                </a:solidFill>
                <a:highlight>
                  <a:srgbClr val="FFFFFF"/>
                </a:highlight>
                <a:latin typeface="Courier New"/>
                <a:ea typeface="Courier New"/>
                <a:cs typeface="Courier New"/>
                <a:sym typeface="Courier New"/>
              </a:rPr>
              <a:t> value2</a:t>
            </a:r>
            <a:r>
              <a:rPr lang="en" sz="1150">
                <a:solidFill>
                  <a:srgbClr val="434343"/>
                </a:solidFill>
                <a:highlight>
                  <a:srgbClr val="FFFFFF"/>
                </a:highlight>
                <a:latin typeface="Courier New"/>
                <a:ea typeface="Courier New"/>
                <a:cs typeface="Courier New"/>
                <a:sym typeface="Courier New"/>
              </a:rPr>
              <a:t>,</a:t>
            </a:r>
            <a:r>
              <a:rPr i="1" lang="en" sz="1150">
                <a:solidFill>
                  <a:srgbClr val="434343"/>
                </a:solidFill>
                <a:highlight>
                  <a:srgbClr val="FFFFFF"/>
                </a:highlight>
                <a:latin typeface="Courier New"/>
                <a:ea typeface="Courier New"/>
                <a:cs typeface="Courier New"/>
                <a:sym typeface="Courier New"/>
              </a:rPr>
              <a:t> value3</a:t>
            </a:r>
            <a:r>
              <a:rPr lang="en" sz="1150">
                <a:solidFill>
                  <a:srgbClr val="434343"/>
                </a:solidFill>
                <a:highlight>
                  <a:srgbClr val="FFFFFF"/>
                </a:highlight>
                <a:latin typeface="Courier New"/>
                <a:ea typeface="Courier New"/>
                <a:cs typeface="Courier New"/>
                <a:sym typeface="Courier New"/>
              </a:rPr>
              <a:t>, ...);</a:t>
            </a:r>
            <a:endParaRPr sz="1150">
              <a:solidFill>
                <a:srgbClr val="434343"/>
              </a:solidFill>
              <a:highlight>
                <a:srgbClr val="FFFFFF"/>
              </a:highlight>
              <a:latin typeface="Courier New"/>
              <a:ea typeface="Courier New"/>
              <a:cs typeface="Courier New"/>
              <a:sym typeface="Courier New"/>
            </a:endParaRPr>
          </a:p>
          <a:p>
            <a:pPr indent="0" lvl="0" marL="457200" rtl="0" algn="l">
              <a:spcBef>
                <a:spcPts val="1200"/>
              </a:spcBef>
              <a:spcAft>
                <a:spcPts val="0"/>
              </a:spcAft>
              <a:buNone/>
            </a:pPr>
            <a:r>
              <a:rPr b="1" lang="en">
                <a:solidFill>
                  <a:srgbClr val="434343"/>
                </a:solidFill>
              </a:rPr>
              <a:t>Syntax 2</a:t>
            </a:r>
            <a:endParaRPr b="1">
              <a:solidFill>
                <a:srgbClr val="434343"/>
              </a:solidFill>
            </a:endParaRPr>
          </a:p>
          <a:p>
            <a:pPr indent="-290671" lvl="1" marL="914400" rtl="0" algn="l">
              <a:spcBef>
                <a:spcPts val="1200"/>
              </a:spcBef>
              <a:spcAft>
                <a:spcPts val="0"/>
              </a:spcAft>
              <a:buClr>
                <a:srgbClr val="434343"/>
              </a:buClr>
              <a:buSzPct val="100000"/>
              <a:buFont typeface="Courier New"/>
              <a:buChar char="○"/>
            </a:pPr>
            <a:r>
              <a:rPr lang="en" sz="1150">
                <a:solidFill>
                  <a:srgbClr val="434343"/>
                </a:solidFill>
                <a:highlight>
                  <a:srgbClr val="FFFFFF"/>
                </a:highlight>
                <a:latin typeface="Courier New"/>
                <a:ea typeface="Courier New"/>
                <a:cs typeface="Courier New"/>
                <a:sym typeface="Courier New"/>
              </a:rPr>
              <a:t>INSERT INTO </a:t>
            </a:r>
            <a:r>
              <a:rPr i="1" lang="en" sz="1150">
                <a:solidFill>
                  <a:srgbClr val="434343"/>
                </a:solidFill>
                <a:highlight>
                  <a:srgbClr val="FFFFFF"/>
                </a:highlight>
                <a:latin typeface="Courier New"/>
                <a:ea typeface="Courier New"/>
                <a:cs typeface="Courier New"/>
                <a:sym typeface="Courier New"/>
              </a:rPr>
              <a:t>table_name </a:t>
            </a:r>
            <a:r>
              <a:rPr lang="en" sz="1150">
                <a:solidFill>
                  <a:srgbClr val="434343"/>
                </a:solidFill>
                <a:highlight>
                  <a:srgbClr val="FFFFFF"/>
                </a:highlight>
                <a:latin typeface="Courier New"/>
                <a:ea typeface="Courier New"/>
                <a:cs typeface="Courier New"/>
                <a:sym typeface="Courier New"/>
              </a:rPr>
              <a:t>VALUES (</a:t>
            </a:r>
            <a:r>
              <a:rPr i="1" lang="en" sz="1150">
                <a:solidFill>
                  <a:srgbClr val="434343"/>
                </a:solidFill>
                <a:highlight>
                  <a:srgbClr val="FFFFFF"/>
                </a:highlight>
                <a:latin typeface="Courier New"/>
                <a:ea typeface="Courier New"/>
                <a:cs typeface="Courier New"/>
                <a:sym typeface="Courier New"/>
              </a:rPr>
              <a:t>value1</a:t>
            </a:r>
            <a:r>
              <a:rPr lang="en" sz="1150">
                <a:solidFill>
                  <a:srgbClr val="434343"/>
                </a:solidFill>
                <a:highlight>
                  <a:srgbClr val="FFFFFF"/>
                </a:highlight>
                <a:latin typeface="Courier New"/>
                <a:ea typeface="Courier New"/>
                <a:cs typeface="Courier New"/>
                <a:sym typeface="Courier New"/>
              </a:rPr>
              <a:t>,</a:t>
            </a:r>
            <a:r>
              <a:rPr i="1" lang="en" sz="1150">
                <a:solidFill>
                  <a:srgbClr val="434343"/>
                </a:solidFill>
                <a:highlight>
                  <a:srgbClr val="FFFFFF"/>
                </a:highlight>
                <a:latin typeface="Courier New"/>
                <a:ea typeface="Courier New"/>
                <a:cs typeface="Courier New"/>
                <a:sym typeface="Courier New"/>
              </a:rPr>
              <a:t> value2</a:t>
            </a:r>
            <a:r>
              <a:rPr lang="en" sz="1150">
                <a:solidFill>
                  <a:srgbClr val="434343"/>
                </a:solidFill>
                <a:highlight>
                  <a:srgbClr val="FFFFFF"/>
                </a:highlight>
                <a:latin typeface="Courier New"/>
                <a:ea typeface="Courier New"/>
                <a:cs typeface="Courier New"/>
                <a:sym typeface="Courier New"/>
              </a:rPr>
              <a:t>,</a:t>
            </a:r>
            <a:r>
              <a:rPr i="1" lang="en" sz="1150">
                <a:solidFill>
                  <a:srgbClr val="434343"/>
                </a:solidFill>
                <a:highlight>
                  <a:srgbClr val="FFFFFF"/>
                </a:highlight>
                <a:latin typeface="Courier New"/>
                <a:ea typeface="Courier New"/>
                <a:cs typeface="Courier New"/>
                <a:sym typeface="Courier New"/>
              </a:rPr>
              <a:t> value3</a:t>
            </a:r>
            <a:r>
              <a:rPr lang="en" sz="1150">
                <a:solidFill>
                  <a:srgbClr val="434343"/>
                </a:solidFill>
                <a:highlight>
                  <a:srgbClr val="FFFFFF"/>
                </a:highlight>
                <a:latin typeface="Courier New"/>
                <a:ea typeface="Courier New"/>
                <a:cs typeface="Courier New"/>
                <a:sym typeface="Courier New"/>
              </a:rPr>
              <a:t>, ...);</a:t>
            </a:r>
            <a:endParaRPr sz="1150">
              <a:solidFill>
                <a:srgbClr val="434343"/>
              </a:solidFill>
              <a:highlight>
                <a:srgbClr val="FFFFFF"/>
              </a:highlight>
              <a:latin typeface="Courier New"/>
              <a:ea typeface="Courier New"/>
              <a:cs typeface="Courier New"/>
              <a:sym typeface="Courier New"/>
            </a:endParaRPr>
          </a:p>
          <a:p>
            <a:pPr indent="-325755" lvl="0" marL="457200" rtl="0" algn="l">
              <a:spcBef>
                <a:spcPts val="0"/>
              </a:spcBef>
              <a:spcAft>
                <a:spcPts val="0"/>
              </a:spcAft>
              <a:buClr>
                <a:srgbClr val="434343"/>
              </a:buClr>
              <a:buSzPct val="100000"/>
              <a:buChar char="●"/>
            </a:pPr>
            <a:r>
              <a:rPr lang="en">
                <a:solidFill>
                  <a:srgbClr val="434343"/>
                </a:solidFill>
                <a:highlight>
                  <a:srgbClr val="FFFFFF"/>
                </a:highlight>
              </a:rPr>
              <a:t>In syntax 1, you don’t need to insert value to all column. Order of column doesn't matter in this syntax</a:t>
            </a:r>
            <a:endParaRPr>
              <a:solidFill>
                <a:srgbClr val="434343"/>
              </a:solidFill>
              <a:highlight>
                <a:srgbClr val="FFFFFF"/>
              </a:highlight>
            </a:endParaRPr>
          </a:p>
          <a:p>
            <a:pPr indent="-325755" lvl="0" marL="457200" rtl="0" algn="l">
              <a:spcBef>
                <a:spcPts val="0"/>
              </a:spcBef>
              <a:spcAft>
                <a:spcPts val="0"/>
              </a:spcAft>
              <a:buClr>
                <a:srgbClr val="434343"/>
              </a:buClr>
              <a:buSzPct val="100000"/>
              <a:buChar char="●"/>
            </a:pPr>
            <a:r>
              <a:rPr lang="en">
                <a:solidFill>
                  <a:srgbClr val="434343"/>
                </a:solidFill>
                <a:highlight>
                  <a:srgbClr val="FFFFFF"/>
                </a:highlight>
              </a:rPr>
              <a:t>In syntax 2, you don’t need to specify the column names in the SQL query. However, make sure the order of the values is in the same order as the columns in the table. Also, You need to populate value for all column.</a:t>
            </a:r>
            <a:endParaRPr>
              <a:solidFill>
                <a:srgbClr val="434343"/>
              </a:solidFill>
              <a:highlight>
                <a:srgbClr val="FFFFF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a:t>
            </a:r>
            <a:endParaRPr/>
          </a:p>
          <a:p>
            <a:pPr indent="-342900" lvl="0" marL="457200" rtl="0" algn="l">
              <a:spcBef>
                <a:spcPts val="1200"/>
              </a:spcBef>
              <a:spcAft>
                <a:spcPts val="0"/>
              </a:spcAft>
              <a:buSzPts val="1800"/>
              <a:buChar char="●"/>
            </a:pPr>
            <a:r>
              <a:rPr lang="en"/>
              <a:t>INSERT INTO Customers (</a:t>
            </a:r>
            <a:r>
              <a:rPr lang="en">
                <a:solidFill>
                  <a:srgbClr val="434343"/>
                </a:solidFill>
                <a:highlight>
                  <a:srgbClr val="FFFFFF"/>
                </a:highlight>
                <a:latin typeface="Courier New"/>
                <a:ea typeface="Courier New"/>
                <a:cs typeface="Courier New"/>
                <a:sym typeface="Courier New"/>
              </a:rPr>
              <a:t>CustomerID</a:t>
            </a:r>
            <a:r>
              <a:rPr lang="en"/>
              <a:t>, FirstName, LastName, Country, City) VALUES (123456, ‘Smith’, ‘John’, ‘USA’, ‘Vegas’); </a:t>
            </a:r>
            <a:endParaRPr/>
          </a:p>
          <a:p>
            <a:pPr indent="-342900" lvl="0" marL="457200" rtl="0" algn="l">
              <a:spcBef>
                <a:spcPts val="0"/>
              </a:spcBef>
              <a:spcAft>
                <a:spcPts val="0"/>
              </a:spcAft>
              <a:buSzPts val="1800"/>
              <a:buChar char="●"/>
            </a:pPr>
            <a:r>
              <a:rPr lang="en"/>
              <a:t>INSERT INTO Customers VALUES (123456, ‘Smith’, ‘John’, ‘Vegas’, ‘USA’); </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Updating Record in table</a:t>
            </a:r>
            <a:endParaRPr/>
          </a:p>
        </p:txBody>
      </p:sp>
      <p:sp>
        <p:nvSpPr>
          <p:cNvPr id="107" name="Google Shape;107;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434343"/>
              </a:buClr>
              <a:buSzPts val="1800"/>
              <a:buChar char="●"/>
            </a:pPr>
            <a:r>
              <a:rPr lang="en">
                <a:solidFill>
                  <a:srgbClr val="434343"/>
                </a:solidFill>
              </a:rPr>
              <a:t>To update the data in an existing record, we use the UPDATE query statement.</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 The syntax for this query is shown below:  </a:t>
            </a:r>
            <a:endParaRPr>
              <a:solidFill>
                <a:srgbClr val="434343"/>
              </a:solidFill>
            </a:endParaRPr>
          </a:p>
          <a:p>
            <a:pPr indent="-342900" lvl="1" marL="914400" marR="114300" rtl="0" algn="l">
              <a:spcBef>
                <a:spcPts val="0"/>
              </a:spcBef>
              <a:spcAft>
                <a:spcPts val="0"/>
              </a:spcAft>
              <a:buClr>
                <a:srgbClr val="434343"/>
              </a:buClr>
              <a:buSzPts val="1800"/>
              <a:buChar char="○"/>
            </a:pPr>
            <a:r>
              <a:rPr lang="en" sz="1800">
                <a:solidFill>
                  <a:srgbClr val="434343"/>
                </a:solidFill>
                <a:highlight>
                  <a:srgbClr val="FFFFFF"/>
                </a:highlight>
              </a:rPr>
              <a:t>UPDATE </a:t>
            </a:r>
            <a:r>
              <a:rPr i="1" lang="en" sz="1800">
                <a:solidFill>
                  <a:srgbClr val="434343"/>
                </a:solidFill>
                <a:highlight>
                  <a:srgbClr val="FFFFFF"/>
                </a:highlight>
              </a:rPr>
              <a:t>table_name </a:t>
            </a:r>
            <a:r>
              <a:rPr lang="en" sz="1800">
                <a:solidFill>
                  <a:srgbClr val="434343"/>
                </a:solidFill>
                <a:highlight>
                  <a:srgbClr val="FFFFFF"/>
                </a:highlight>
              </a:rPr>
              <a:t>SET </a:t>
            </a:r>
            <a:r>
              <a:rPr i="1" lang="en" sz="1800">
                <a:solidFill>
                  <a:srgbClr val="434343"/>
                </a:solidFill>
                <a:highlight>
                  <a:srgbClr val="FFFFFF"/>
                </a:highlight>
              </a:rPr>
              <a:t>column1 </a:t>
            </a:r>
            <a:r>
              <a:rPr lang="en" sz="1800">
                <a:solidFill>
                  <a:srgbClr val="434343"/>
                </a:solidFill>
                <a:highlight>
                  <a:srgbClr val="FFFFFF"/>
                </a:highlight>
              </a:rPr>
              <a:t>=</a:t>
            </a:r>
            <a:r>
              <a:rPr i="1" lang="en" sz="1800">
                <a:solidFill>
                  <a:srgbClr val="434343"/>
                </a:solidFill>
                <a:highlight>
                  <a:srgbClr val="FFFFFF"/>
                </a:highlight>
              </a:rPr>
              <a:t> value1</a:t>
            </a:r>
            <a:r>
              <a:rPr lang="en" sz="1800">
                <a:solidFill>
                  <a:srgbClr val="434343"/>
                </a:solidFill>
                <a:highlight>
                  <a:srgbClr val="FFFFFF"/>
                </a:highlight>
              </a:rPr>
              <a:t>,</a:t>
            </a:r>
            <a:r>
              <a:rPr i="1" lang="en" sz="1800">
                <a:solidFill>
                  <a:srgbClr val="434343"/>
                </a:solidFill>
                <a:highlight>
                  <a:srgbClr val="FFFFFF"/>
                </a:highlight>
              </a:rPr>
              <a:t> column2 </a:t>
            </a:r>
            <a:r>
              <a:rPr lang="en" sz="1800">
                <a:solidFill>
                  <a:srgbClr val="434343"/>
                </a:solidFill>
                <a:highlight>
                  <a:srgbClr val="FFFFFF"/>
                </a:highlight>
              </a:rPr>
              <a:t>=</a:t>
            </a:r>
            <a:r>
              <a:rPr i="1" lang="en" sz="1800">
                <a:solidFill>
                  <a:srgbClr val="434343"/>
                </a:solidFill>
                <a:highlight>
                  <a:srgbClr val="FFFFFF"/>
                </a:highlight>
              </a:rPr>
              <a:t> value2</a:t>
            </a:r>
            <a:r>
              <a:rPr lang="en" sz="1800">
                <a:solidFill>
                  <a:srgbClr val="434343"/>
                </a:solidFill>
                <a:highlight>
                  <a:srgbClr val="FFFFFF"/>
                </a:highlight>
              </a:rPr>
              <a:t>, ...WHERE </a:t>
            </a:r>
            <a:r>
              <a:rPr i="1" lang="en" sz="1800">
                <a:solidFill>
                  <a:srgbClr val="434343"/>
                </a:solidFill>
                <a:highlight>
                  <a:srgbClr val="FFFFFF"/>
                </a:highlight>
              </a:rPr>
              <a:t>condition</a:t>
            </a:r>
            <a:r>
              <a:rPr lang="en" sz="1800">
                <a:solidFill>
                  <a:srgbClr val="434343"/>
                </a:solidFill>
                <a:highlight>
                  <a:srgbClr val="FFFFFF"/>
                </a:highlight>
              </a:rPr>
              <a:t>;</a:t>
            </a:r>
            <a:endParaRPr sz="1800">
              <a:solidFill>
                <a:srgbClr val="434343"/>
              </a:solidFill>
              <a:highlight>
                <a:srgbClr val="FFFFFF"/>
              </a:highlight>
            </a:endParaRPr>
          </a:p>
          <a:p>
            <a:pPr indent="0" lvl="0" marL="0" marR="114300" rtl="0" algn="l">
              <a:spcBef>
                <a:spcPts val="1800"/>
              </a:spcBef>
              <a:spcAft>
                <a:spcPts val="0"/>
              </a:spcAft>
              <a:buNone/>
            </a:pPr>
            <a:r>
              <a:rPr lang="en">
                <a:solidFill>
                  <a:srgbClr val="434343"/>
                </a:solidFill>
                <a:highlight>
                  <a:srgbClr val="FFFFFF"/>
                </a:highlight>
              </a:rPr>
              <a:t>Let’s say we want to change the last name to ‘Roberts’ and first name to ‘Joe’ whose CustomerID is 123456. The update query will be:  </a:t>
            </a:r>
            <a:endParaRPr>
              <a:solidFill>
                <a:srgbClr val="434343"/>
              </a:solidFill>
              <a:highlight>
                <a:srgbClr val="FFFFFF"/>
              </a:highlight>
            </a:endParaRPr>
          </a:p>
          <a:p>
            <a:pPr indent="0" lvl="0" marL="0" marR="114300" rtl="0" algn="l">
              <a:spcBef>
                <a:spcPts val="1800"/>
              </a:spcBef>
              <a:spcAft>
                <a:spcPts val="0"/>
              </a:spcAft>
              <a:buNone/>
            </a:pPr>
            <a:r>
              <a:rPr lang="en">
                <a:solidFill>
                  <a:srgbClr val="434343"/>
                </a:solidFill>
                <a:highlight>
                  <a:srgbClr val="FFFFFF"/>
                </a:highlight>
              </a:rPr>
              <a:t>UPDATE CUSTOMERS SET FirstName = ‘Joe’, LastName = ‘Roberts’ WHERE  CustomerID = 123456  </a:t>
            </a:r>
            <a:endParaRPr>
              <a:solidFill>
                <a:srgbClr val="434343"/>
              </a:solidFill>
              <a:highlight>
                <a:srgbClr val="FFFFFF"/>
              </a:highlight>
            </a:endParaRPr>
          </a:p>
          <a:p>
            <a:pPr indent="0" lvl="0" marL="0" marR="114300" rtl="0" algn="l">
              <a:spcBef>
                <a:spcPts val="1800"/>
              </a:spcBef>
              <a:spcAft>
                <a:spcPts val="1800"/>
              </a:spcAft>
              <a:buNone/>
            </a:pPr>
            <a:r>
              <a:t/>
            </a:r>
            <a:endParaRPr>
              <a:solidFill>
                <a:srgbClr val="434343"/>
              </a:solidFill>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Deleting the records  </a:t>
            </a:r>
            <a:endParaRPr/>
          </a:p>
        </p:txBody>
      </p:sp>
      <p:sp>
        <p:nvSpPr>
          <p:cNvPr id="113" name="Google Shape;11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delete the records in the table we use DELETE query.</a:t>
            </a:r>
            <a:endParaRPr/>
          </a:p>
          <a:p>
            <a:pPr indent="-342900" lvl="0" marL="457200" rtl="0" algn="l">
              <a:spcBef>
                <a:spcPts val="0"/>
              </a:spcBef>
              <a:spcAft>
                <a:spcPts val="0"/>
              </a:spcAft>
              <a:buSzPts val="1800"/>
              <a:buChar char="●"/>
            </a:pPr>
            <a:r>
              <a:rPr lang="en"/>
              <a:t> The syntax for this query is shown below: </a:t>
            </a:r>
            <a:endParaRPr/>
          </a:p>
          <a:p>
            <a:pPr indent="-342900" lvl="1" marL="914400" rtl="0" algn="l">
              <a:spcBef>
                <a:spcPts val="0"/>
              </a:spcBef>
              <a:spcAft>
                <a:spcPts val="0"/>
              </a:spcAft>
              <a:buSzPts val="1800"/>
              <a:buChar char="○"/>
            </a:pPr>
            <a:r>
              <a:rPr lang="en" sz="1800">
                <a:solidFill>
                  <a:srgbClr val="0000CD"/>
                </a:solidFill>
                <a:highlight>
                  <a:srgbClr val="FFFFFF"/>
                </a:highlight>
              </a:rPr>
              <a:t>DELETE</a:t>
            </a:r>
            <a:r>
              <a:rPr lang="en" sz="1800">
                <a:solidFill>
                  <a:schemeClr val="dk1"/>
                </a:solidFill>
                <a:highlight>
                  <a:srgbClr val="FFFFFF"/>
                </a:highlight>
              </a:rPr>
              <a:t> </a:t>
            </a:r>
            <a:r>
              <a:rPr lang="en" sz="1800">
                <a:solidFill>
                  <a:srgbClr val="0000CD"/>
                </a:solidFill>
                <a:highlight>
                  <a:srgbClr val="FFFFFF"/>
                </a:highlight>
              </a:rPr>
              <a:t>FROM</a:t>
            </a:r>
            <a:r>
              <a:rPr lang="en" sz="1800">
                <a:solidFill>
                  <a:schemeClr val="dk1"/>
                </a:solidFill>
                <a:highlight>
                  <a:srgbClr val="FFFFFF"/>
                </a:highlight>
              </a:rPr>
              <a:t> </a:t>
            </a:r>
            <a:r>
              <a:rPr i="1" lang="en" sz="1800">
                <a:solidFill>
                  <a:schemeClr val="dk1"/>
                </a:solidFill>
                <a:highlight>
                  <a:srgbClr val="FFFFFF"/>
                </a:highlight>
              </a:rPr>
              <a:t>table_name </a:t>
            </a:r>
            <a:r>
              <a:rPr lang="en" sz="1800">
                <a:solidFill>
                  <a:srgbClr val="0000CD"/>
                </a:solidFill>
                <a:highlight>
                  <a:srgbClr val="FFFFFF"/>
                </a:highlight>
              </a:rPr>
              <a:t>WHERE</a:t>
            </a:r>
            <a:r>
              <a:rPr lang="en" sz="1800">
                <a:solidFill>
                  <a:schemeClr val="dk1"/>
                </a:solidFill>
                <a:highlight>
                  <a:srgbClr val="FFFFFF"/>
                </a:highlight>
              </a:rPr>
              <a:t> </a:t>
            </a:r>
            <a:r>
              <a:rPr i="1" lang="en" sz="1800">
                <a:solidFill>
                  <a:schemeClr val="dk1"/>
                </a:solidFill>
                <a:highlight>
                  <a:srgbClr val="FFFFFF"/>
                </a:highlight>
              </a:rPr>
              <a:t>condition</a:t>
            </a:r>
            <a:r>
              <a:rPr lang="en" sz="1800">
                <a:solidFill>
                  <a:schemeClr val="dk1"/>
                </a:solidFill>
                <a:highlight>
                  <a:srgbClr val="FFFFFF"/>
                </a:highlight>
              </a:rPr>
              <a:t>;</a:t>
            </a:r>
            <a:endParaRPr sz="1800">
              <a:solidFill>
                <a:schemeClr val="dk1"/>
              </a:solidFill>
              <a:highlight>
                <a:srgbClr val="FFFFFF"/>
              </a:highlight>
            </a:endParaRPr>
          </a:p>
          <a:p>
            <a:pPr indent="0" lvl="0" marL="0" rtl="0" algn="l">
              <a:spcBef>
                <a:spcPts val="1200"/>
              </a:spcBef>
              <a:spcAft>
                <a:spcPts val="0"/>
              </a:spcAft>
              <a:buNone/>
            </a:pPr>
            <a:r>
              <a:rPr lang="en">
                <a:solidFill>
                  <a:schemeClr val="dk1"/>
                </a:solidFill>
                <a:highlight>
                  <a:srgbClr val="FFFFFF"/>
                </a:highlight>
              </a:rPr>
              <a:t>For example, to delete all the customers whose city is New York, the query will be,  </a:t>
            </a:r>
            <a:endParaRPr>
              <a:solidFill>
                <a:schemeClr val="dk1"/>
              </a:solidFill>
              <a:highlight>
                <a:srgbClr val="FFFFFF"/>
              </a:highlight>
            </a:endParaRPr>
          </a:p>
          <a:p>
            <a:pPr indent="0" lvl="0" marL="0" rtl="0" algn="l">
              <a:spcBef>
                <a:spcPts val="1200"/>
              </a:spcBef>
              <a:spcAft>
                <a:spcPts val="0"/>
              </a:spcAft>
              <a:buNone/>
            </a:pPr>
            <a:r>
              <a:rPr lang="en">
                <a:solidFill>
                  <a:schemeClr val="dk1"/>
                </a:solidFill>
                <a:highlight>
                  <a:srgbClr val="FFFFFF"/>
                </a:highlight>
              </a:rPr>
              <a:t>	DELETE FROM Customers where City=’New York’;  </a:t>
            </a:r>
            <a:endParaRPr>
              <a:solidFill>
                <a:schemeClr val="dk1"/>
              </a:solidFill>
              <a:highlight>
                <a:srgbClr val="FFFFFF"/>
              </a:highlight>
            </a:endParaRPr>
          </a:p>
          <a:p>
            <a:pPr indent="0" lvl="0" marL="0" rtl="0" algn="l">
              <a:spcBef>
                <a:spcPts val="1200"/>
              </a:spcBef>
              <a:spcAft>
                <a:spcPts val="1200"/>
              </a:spcAft>
              <a:buNone/>
            </a:pPr>
            <a:r>
              <a:t/>
            </a:r>
            <a:endParaRPr>
              <a:solidFill>
                <a:schemeClr val="dk1"/>
              </a:solidFill>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Retrieving records from table  </a:t>
            </a:r>
            <a:endParaRPr/>
          </a:p>
        </p:txBody>
      </p:sp>
      <p:sp>
        <p:nvSpPr>
          <p:cNvPr id="119" name="Google Shape;11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Retrieving the records is the most important database operation. We use the SELECT query to retrieve the records. </a:t>
            </a:r>
            <a:endParaRPr/>
          </a:p>
          <a:p>
            <a:pPr indent="-334327" lvl="0" marL="457200" rtl="0" algn="l">
              <a:spcBef>
                <a:spcPts val="0"/>
              </a:spcBef>
              <a:spcAft>
                <a:spcPts val="0"/>
              </a:spcAft>
              <a:buSzPct val="156521"/>
              <a:buChar char="●"/>
            </a:pPr>
            <a:r>
              <a:rPr lang="en"/>
              <a:t>The syntax for this query is as shown below:  </a:t>
            </a:r>
            <a:endParaRPr sz="1150">
              <a:solidFill>
                <a:schemeClr val="dk1"/>
              </a:solidFill>
              <a:highlight>
                <a:srgbClr val="FFFFFF"/>
              </a:highlight>
              <a:latin typeface="Courier New"/>
              <a:ea typeface="Courier New"/>
              <a:cs typeface="Courier New"/>
              <a:sym typeface="Courier New"/>
            </a:endParaRPr>
          </a:p>
          <a:p>
            <a:pPr indent="-296148" lvl="1" marL="914400" rtl="0" algn="l">
              <a:spcBef>
                <a:spcPts val="0"/>
              </a:spcBef>
              <a:spcAft>
                <a:spcPts val="0"/>
              </a:spcAft>
              <a:buClr>
                <a:schemeClr val="dk1"/>
              </a:buClr>
              <a:buSzPct val="100000"/>
              <a:buFont typeface="Courier New"/>
              <a:buChar char="○"/>
            </a:pPr>
            <a:r>
              <a:rPr lang="en" sz="1150">
                <a:solidFill>
                  <a:srgbClr val="0000CD"/>
                </a:solidFill>
                <a:highlight>
                  <a:srgbClr val="FFFFFF"/>
                </a:highlight>
                <a:latin typeface="Courier New"/>
                <a:ea typeface="Courier New"/>
                <a:cs typeface="Courier New"/>
                <a:sym typeface="Courier New"/>
              </a:rPr>
              <a:t>SELECT</a:t>
            </a:r>
            <a:r>
              <a:rPr lang="en" sz="1150">
                <a:solidFill>
                  <a:schemeClr val="dk1"/>
                </a:solidFill>
                <a:highlight>
                  <a:srgbClr val="FFFFFF"/>
                </a:highlight>
                <a:latin typeface="Courier New"/>
                <a:ea typeface="Courier New"/>
                <a:cs typeface="Courier New"/>
                <a:sym typeface="Courier New"/>
              </a:rPr>
              <a:t> * </a:t>
            </a:r>
            <a:r>
              <a:rPr lang="en" sz="1150">
                <a:solidFill>
                  <a:srgbClr val="0000CD"/>
                </a:solidFill>
                <a:highlight>
                  <a:srgbClr val="FFFFFF"/>
                </a:highlight>
                <a:latin typeface="Courier New"/>
                <a:ea typeface="Courier New"/>
                <a:cs typeface="Courier New"/>
                <a:sym typeface="Courier New"/>
              </a:rPr>
              <a:t>FROM</a:t>
            </a:r>
            <a:r>
              <a:rPr lang="en" sz="1150">
                <a:solidFill>
                  <a:schemeClr val="dk1"/>
                </a:solidFill>
                <a:highlight>
                  <a:srgbClr val="FFFFFF"/>
                </a:highlight>
                <a:latin typeface="Courier New"/>
                <a:ea typeface="Courier New"/>
                <a:cs typeface="Courier New"/>
                <a:sym typeface="Courier New"/>
              </a:rPr>
              <a:t> </a:t>
            </a:r>
            <a:r>
              <a:rPr i="1" lang="en" sz="1150">
                <a:solidFill>
                  <a:schemeClr val="dk1"/>
                </a:solidFill>
                <a:highlight>
                  <a:srgbClr val="FFFFFF"/>
                </a:highlight>
                <a:latin typeface="Courier New"/>
                <a:ea typeface="Courier New"/>
                <a:cs typeface="Courier New"/>
                <a:sym typeface="Courier New"/>
              </a:rPr>
              <a:t>table_name</a:t>
            </a:r>
            <a:r>
              <a:rPr lang="en" sz="1150">
                <a:solidFill>
                  <a:schemeClr val="dk1"/>
                </a:solidFill>
                <a:highlight>
                  <a:srgbClr val="FFFFFF"/>
                </a:highlight>
                <a:latin typeface="Courier New"/>
                <a:ea typeface="Courier New"/>
                <a:cs typeface="Courier New"/>
                <a:sym typeface="Courier New"/>
              </a:rPr>
              <a:t>;</a:t>
            </a:r>
            <a:endParaRPr sz="1150">
              <a:solidFill>
                <a:schemeClr val="dk1"/>
              </a:solidFill>
              <a:highlight>
                <a:srgbClr val="FFFFFF"/>
              </a:highlight>
              <a:latin typeface="Courier New"/>
              <a:ea typeface="Courier New"/>
              <a:cs typeface="Courier New"/>
              <a:sym typeface="Courier New"/>
            </a:endParaRPr>
          </a:p>
          <a:p>
            <a:pPr indent="-296148" lvl="1" marL="914400" rtl="0" algn="l">
              <a:spcBef>
                <a:spcPts val="0"/>
              </a:spcBef>
              <a:spcAft>
                <a:spcPts val="0"/>
              </a:spcAft>
              <a:buClr>
                <a:schemeClr val="dk1"/>
              </a:buClr>
              <a:buSzPct val="100000"/>
              <a:buFont typeface="Courier New"/>
              <a:buChar char="○"/>
            </a:pPr>
            <a:r>
              <a:rPr lang="en" sz="1150">
                <a:solidFill>
                  <a:srgbClr val="0000CD"/>
                </a:solidFill>
                <a:highlight>
                  <a:srgbClr val="FFFFFF"/>
                </a:highlight>
                <a:latin typeface="Courier New"/>
                <a:ea typeface="Courier New"/>
                <a:cs typeface="Courier New"/>
                <a:sym typeface="Courier New"/>
              </a:rPr>
              <a:t>SELECT</a:t>
            </a:r>
            <a:r>
              <a:rPr lang="en" sz="1150">
                <a:solidFill>
                  <a:schemeClr val="dk1"/>
                </a:solidFill>
                <a:highlight>
                  <a:srgbClr val="FFFFFF"/>
                </a:highlight>
                <a:latin typeface="Courier New"/>
                <a:ea typeface="Courier New"/>
                <a:cs typeface="Courier New"/>
                <a:sym typeface="Courier New"/>
              </a:rPr>
              <a:t> * </a:t>
            </a:r>
            <a:r>
              <a:rPr lang="en" sz="1150">
                <a:solidFill>
                  <a:srgbClr val="0000CD"/>
                </a:solidFill>
                <a:highlight>
                  <a:srgbClr val="FFFFFF"/>
                </a:highlight>
                <a:latin typeface="Courier New"/>
                <a:ea typeface="Courier New"/>
                <a:cs typeface="Courier New"/>
                <a:sym typeface="Courier New"/>
              </a:rPr>
              <a:t>FROM</a:t>
            </a:r>
            <a:r>
              <a:rPr lang="en" sz="1150">
                <a:solidFill>
                  <a:schemeClr val="dk1"/>
                </a:solidFill>
                <a:highlight>
                  <a:srgbClr val="FFFFFF"/>
                </a:highlight>
                <a:latin typeface="Courier New"/>
                <a:ea typeface="Courier New"/>
                <a:cs typeface="Courier New"/>
                <a:sym typeface="Courier New"/>
              </a:rPr>
              <a:t> </a:t>
            </a:r>
            <a:r>
              <a:rPr i="1" lang="en" sz="1150">
                <a:solidFill>
                  <a:schemeClr val="dk1"/>
                </a:solidFill>
                <a:highlight>
                  <a:srgbClr val="FFFFFF"/>
                </a:highlight>
                <a:latin typeface="Courier New"/>
                <a:ea typeface="Courier New"/>
                <a:cs typeface="Courier New"/>
                <a:sym typeface="Courier New"/>
              </a:rPr>
              <a:t>table_name</a:t>
            </a:r>
            <a:r>
              <a:rPr lang="en" sz="1150">
                <a:solidFill>
                  <a:schemeClr val="dk1"/>
                </a:solidFill>
                <a:highlight>
                  <a:srgbClr val="FFFFFF"/>
                </a:highlight>
                <a:latin typeface="Courier New"/>
                <a:ea typeface="Courier New"/>
                <a:cs typeface="Courier New"/>
                <a:sym typeface="Courier New"/>
              </a:rPr>
              <a:t> </a:t>
            </a:r>
            <a:r>
              <a:rPr lang="en" sz="1150">
                <a:solidFill>
                  <a:srgbClr val="0000CD"/>
                </a:solidFill>
                <a:highlight>
                  <a:srgbClr val="FFFFFF"/>
                </a:highlight>
                <a:latin typeface="Courier New"/>
                <a:ea typeface="Courier New"/>
                <a:cs typeface="Courier New"/>
                <a:sym typeface="Courier New"/>
              </a:rPr>
              <a:t>WHERE</a:t>
            </a:r>
            <a:r>
              <a:rPr lang="en" sz="1150">
                <a:solidFill>
                  <a:schemeClr val="dk1"/>
                </a:solidFill>
                <a:highlight>
                  <a:srgbClr val="FFFFFF"/>
                </a:highlight>
                <a:latin typeface="Courier New"/>
                <a:ea typeface="Courier New"/>
                <a:cs typeface="Courier New"/>
                <a:sym typeface="Courier New"/>
              </a:rPr>
              <a:t> condition;</a:t>
            </a:r>
            <a:endParaRPr sz="1150">
              <a:solidFill>
                <a:schemeClr val="dk1"/>
              </a:solidFill>
              <a:highlight>
                <a:srgbClr val="FFFFFF"/>
              </a:highlight>
              <a:latin typeface="Courier New"/>
              <a:ea typeface="Courier New"/>
              <a:cs typeface="Courier New"/>
              <a:sym typeface="Courier New"/>
            </a:endParaRPr>
          </a:p>
          <a:p>
            <a:pPr indent="-296148" lvl="1" marL="914400" rtl="0" algn="l">
              <a:spcBef>
                <a:spcPts val="0"/>
              </a:spcBef>
              <a:spcAft>
                <a:spcPts val="0"/>
              </a:spcAft>
              <a:buClr>
                <a:schemeClr val="dk1"/>
              </a:buClr>
              <a:buSzPct val="100000"/>
              <a:buFont typeface="Courier New"/>
              <a:buChar char="○"/>
            </a:pPr>
            <a:r>
              <a:rPr lang="en" sz="1150">
                <a:solidFill>
                  <a:srgbClr val="0000CD"/>
                </a:solidFill>
                <a:highlight>
                  <a:srgbClr val="FFFFFF"/>
                </a:highlight>
                <a:latin typeface="Courier New"/>
                <a:ea typeface="Courier New"/>
                <a:cs typeface="Courier New"/>
                <a:sym typeface="Courier New"/>
              </a:rPr>
              <a:t>SELECT</a:t>
            </a:r>
            <a:r>
              <a:rPr lang="en" sz="1150">
                <a:solidFill>
                  <a:schemeClr val="dk1"/>
                </a:solidFill>
                <a:highlight>
                  <a:srgbClr val="FFFFFF"/>
                </a:highlight>
                <a:latin typeface="Courier New"/>
                <a:ea typeface="Courier New"/>
                <a:cs typeface="Courier New"/>
                <a:sym typeface="Courier New"/>
              </a:rPr>
              <a:t> </a:t>
            </a:r>
            <a:r>
              <a:rPr i="1" lang="en" sz="1150">
                <a:solidFill>
                  <a:schemeClr val="dk1"/>
                </a:solidFill>
                <a:highlight>
                  <a:srgbClr val="FFFFFF"/>
                </a:highlight>
                <a:latin typeface="Courier New"/>
                <a:ea typeface="Courier New"/>
                <a:cs typeface="Courier New"/>
                <a:sym typeface="Courier New"/>
              </a:rPr>
              <a:t>column1</a:t>
            </a:r>
            <a:r>
              <a:rPr lang="en" sz="1150">
                <a:solidFill>
                  <a:schemeClr val="dk1"/>
                </a:solidFill>
                <a:highlight>
                  <a:srgbClr val="FFFFFF"/>
                </a:highlight>
                <a:latin typeface="Courier New"/>
                <a:ea typeface="Courier New"/>
                <a:cs typeface="Courier New"/>
                <a:sym typeface="Courier New"/>
              </a:rPr>
              <a:t>,</a:t>
            </a:r>
            <a:r>
              <a:rPr i="1" lang="en" sz="1150">
                <a:solidFill>
                  <a:schemeClr val="dk1"/>
                </a:solidFill>
                <a:highlight>
                  <a:srgbClr val="FFFFFF"/>
                </a:highlight>
                <a:latin typeface="Courier New"/>
                <a:ea typeface="Courier New"/>
                <a:cs typeface="Courier New"/>
                <a:sym typeface="Courier New"/>
              </a:rPr>
              <a:t> column2, ... </a:t>
            </a:r>
            <a:r>
              <a:rPr lang="en" sz="1150">
                <a:solidFill>
                  <a:srgbClr val="0000CD"/>
                </a:solidFill>
                <a:highlight>
                  <a:srgbClr val="FFFFFF"/>
                </a:highlight>
                <a:latin typeface="Courier New"/>
                <a:ea typeface="Courier New"/>
                <a:cs typeface="Courier New"/>
                <a:sym typeface="Courier New"/>
              </a:rPr>
              <a:t>FROM</a:t>
            </a:r>
            <a:r>
              <a:rPr lang="en" sz="1150">
                <a:solidFill>
                  <a:schemeClr val="dk1"/>
                </a:solidFill>
                <a:highlight>
                  <a:srgbClr val="FFFFFF"/>
                </a:highlight>
                <a:latin typeface="Courier New"/>
                <a:ea typeface="Courier New"/>
                <a:cs typeface="Courier New"/>
                <a:sym typeface="Courier New"/>
              </a:rPr>
              <a:t> </a:t>
            </a:r>
            <a:r>
              <a:rPr i="1" lang="en" sz="1150">
                <a:solidFill>
                  <a:schemeClr val="dk1"/>
                </a:solidFill>
                <a:highlight>
                  <a:srgbClr val="FFFFFF"/>
                </a:highlight>
                <a:latin typeface="Courier New"/>
                <a:ea typeface="Courier New"/>
                <a:cs typeface="Courier New"/>
                <a:sym typeface="Courier New"/>
              </a:rPr>
              <a:t>table_name</a:t>
            </a:r>
            <a:r>
              <a:rPr lang="en" sz="1150">
                <a:solidFill>
                  <a:schemeClr val="dk1"/>
                </a:solidFill>
                <a:highlight>
                  <a:srgbClr val="FFFFFF"/>
                </a:highlight>
                <a:latin typeface="Courier New"/>
                <a:ea typeface="Courier New"/>
                <a:cs typeface="Courier New"/>
                <a:sym typeface="Courier New"/>
              </a:rPr>
              <a:t>;</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b="1" lang="en" sz="1150">
                <a:solidFill>
                  <a:schemeClr val="dk1"/>
                </a:solidFill>
                <a:highlight>
                  <a:srgbClr val="FFFFFF"/>
                </a:highlight>
                <a:latin typeface="Courier New"/>
                <a:ea typeface="Courier New"/>
                <a:cs typeface="Courier New"/>
                <a:sym typeface="Courier New"/>
              </a:rPr>
              <a:t>Case 1</a:t>
            </a:r>
            <a:r>
              <a:rPr lang="en" sz="1150">
                <a:solidFill>
                  <a:schemeClr val="dk1"/>
                </a:solidFill>
                <a:highlight>
                  <a:srgbClr val="FFFFFF"/>
                </a:highlight>
                <a:latin typeface="Courier New"/>
                <a:ea typeface="Courier New"/>
                <a:cs typeface="Courier New"/>
                <a:sym typeface="Courier New"/>
              </a:rPr>
              <a:t>: </a:t>
            </a:r>
            <a:r>
              <a:rPr b="1" lang="en" sz="1150">
                <a:solidFill>
                  <a:schemeClr val="dk1"/>
                </a:solidFill>
                <a:highlight>
                  <a:srgbClr val="FFFFFF"/>
                </a:highlight>
                <a:latin typeface="Courier New"/>
                <a:ea typeface="Courier New"/>
                <a:cs typeface="Courier New"/>
                <a:sym typeface="Courier New"/>
              </a:rPr>
              <a:t>Retrieve all the customers data</a:t>
            </a:r>
            <a:r>
              <a:rPr lang="en" sz="1150">
                <a:solidFill>
                  <a:schemeClr val="dk1"/>
                </a:solidFill>
                <a:highlight>
                  <a:srgbClr val="FFFFFF"/>
                </a:highlight>
                <a:latin typeface="Courier New"/>
                <a:ea typeface="Courier New"/>
                <a:cs typeface="Courier New"/>
                <a:sym typeface="Courier New"/>
              </a:rPr>
              <a:t>  </a:t>
            </a:r>
            <a:endParaRPr sz="1150">
              <a:solidFill>
                <a:schemeClr val="dk1"/>
              </a:solidFill>
              <a:highlight>
                <a:srgbClr val="FFFFFF"/>
              </a:highlight>
              <a:latin typeface="Courier New"/>
              <a:ea typeface="Courier New"/>
              <a:cs typeface="Courier New"/>
              <a:sym typeface="Courier New"/>
            </a:endParaRPr>
          </a:p>
          <a:p>
            <a:pPr indent="-296148" lvl="0" marL="914400" rtl="0" algn="l">
              <a:spcBef>
                <a:spcPts val="1200"/>
              </a:spcBef>
              <a:spcAft>
                <a:spcPts val="0"/>
              </a:spcAft>
              <a:buClr>
                <a:schemeClr val="dk1"/>
              </a:buClr>
              <a:buSzPct val="100000"/>
              <a:buFont typeface="Courier New"/>
              <a:buChar char="●"/>
            </a:pPr>
            <a:r>
              <a:rPr lang="en" sz="1150">
                <a:solidFill>
                  <a:schemeClr val="dk1"/>
                </a:solidFill>
                <a:highlight>
                  <a:srgbClr val="FFFFFF"/>
                </a:highlight>
                <a:latin typeface="Courier New"/>
                <a:ea typeface="Courier New"/>
                <a:cs typeface="Courier New"/>
                <a:sym typeface="Courier New"/>
              </a:rPr>
              <a:t>SELECT * from Customers;  </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b="1" lang="en" sz="1150">
                <a:solidFill>
                  <a:schemeClr val="dk1"/>
                </a:solidFill>
                <a:highlight>
                  <a:srgbClr val="FFFFFF"/>
                </a:highlight>
                <a:latin typeface="Courier New"/>
                <a:ea typeface="Courier New"/>
                <a:cs typeface="Courier New"/>
                <a:sym typeface="Courier New"/>
              </a:rPr>
              <a:t>Case 2</a:t>
            </a:r>
            <a:r>
              <a:rPr lang="en" sz="1150">
                <a:solidFill>
                  <a:schemeClr val="dk1"/>
                </a:solidFill>
                <a:highlight>
                  <a:srgbClr val="FFFFFF"/>
                </a:highlight>
                <a:latin typeface="Courier New"/>
                <a:ea typeface="Courier New"/>
                <a:cs typeface="Courier New"/>
                <a:sym typeface="Courier New"/>
              </a:rPr>
              <a:t>: </a:t>
            </a:r>
            <a:r>
              <a:rPr b="1" lang="en" sz="1150">
                <a:solidFill>
                  <a:schemeClr val="dk1"/>
                </a:solidFill>
                <a:highlight>
                  <a:srgbClr val="FFFFFF"/>
                </a:highlight>
                <a:latin typeface="Courier New"/>
                <a:ea typeface="Courier New"/>
                <a:cs typeface="Courier New"/>
                <a:sym typeface="Courier New"/>
              </a:rPr>
              <a:t>Select all the customers who belong to the City LA</a:t>
            </a:r>
            <a:r>
              <a:rPr lang="en" sz="1150">
                <a:solidFill>
                  <a:schemeClr val="dk1"/>
                </a:solidFill>
                <a:highlight>
                  <a:srgbClr val="FFFFFF"/>
                </a:highlight>
                <a:latin typeface="Courier New"/>
                <a:ea typeface="Courier New"/>
                <a:cs typeface="Courier New"/>
                <a:sym typeface="Courier New"/>
              </a:rPr>
              <a:t>. </a:t>
            </a:r>
            <a:endParaRPr sz="1150">
              <a:solidFill>
                <a:schemeClr val="dk1"/>
              </a:solidFill>
              <a:highlight>
                <a:srgbClr val="FFFFFF"/>
              </a:highlight>
              <a:latin typeface="Courier New"/>
              <a:ea typeface="Courier New"/>
              <a:cs typeface="Courier New"/>
              <a:sym typeface="Courier New"/>
            </a:endParaRPr>
          </a:p>
          <a:p>
            <a:pPr indent="-296148" lvl="0" marL="914400" rtl="0" algn="l">
              <a:spcBef>
                <a:spcPts val="1200"/>
              </a:spcBef>
              <a:spcAft>
                <a:spcPts val="0"/>
              </a:spcAft>
              <a:buClr>
                <a:schemeClr val="dk1"/>
              </a:buClr>
              <a:buSzPct val="100000"/>
              <a:buFont typeface="Courier New"/>
              <a:buChar char="●"/>
            </a:pPr>
            <a:r>
              <a:rPr lang="en" sz="1150">
                <a:solidFill>
                  <a:schemeClr val="dk1"/>
                </a:solidFill>
                <a:highlight>
                  <a:srgbClr val="FFFFFF"/>
                </a:highlight>
                <a:latin typeface="Courier New"/>
                <a:ea typeface="Courier New"/>
                <a:cs typeface="Courier New"/>
                <a:sym typeface="Courier New"/>
              </a:rPr>
              <a:t>SELECT * FROM Customers WHERE City = ‘LA’;</a:t>
            </a:r>
            <a:endParaRPr sz="1150">
              <a:solidFill>
                <a:schemeClr val="dk1"/>
              </a:solidFill>
              <a:highlight>
                <a:srgbClr val="FFFFFF"/>
              </a:highlight>
              <a:latin typeface="Courier New"/>
              <a:ea typeface="Courier New"/>
              <a:cs typeface="Courier New"/>
              <a:sym typeface="Courier New"/>
            </a:endParaRPr>
          </a:p>
          <a:p>
            <a:pPr indent="0" lvl="0" marL="0" rtl="0" algn="l">
              <a:spcBef>
                <a:spcPts val="1200"/>
              </a:spcBef>
              <a:spcAft>
                <a:spcPts val="0"/>
              </a:spcAft>
              <a:buClr>
                <a:schemeClr val="dk1"/>
              </a:buClr>
              <a:buSzPct val="95652"/>
              <a:buFont typeface="Arial"/>
              <a:buNone/>
            </a:pPr>
            <a:r>
              <a:rPr b="1" lang="en" sz="1150">
                <a:solidFill>
                  <a:schemeClr val="dk1"/>
                </a:solidFill>
                <a:highlight>
                  <a:srgbClr val="FFFFFF"/>
                </a:highlight>
                <a:latin typeface="Courier New"/>
                <a:ea typeface="Courier New"/>
                <a:cs typeface="Courier New"/>
                <a:sym typeface="Courier New"/>
              </a:rPr>
              <a:t>Case 3</a:t>
            </a:r>
            <a:r>
              <a:rPr lang="en" sz="1150">
                <a:solidFill>
                  <a:schemeClr val="dk1"/>
                </a:solidFill>
                <a:highlight>
                  <a:srgbClr val="FFFFFF"/>
                </a:highlight>
                <a:latin typeface="Courier New"/>
                <a:ea typeface="Courier New"/>
                <a:cs typeface="Courier New"/>
                <a:sym typeface="Courier New"/>
              </a:rPr>
              <a:t>: </a:t>
            </a:r>
            <a:r>
              <a:rPr b="1" lang="en" sz="1150">
                <a:solidFill>
                  <a:schemeClr val="dk1"/>
                </a:solidFill>
                <a:highlight>
                  <a:srgbClr val="FFFFFF"/>
                </a:highlight>
                <a:latin typeface="Courier New"/>
                <a:ea typeface="Courier New"/>
                <a:cs typeface="Courier New"/>
                <a:sym typeface="Courier New"/>
              </a:rPr>
              <a:t>Retrieve the first names and last names whose country is USA and city is New York (multiple conditions)</a:t>
            </a:r>
            <a:r>
              <a:rPr lang="en" sz="1150">
                <a:solidFill>
                  <a:schemeClr val="dk1"/>
                </a:solidFill>
                <a:highlight>
                  <a:srgbClr val="FFFFFF"/>
                </a:highlight>
                <a:latin typeface="Courier New"/>
                <a:ea typeface="Courier New"/>
                <a:cs typeface="Courier New"/>
                <a:sym typeface="Courier New"/>
              </a:rPr>
              <a:t>  </a:t>
            </a:r>
            <a:endParaRPr sz="1150">
              <a:solidFill>
                <a:schemeClr val="dk1"/>
              </a:solidFill>
              <a:highlight>
                <a:srgbClr val="FFFFFF"/>
              </a:highlight>
              <a:latin typeface="Courier New"/>
              <a:ea typeface="Courier New"/>
              <a:cs typeface="Courier New"/>
              <a:sym typeface="Courier New"/>
            </a:endParaRPr>
          </a:p>
          <a:p>
            <a:pPr indent="-296148" lvl="0" marL="457200" rtl="0" algn="l">
              <a:spcBef>
                <a:spcPts val="1200"/>
              </a:spcBef>
              <a:spcAft>
                <a:spcPts val="0"/>
              </a:spcAft>
              <a:buClr>
                <a:schemeClr val="dk1"/>
              </a:buClr>
              <a:buSzPct val="100000"/>
              <a:buFont typeface="Courier New"/>
              <a:buChar char="●"/>
            </a:pPr>
            <a:r>
              <a:rPr lang="en" sz="1150">
                <a:solidFill>
                  <a:schemeClr val="dk1"/>
                </a:solidFill>
                <a:highlight>
                  <a:srgbClr val="FFFFFF"/>
                </a:highlight>
                <a:latin typeface="Courier New"/>
                <a:ea typeface="Courier New"/>
                <a:cs typeface="Courier New"/>
                <a:sym typeface="Courier New"/>
              </a:rPr>
              <a:t>SELECT firstName, lastName from Customers WHERE City=’New york’ AND Country=’USA’;</a:t>
            </a:r>
            <a:endParaRPr sz="115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title"/>
          </p:nvPr>
        </p:nvSpPr>
        <p:spPr>
          <a:xfrm>
            <a:off x="382250" y="287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JDBC</a:t>
            </a:r>
            <a:endParaRPr/>
          </a:p>
        </p:txBody>
      </p:sp>
      <p:sp>
        <p:nvSpPr>
          <p:cNvPr id="125" name="Google Shape;125;p25"/>
          <p:cNvSpPr txBox="1"/>
          <p:nvPr>
            <p:ph idx="1" type="body"/>
          </p:nvPr>
        </p:nvSpPr>
        <p:spPr>
          <a:xfrm>
            <a:off x="410475" y="686825"/>
            <a:ext cx="8520600" cy="1613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JDBC stands for Java Database Connectivity which is a technology that allows Java applications to,  </a:t>
            </a:r>
            <a:endParaRPr/>
          </a:p>
          <a:p>
            <a:pPr indent="-317500" lvl="1" marL="914400" rtl="0" algn="l">
              <a:spcBef>
                <a:spcPts val="0"/>
              </a:spcBef>
              <a:spcAft>
                <a:spcPts val="0"/>
              </a:spcAft>
              <a:buSzPts val="1400"/>
              <a:buChar char="○"/>
            </a:pPr>
            <a:r>
              <a:rPr lang="en"/>
              <a:t>Interact with relational databases</a:t>
            </a:r>
            <a:endParaRPr/>
          </a:p>
          <a:p>
            <a:pPr indent="-317500" lvl="1" marL="914400" rtl="0" algn="l">
              <a:spcBef>
                <a:spcPts val="0"/>
              </a:spcBef>
              <a:spcAft>
                <a:spcPts val="0"/>
              </a:spcAft>
              <a:buSzPts val="1400"/>
              <a:buChar char="○"/>
            </a:pPr>
            <a:r>
              <a:rPr lang="en"/>
              <a:t>Execute SQL queries against the databases  </a:t>
            </a:r>
            <a:endParaRPr/>
          </a:p>
          <a:p>
            <a:pPr indent="-342900" lvl="0" marL="457200" rtl="0" algn="l">
              <a:spcBef>
                <a:spcPts val="0"/>
              </a:spcBef>
              <a:spcAft>
                <a:spcPts val="0"/>
              </a:spcAft>
              <a:buSzPts val="1800"/>
              <a:buChar char="●"/>
            </a:pPr>
            <a:r>
              <a:rPr lang="en"/>
              <a:t>To better understand JDBC technology, look at the following figure: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6"/>
          <p:cNvPicPr preferRelativeResize="0"/>
          <p:nvPr/>
        </p:nvPicPr>
        <p:blipFill rotWithShape="1">
          <a:blip r:embed="rId3">
            <a:alphaModFix/>
          </a:blip>
          <a:srcRect b="8475" l="0" r="2505" t="8756"/>
          <a:stretch/>
        </p:blipFill>
        <p:spPr>
          <a:xfrm>
            <a:off x="1499350" y="1157100"/>
            <a:ext cx="4935326" cy="3266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How JDBC talks with Databases  </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36" name="Google Shape;13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Databases are proprietary applications that are created by noted companies like Oracle, Microsoft and many more. </a:t>
            </a:r>
            <a:endParaRPr/>
          </a:p>
          <a:p>
            <a:pPr indent="-342900" lvl="0" marL="457200" rtl="0" algn="l">
              <a:spcBef>
                <a:spcPts val="0"/>
              </a:spcBef>
              <a:spcAft>
                <a:spcPts val="0"/>
              </a:spcAft>
              <a:buSzPts val="1800"/>
              <a:buChar char="●"/>
            </a:pPr>
            <a:r>
              <a:rPr lang="en"/>
              <a:t>Every database will expose something called Driver through with one can interact with database for SQL operations. </a:t>
            </a:r>
            <a:endParaRPr/>
          </a:p>
          <a:p>
            <a:pPr indent="-342900" lvl="0" marL="457200" rtl="0" algn="l">
              <a:spcBef>
                <a:spcPts val="0"/>
              </a:spcBef>
              <a:spcAft>
                <a:spcPts val="0"/>
              </a:spcAft>
              <a:buSzPts val="1800"/>
              <a:buChar char="●"/>
            </a:pPr>
            <a:r>
              <a:rPr lang="en"/>
              <a:t>A driver is like a gateway to the database. </a:t>
            </a:r>
            <a:endParaRPr/>
          </a:p>
          <a:p>
            <a:pPr indent="-342900" lvl="0" marL="457200" rtl="0" algn="l">
              <a:spcBef>
                <a:spcPts val="0"/>
              </a:spcBef>
              <a:spcAft>
                <a:spcPts val="0"/>
              </a:spcAft>
              <a:buSzPts val="1800"/>
              <a:buChar char="●"/>
            </a:pPr>
            <a:r>
              <a:rPr lang="en"/>
              <a:t>Therefore, for any Java application to work with databases, it must use the driver of that database.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Database Drivers  </a:t>
            </a:r>
            <a:endParaRPr/>
          </a:p>
        </p:txBody>
      </p:sp>
      <p:sp>
        <p:nvSpPr>
          <p:cNvPr id="142" name="Google Shape;14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driver is not a hardware device. It’s a software program that could be written in any language. </a:t>
            </a:r>
            <a:endParaRPr/>
          </a:p>
          <a:p>
            <a:pPr indent="-342900" lvl="0" marL="457200" rtl="0" algn="l">
              <a:spcBef>
                <a:spcPts val="0"/>
              </a:spcBef>
              <a:spcAft>
                <a:spcPts val="0"/>
              </a:spcAft>
              <a:buSzPts val="1800"/>
              <a:buChar char="●"/>
            </a:pPr>
            <a:r>
              <a:rPr lang="en"/>
              <a:t>Every database will have its own driver program. </a:t>
            </a:r>
            <a:endParaRPr/>
          </a:p>
          <a:p>
            <a:pPr indent="-342900" lvl="0" marL="457200" rtl="0" algn="l">
              <a:spcBef>
                <a:spcPts val="0"/>
              </a:spcBef>
              <a:spcAft>
                <a:spcPts val="0"/>
              </a:spcAft>
              <a:buSzPts val="1800"/>
              <a:buChar char="●"/>
            </a:pPr>
            <a:r>
              <a:rPr lang="en"/>
              <a:t>Given a driver program of a particular database, the challenge is how to use it to talk with database. To understand this, we need to know the different types of drivers.  </a:t>
            </a:r>
            <a:endParaRPr/>
          </a:p>
          <a:p>
            <a:pPr indent="-342900" lvl="0" marL="457200" rtl="0" algn="l">
              <a:spcBef>
                <a:spcPts val="0"/>
              </a:spcBef>
              <a:spcAft>
                <a:spcPts val="0"/>
              </a:spcAft>
              <a:buSzPts val="1800"/>
              <a:buChar char="●"/>
            </a:pPr>
            <a:r>
              <a:rPr lang="en"/>
              <a:t>There are basically 4 different types of database drivers as described below:  </a:t>
            </a:r>
            <a:endParaRPr/>
          </a:p>
          <a:p>
            <a:pPr indent="-317500" lvl="1" marL="914400" rtl="0" algn="l">
              <a:spcBef>
                <a:spcPts val="0"/>
              </a:spcBef>
              <a:spcAft>
                <a:spcPts val="0"/>
              </a:spcAft>
              <a:buSzPts val="1400"/>
              <a:buChar char="○"/>
            </a:pPr>
            <a:r>
              <a:rPr lang="en"/>
              <a:t>Type 1: JDBC-ODBC Bridge Driver  </a:t>
            </a:r>
            <a:endParaRPr/>
          </a:p>
          <a:p>
            <a:pPr indent="-317500" lvl="1" marL="914400" rtl="0" algn="l">
              <a:spcBef>
                <a:spcPts val="0"/>
              </a:spcBef>
              <a:spcAft>
                <a:spcPts val="0"/>
              </a:spcAft>
              <a:buSzPts val="1400"/>
              <a:buChar char="○"/>
            </a:pPr>
            <a:r>
              <a:rPr lang="en"/>
              <a:t>Type 2: Partly Java and Partly Native Driver (Native-API Driver)</a:t>
            </a:r>
            <a:endParaRPr/>
          </a:p>
          <a:p>
            <a:pPr indent="-317500" lvl="1" marL="914400" rtl="0" algn="l">
              <a:spcBef>
                <a:spcPts val="0"/>
              </a:spcBef>
              <a:spcAft>
                <a:spcPts val="0"/>
              </a:spcAft>
              <a:buSzPts val="1400"/>
              <a:buChar char="○"/>
            </a:pPr>
            <a:r>
              <a:rPr lang="en"/>
              <a:t>Type 3: Intermediate Database access Driver Server  (Network Protocol )         </a:t>
            </a:r>
            <a:endParaRPr/>
          </a:p>
          <a:p>
            <a:pPr indent="-317500" lvl="1" marL="914400" rtl="0" algn="l">
              <a:spcBef>
                <a:spcPts val="0"/>
              </a:spcBef>
              <a:spcAft>
                <a:spcPts val="0"/>
              </a:spcAft>
              <a:buSzPts val="1400"/>
              <a:buChar char="○"/>
            </a:pPr>
            <a:r>
              <a:rPr lang="en"/>
              <a:t>Type 4: Pure Java Drivers  (Thin Driver)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JDBC-ODBC Bridge Driver</a:t>
            </a:r>
            <a:endParaRPr/>
          </a:p>
        </p:txBody>
      </p:sp>
      <p:sp>
        <p:nvSpPr>
          <p:cNvPr id="148" name="Google Shape;148;p29"/>
          <p:cNvSpPr txBox="1"/>
          <p:nvPr>
            <p:ph idx="1" type="body"/>
          </p:nvPr>
        </p:nvSpPr>
        <p:spPr>
          <a:xfrm>
            <a:off x="311700" y="1152475"/>
            <a:ext cx="8620500" cy="98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is also called as Type-1 driver.</a:t>
            </a:r>
            <a:endParaRPr/>
          </a:p>
          <a:p>
            <a:pPr indent="0" lvl="0" marL="0" rtl="0" algn="l">
              <a:spcBef>
                <a:spcPts val="1200"/>
              </a:spcBef>
              <a:spcAft>
                <a:spcPts val="1200"/>
              </a:spcAft>
              <a:buNone/>
            </a:pPr>
            <a:r>
              <a:rPr lang="en"/>
              <a:t> Following shows the configuration of this driver.    </a:t>
            </a:r>
            <a:endParaRPr/>
          </a:p>
        </p:txBody>
      </p:sp>
      <p:pic>
        <p:nvPicPr>
          <p:cNvPr id="149" name="Google Shape;149;p29"/>
          <p:cNvPicPr preferRelativeResize="0"/>
          <p:nvPr/>
        </p:nvPicPr>
        <p:blipFill>
          <a:blip r:embed="rId3">
            <a:alphaModFix/>
          </a:blip>
          <a:stretch>
            <a:fillRect/>
          </a:stretch>
        </p:blipFill>
        <p:spPr>
          <a:xfrm>
            <a:off x="1337725" y="2607575"/>
            <a:ext cx="5943600" cy="1819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0"/>
          <p:cNvSpPr txBox="1"/>
          <p:nvPr>
            <p:ph idx="1" type="body"/>
          </p:nvPr>
        </p:nvSpPr>
        <p:spPr>
          <a:xfrm>
            <a:off x="502200" y="644475"/>
            <a:ext cx="8520600" cy="34164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As you can notice from the above figure, this driver translates the JDBC calls to ODBC calls in the ODBC layer. </a:t>
            </a:r>
            <a:endParaRPr/>
          </a:p>
          <a:p>
            <a:pPr indent="-334327" lvl="0" marL="457200" rtl="0" algn="l">
              <a:spcBef>
                <a:spcPts val="0"/>
              </a:spcBef>
              <a:spcAft>
                <a:spcPts val="0"/>
              </a:spcAft>
              <a:buSzPct val="100000"/>
              <a:buChar char="●"/>
            </a:pPr>
            <a:r>
              <a:rPr lang="en"/>
              <a:t>The ODBC calls are then translated to the native database API calls. </a:t>
            </a:r>
            <a:endParaRPr/>
          </a:p>
          <a:p>
            <a:pPr indent="-334327" lvl="0" marL="457200" rtl="0" algn="l">
              <a:spcBef>
                <a:spcPts val="0"/>
              </a:spcBef>
              <a:spcAft>
                <a:spcPts val="0"/>
              </a:spcAft>
              <a:buSzPct val="100000"/>
              <a:buChar char="●"/>
            </a:pPr>
            <a:r>
              <a:rPr lang="en"/>
              <a:t>Because of the multiple layers of indirection, the performance of the application using this driver suffers seriously. </a:t>
            </a:r>
            <a:endParaRPr/>
          </a:p>
          <a:p>
            <a:pPr indent="-334327" lvl="0" marL="457200" rtl="0" algn="l">
              <a:spcBef>
                <a:spcPts val="0"/>
              </a:spcBef>
              <a:spcAft>
                <a:spcPts val="0"/>
              </a:spcAft>
              <a:buSzPct val="100000"/>
              <a:buChar char="●"/>
            </a:pPr>
            <a:r>
              <a:rPr lang="en"/>
              <a:t>This type of driver is normally used for training purposes and never used in commercial applications. </a:t>
            </a:r>
            <a:endParaRPr/>
          </a:p>
          <a:p>
            <a:pPr indent="-334327" lvl="0" marL="457200" rtl="0" algn="l">
              <a:spcBef>
                <a:spcPts val="0"/>
              </a:spcBef>
              <a:spcAft>
                <a:spcPts val="0"/>
              </a:spcAft>
              <a:buSzPct val="100000"/>
              <a:buChar char="●"/>
            </a:pPr>
            <a:r>
              <a:rPr lang="en"/>
              <a:t>The only good thing with this driver is that you can access any database with it.  </a:t>
            </a:r>
            <a:endParaRPr/>
          </a:p>
          <a:p>
            <a:pPr indent="-334327" lvl="0" marL="457200" rtl="0" algn="l">
              <a:spcBef>
                <a:spcPts val="0"/>
              </a:spcBef>
              <a:spcAft>
                <a:spcPts val="0"/>
              </a:spcAft>
              <a:buSzPct val="100000"/>
              <a:buChar char="●"/>
            </a:pPr>
            <a:r>
              <a:rPr lang="en"/>
              <a:t>In simple words, with this driver for JDBC to talk with vendor specific native API, following translations will be made.  </a:t>
            </a:r>
            <a:endParaRPr/>
          </a:p>
          <a:p>
            <a:pPr indent="-334327" lvl="0" marL="457200" rtl="0" algn="l">
              <a:spcBef>
                <a:spcPts val="0"/>
              </a:spcBef>
              <a:spcAft>
                <a:spcPts val="0"/>
              </a:spcAft>
              <a:buSzPct val="100000"/>
              <a:buChar char="●"/>
            </a:pPr>
            <a:r>
              <a:rPr lang="en"/>
              <a:t>JDBC - &gt; ODBC -&gt; Native  </a:t>
            </a:r>
            <a:endParaRPr/>
          </a:p>
          <a:p>
            <a:pPr indent="-334327" lvl="0" marL="457200" rtl="0" algn="l">
              <a:spcBef>
                <a:spcPts val="0"/>
              </a:spcBef>
              <a:spcAft>
                <a:spcPts val="0"/>
              </a:spcAft>
              <a:buSzPct val="100000"/>
              <a:buChar char="●"/>
            </a:pPr>
            <a:r>
              <a:rPr lang="en"/>
              <a:t>It’s a 2 step process.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Partly Java and Partly Native Driver  </a:t>
            </a:r>
            <a:endParaRPr/>
          </a:p>
        </p:txBody>
      </p:sp>
      <p:sp>
        <p:nvSpPr>
          <p:cNvPr id="160" name="Google Shape;160;p31"/>
          <p:cNvSpPr txBox="1"/>
          <p:nvPr>
            <p:ph idx="1" type="body"/>
          </p:nvPr>
        </p:nvSpPr>
        <p:spPr>
          <a:xfrm>
            <a:off x="311700" y="1152475"/>
            <a:ext cx="8520600" cy="1112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is also called as Type-2 driver. As the name suggests, this driver is partly built using Java and partly with vendor specific API. Figure below shows the configuration of this driver. </a:t>
            </a:r>
            <a:endParaRPr/>
          </a:p>
        </p:txBody>
      </p:sp>
      <p:pic>
        <p:nvPicPr>
          <p:cNvPr id="161" name="Google Shape;161;p31"/>
          <p:cNvPicPr preferRelativeResize="0"/>
          <p:nvPr/>
        </p:nvPicPr>
        <p:blipFill>
          <a:blip r:embed="rId3">
            <a:alphaModFix/>
          </a:blip>
          <a:stretch>
            <a:fillRect/>
          </a:stretch>
        </p:blipFill>
        <p:spPr>
          <a:xfrm>
            <a:off x="1168400" y="2318500"/>
            <a:ext cx="5905500" cy="22193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2"/>
          <p:cNvSpPr txBox="1"/>
          <p:nvPr>
            <p:ph idx="1" type="body"/>
          </p:nvPr>
        </p:nvSpPr>
        <p:spPr>
          <a:xfrm>
            <a:off x="311700" y="1152475"/>
            <a:ext cx="8520600" cy="208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With this driver, the JDBC calls are translated to vendor specific native calls in just one step. </a:t>
            </a:r>
            <a:endParaRPr/>
          </a:p>
          <a:p>
            <a:pPr indent="0" lvl="0" marL="0" rtl="0" algn="l">
              <a:spcBef>
                <a:spcPts val="1200"/>
              </a:spcBef>
              <a:spcAft>
                <a:spcPts val="0"/>
              </a:spcAft>
              <a:buClr>
                <a:schemeClr val="dk1"/>
              </a:buClr>
              <a:buSzPts val="1100"/>
              <a:buFont typeface="Arial"/>
              <a:buNone/>
            </a:pPr>
            <a:r>
              <a:rPr lang="en"/>
              <a:t>It completely eliminates the ODBC layer. </a:t>
            </a:r>
            <a:endParaRPr/>
          </a:p>
          <a:p>
            <a:pPr indent="0" lvl="0" marL="0" rtl="0" algn="l">
              <a:spcBef>
                <a:spcPts val="1200"/>
              </a:spcBef>
              <a:spcAft>
                <a:spcPts val="1200"/>
              </a:spcAft>
              <a:buNone/>
            </a:pPr>
            <a:r>
              <a:rPr lang="en"/>
              <a:t>Because of this ODBC layer elimination, the applications using this driver perform better.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Type 3 Net pure java driver</a:t>
            </a:r>
            <a:endParaRPr/>
          </a:p>
        </p:txBody>
      </p:sp>
      <p:sp>
        <p:nvSpPr>
          <p:cNvPr id="172" name="Google Shape;172;p33"/>
          <p:cNvSpPr txBox="1"/>
          <p:nvPr>
            <p:ph idx="1" type="body"/>
          </p:nvPr>
        </p:nvSpPr>
        <p:spPr>
          <a:xfrm>
            <a:off x="311700" y="1152475"/>
            <a:ext cx="8520600" cy="2918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If you look at the Type-2 driver configuration, we only access one database at a time. </a:t>
            </a:r>
            <a:endParaRPr/>
          </a:p>
          <a:p>
            <a:pPr indent="-342900" lvl="0" marL="457200" rtl="0" algn="l">
              <a:spcBef>
                <a:spcPts val="0"/>
              </a:spcBef>
              <a:spcAft>
                <a:spcPts val="0"/>
              </a:spcAft>
              <a:buSzPts val="1800"/>
              <a:buChar char="●"/>
            </a:pPr>
            <a:r>
              <a:rPr lang="en"/>
              <a:t>However there will be situations where multiple Java programs need to access to multiple databases. This is where Type-3 driver is used. </a:t>
            </a:r>
            <a:endParaRPr/>
          </a:p>
          <a:p>
            <a:pPr indent="-342900" lvl="0" marL="457200" rtl="0" algn="l">
              <a:spcBef>
                <a:spcPts val="0"/>
              </a:spcBef>
              <a:spcAft>
                <a:spcPts val="0"/>
              </a:spcAft>
              <a:buSzPts val="1800"/>
              <a:buChar char="●"/>
            </a:pPr>
            <a:r>
              <a:rPr lang="en"/>
              <a:t>It acts as a middleware for the applications to access several databases. </a:t>
            </a:r>
            <a:endParaRPr/>
          </a:p>
          <a:p>
            <a:pPr indent="-342900" lvl="0" marL="457200" rtl="0" algn="l">
              <a:spcBef>
                <a:spcPts val="0"/>
              </a:spcBef>
              <a:spcAft>
                <a:spcPts val="0"/>
              </a:spcAft>
              <a:buSzPts val="1800"/>
              <a:buChar char="●"/>
            </a:pPr>
            <a:r>
              <a:rPr lang="en"/>
              <a:t>The Type-3 configuration internally may use Type-2 configuration to connect to database.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34"/>
          <p:cNvPicPr preferRelativeResize="0"/>
          <p:nvPr/>
        </p:nvPicPr>
        <p:blipFill>
          <a:blip r:embed="rId3">
            <a:alphaModFix/>
          </a:blip>
          <a:stretch>
            <a:fillRect/>
          </a:stretch>
        </p:blipFill>
        <p:spPr>
          <a:xfrm>
            <a:off x="758925" y="1065400"/>
            <a:ext cx="7229025" cy="31538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 - 4: Pure Java Driver</a:t>
            </a:r>
            <a:endParaRPr/>
          </a:p>
        </p:txBody>
      </p:sp>
      <p:sp>
        <p:nvSpPr>
          <p:cNvPr id="183" name="Google Shape;183;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4" name="Google Shape;184;p35"/>
          <p:cNvPicPr preferRelativeResize="0"/>
          <p:nvPr/>
        </p:nvPicPr>
        <p:blipFill>
          <a:blip r:embed="rId3">
            <a:alphaModFix/>
          </a:blip>
          <a:stretch>
            <a:fillRect/>
          </a:stretch>
        </p:blipFill>
        <p:spPr>
          <a:xfrm>
            <a:off x="1876425" y="1752600"/>
            <a:ext cx="5391150" cy="1638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JDBC API  </a:t>
            </a:r>
            <a:endParaRPr/>
          </a:p>
        </p:txBody>
      </p:sp>
      <p:sp>
        <p:nvSpPr>
          <p:cNvPr id="190" name="Google Shape;19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JDBC technology is nothing but an API.It is a set of classes and interfaces that our Java programs use to execute the SQL queries against the database. </a:t>
            </a:r>
            <a:endParaRPr/>
          </a:p>
          <a:p>
            <a:pPr indent="-334327" lvl="0" marL="457200" rtl="0" algn="l">
              <a:spcBef>
                <a:spcPts val="0"/>
              </a:spcBef>
              <a:spcAft>
                <a:spcPts val="0"/>
              </a:spcAft>
              <a:buSzPct val="100000"/>
              <a:buChar char="●"/>
            </a:pPr>
            <a:r>
              <a:rPr lang="en"/>
              <a:t>The fundamental idea behind JDBC is that, Java programs use JDBC API, and JDBC API will in turn use the driver to work with the database. </a:t>
            </a:r>
            <a:endParaRPr/>
          </a:p>
          <a:p>
            <a:pPr indent="-334327" lvl="0" marL="457200" rtl="0" algn="l">
              <a:spcBef>
                <a:spcPts val="0"/>
              </a:spcBef>
              <a:spcAft>
                <a:spcPts val="0"/>
              </a:spcAft>
              <a:buSzPct val="100000"/>
              <a:buChar char="●"/>
            </a:pPr>
            <a:r>
              <a:rPr lang="en"/>
              <a:t>Therefore, to work with MySQL database, we need to configure the JDBC with all the MySQL information. This information is nothing but:  </a:t>
            </a:r>
            <a:endParaRPr/>
          </a:p>
          <a:p>
            <a:pPr indent="-310832" lvl="1" marL="914400" rtl="0" algn="l">
              <a:spcBef>
                <a:spcPts val="0"/>
              </a:spcBef>
              <a:spcAft>
                <a:spcPts val="0"/>
              </a:spcAft>
              <a:buSzPct val="100000"/>
              <a:buChar char="○"/>
            </a:pPr>
            <a:r>
              <a:rPr lang="en"/>
              <a:t>Name of the MySQL driver class </a:t>
            </a:r>
            <a:endParaRPr/>
          </a:p>
          <a:p>
            <a:pPr indent="-310832" lvl="1" marL="914400" rtl="0" algn="l">
              <a:spcBef>
                <a:spcPts val="0"/>
              </a:spcBef>
              <a:spcAft>
                <a:spcPts val="0"/>
              </a:spcAft>
              <a:buSzPct val="100000"/>
              <a:buChar char="○"/>
            </a:pPr>
            <a:r>
              <a:rPr lang="en"/>
              <a:t>URL of the database schema.  </a:t>
            </a:r>
            <a:endParaRPr/>
          </a:p>
          <a:p>
            <a:pPr indent="-334327" lvl="0" marL="457200" rtl="0" algn="l">
              <a:spcBef>
                <a:spcPts val="0"/>
              </a:spcBef>
              <a:spcAft>
                <a:spcPts val="0"/>
              </a:spcAft>
              <a:buSzPct val="100000"/>
              <a:buChar char="●"/>
            </a:pPr>
            <a:r>
              <a:rPr lang="en"/>
              <a:t>In simple words, for a Java program to work with the database, we first need to configure JDBC with the above database info and then make the Java program use the JDBC.  </a:t>
            </a:r>
            <a:endParaRPr/>
          </a:p>
          <a:p>
            <a:pPr indent="-334327" lvl="0" marL="457200" rtl="0" algn="l">
              <a:spcBef>
                <a:spcPts val="0"/>
              </a:spcBef>
              <a:spcAft>
                <a:spcPts val="0"/>
              </a:spcAft>
              <a:buSzPct val="100000"/>
              <a:buChar char="●"/>
            </a:pPr>
            <a:r>
              <a:rPr lang="en"/>
              <a:t>Table lists the important JDBC classes and interfaces that we can use to build applications.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37"/>
          <p:cNvPicPr preferRelativeResize="0"/>
          <p:nvPr/>
        </p:nvPicPr>
        <p:blipFill>
          <a:blip r:embed="rId3">
            <a:alphaModFix/>
          </a:blip>
          <a:stretch>
            <a:fillRect/>
          </a:stretch>
        </p:blipFill>
        <p:spPr>
          <a:xfrm>
            <a:off x="781000" y="874900"/>
            <a:ext cx="7177674" cy="3728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Steps for JDBC Program</a:t>
            </a:r>
            <a:endParaRPr/>
          </a:p>
        </p:txBody>
      </p:sp>
      <p:sp>
        <p:nvSpPr>
          <p:cNvPr id="201" name="Google Shape;201;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Load the Driver </a:t>
            </a:r>
            <a:endParaRPr/>
          </a:p>
          <a:p>
            <a:pPr indent="-342900" lvl="0" marL="457200" rtl="0" algn="l">
              <a:spcBef>
                <a:spcPts val="0"/>
              </a:spcBef>
              <a:spcAft>
                <a:spcPts val="0"/>
              </a:spcAft>
              <a:buSzPts val="1800"/>
              <a:buChar char="●"/>
            </a:pPr>
            <a:r>
              <a:rPr lang="en"/>
              <a:t>Get the connection to the database using the URL </a:t>
            </a:r>
            <a:endParaRPr/>
          </a:p>
          <a:p>
            <a:pPr indent="-342900" lvl="0" marL="457200" rtl="0" algn="l">
              <a:spcBef>
                <a:spcPts val="0"/>
              </a:spcBef>
              <a:spcAft>
                <a:spcPts val="0"/>
              </a:spcAft>
              <a:buSzPts val="1800"/>
              <a:buChar char="●"/>
            </a:pPr>
            <a:r>
              <a:rPr lang="en"/>
              <a:t>Create the statements </a:t>
            </a:r>
            <a:endParaRPr/>
          </a:p>
          <a:p>
            <a:pPr indent="-342900" lvl="0" marL="457200" rtl="0" algn="l">
              <a:spcBef>
                <a:spcPts val="0"/>
              </a:spcBef>
              <a:spcAft>
                <a:spcPts val="0"/>
              </a:spcAft>
              <a:buSzPts val="1800"/>
              <a:buChar char="●"/>
            </a:pPr>
            <a:r>
              <a:rPr lang="en"/>
              <a:t>Execute the statements </a:t>
            </a:r>
            <a:endParaRPr/>
          </a:p>
          <a:p>
            <a:pPr indent="-342900" lvl="0" marL="457200" rtl="0" algn="l">
              <a:spcBef>
                <a:spcPts val="0"/>
              </a:spcBef>
              <a:spcAft>
                <a:spcPts val="0"/>
              </a:spcAft>
              <a:buSzPts val="1800"/>
              <a:buChar char="●"/>
            </a:pPr>
            <a:r>
              <a:rPr lang="en"/>
              <a:t>Process the results </a:t>
            </a:r>
            <a:endParaRPr/>
          </a:p>
          <a:p>
            <a:pPr indent="-342900" lvl="0" marL="457200" rtl="0" algn="l">
              <a:spcBef>
                <a:spcPts val="0"/>
              </a:spcBef>
              <a:spcAft>
                <a:spcPts val="0"/>
              </a:spcAft>
              <a:buSzPts val="1800"/>
              <a:buChar char="●"/>
            </a:pPr>
            <a:r>
              <a:rPr lang="en"/>
              <a:t>Close the statements </a:t>
            </a:r>
            <a:endParaRPr/>
          </a:p>
          <a:p>
            <a:pPr indent="-342900" lvl="0" marL="457200" rtl="0" algn="l">
              <a:spcBef>
                <a:spcPts val="0"/>
              </a:spcBef>
              <a:spcAft>
                <a:spcPts val="0"/>
              </a:spcAft>
              <a:buSzPts val="1800"/>
              <a:buChar char="●"/>
            </a:pPr>
            <a:r>
              <a:rPr lang="en"/>
              <a:t>Close the connection.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7" name="Google Shape;207;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Register the driver class: </a:t>
            </a:r>
            <a:endParaRPr/>
          </a:p>
          <a:p>
            <a:pPr indent="-317500" lvl="1" marL="914400" rtl="0" algn="l">
              <a:spcBef>
                <a:spcPts val="0"/>
              </a:spcBef>
              <a:spcAft>
                <a:spcPts val="0"/>
              </a:spcAft>
              <a:buSzPts val="1400"/>
              <a:buChar char="○"/>
            </a:pPr>
            <a:r>
              <a:rPr lang="en"/>
              <a:t>First step is to load or register the JDBC driver for the database. Class class provides forName method to dynamically load the driver class.</a:t>
            </a:r>
            <a:endParaRPr/>
          </a:p>
          <a:p>
            <a:pPr indent="-317500" lvl="1" marL="914400" rtl="0" algn="l">
              <a:spcBef>
                <a:spcPts val="0"/>
              </a:spcBef>
              <a:spcAft>
                <a:spcPts val="0"/>
              </a:spcAft>
              <a:buSzPts val="1400"/>
              <a:buChar char="○"/>
            </a:pPr>
            <a:r>
              <a:rPr lang="en"/>
              <a:t>Syntax: Class.forName("driver ClassName");</a:t>
            </a:r>
            <a:endParaRPr/>
          </a:p>
          <a:p>
            <a:pPr indent="-342900" lvl="0" marL="457200" rtl="0" algn="l">
              <a:spcBef>
                <a:spcPts val="0"/>
              </a:spcBef>
              <a:spcAft>
                <a:spcPts val="0"/>
              </a:spcAft>
              <a:buSzPts val="1800"/>
              <a:buChar char="●"/>
            </a:pPr>
            <a:r>
              <a:rPr lang="en"/>
              <a:t>Making a Connection:</a:t>
            </a:r>
            <a:endParaRPr/>
          </a:p>
          <a:p>
            <a:pPr indent="-317500" lvl="1" marL="914400" rtl="0" algn="l">
              <a:spcBef>
                <a:spcPts val="0"/>
              </a:spcBef>
              <a:spcAft>
                <a:spcPts val="0"/>
              </a:spcAft>
              <a:buSzPts val="1400"/>
              <a:buChar char="○"/>
            </a:pPr>
            <a:r>
              <a:rPr lang="en"/>
              <a:t>DriverManager class provides the facility to create a connection between a database and the appropriate driver. </a:t>
            </a:r>
            <a:endParaRPr/>
          </a:p>
          <a:p>
            <a:pPr indent="-317500" lvl="1" marL="914400" rtl="0" algn="l">
              <a:spcBef>
                <a:spcPts val="0"/>
              </a:spcBef>
              <a:spcAft>
                <a:spcPts val="0"/>
              </a:spcAft>
              <a:buSzPts val="1400"/>
              <a:buChar char="○"/>
            </a:pPr>
            <a:r>
              <a:rPr lang="en"/>
              <a:t>To open a database connection we can call getConnection method of DriverManager class.</a:t>
            </a:r>
            <a:endParaRPr/>
          </a:p>
          <a:p>
            <a:pPr indent="-317500" lvl="1" marL="914400" rtl="0" algn="l">
              <a:spcBef>
                <a:spcPts val="0"/>
              </a:spcBef>
              <a:spcAft>
                <a:spcPts val="0"/>
              </a:spcAft>
              <a:buSzPts val="1400"/>
              <a:buChar char="○"/>
            </a:pPr>
            <a:r>
              <a:rPr lang="en"/>
              <a:t>Syntax: Connection connection =DriverManager.getConnection (url,username, password) ;</a:t>
            </a:r>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0"/>
          <p:cNvSpPr txBox="1"/>
          <p:nvPr>
            <p:ph idx="1" type="body"/>
          </p:nvPr>
        </p:nvSpPr>
        <p:spPr>
          <a:xfrm>
            <a:off x="311700" y="396925"/>
            <a:ext cx="8520600" cy="3944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C</a:t>
            </a:r>
            <a:r>
              <a:rPr lang="en"/>
              <a:t>reating Statement: </a:t>
            </a:r>
            <a:endParaRPr/>
          </a:p>
          <a:p>
            <a:pPr indent="-317500" lvl="1" marL="914400" rtl="0" algn="l">
              <a:spcBef>
                <a:spcPts val="0"/>
              </a:spcBef>
              <a:spcAft>
                <a:spcPts val="0"/>
              </a:spcAft>
              <a:buSzPts val="1400"/>
              <a:buChar char="○"/>
            </a:pPr>
            <a:r>
              <a:rPr lang="en"/>
              <a:t>The statement object is used to execute the query against the database. statement object can be any one of the Statement, CallableStatement, and PreparedStatement types.</a:t>
            </a:r>
            <a:endParaRPr/>
          </a:p>
          <a:p>
            <a:pPr indent="-317500" lvl="1" marL="914400" rtl="0" algn="l">
              <a:spcBef>
                <a:spcPts val="0"/>
              </a:spcBef>
              <a:spcAft>
                <a:spcPts val="0"/>
              </a:spcAft>
              <a:buSzPts val="1400"/>
              <a:buChar char="○"/>
            </a:pPr>
            <a:r>
              <a:rPr lang="en"/>
              <a:t> To create a statement object we have to call createStatement method of Connection interface.</a:t>
            </a:r>
            <a:endParaRPr/>
          </a:p>
          <a:p>
            <a:pPr indent="-317500" lvl="1" marL="914400" rtl="0" algn="l">
              <a:spcBef>
                <a:spcPts val="0"/>
              </a:spcBef>
              <a:spcAft>
                <a:spcPts val="0"/>
              </a:spcAft>
              <a:buSzPts val="1400"/>
              <a:buChar char="○"/>
            </a:pPr>
            <a:r>
              <a:rPr lang="en"/>
              <a:t>Syntax: Statement stmt=connection.createStatement();</a:t>
            </a:r>
            <a:endParaRPr/>
          </a:p>
          <a:p>
            <a:pPr indent="-342900" lvl="0" marL="457200" rtl="0" algn="l">
              <a:spcBef>
                <a:spcPts val="0"/>
              </a:spcBef>
              <a:spcAft>
                <a:spcPts val="0"/>
              </a:spcAft>
              <a:buSzPts val="1800"/>
              <a:buChar char="●"/>
            </a:pPr>
            <a:r>
              <a:rPr lang="en"/>
              <a:t>Executing Statement: </a:t>
            </a:r>
            <a:endParaRPr/>
          </a:p>
          <a:p>
            <a:pPr indent="-317500" lvl="1" marL="914400" rtl="0" algn="l">
              <a:spcBef>
                <a:spcPts val="0"/>
              </a:spcBef>
              <a:spcAft>
                <a:spcPts val="0"/>
              </a:spcAft>
              <a:buSzPts val="1400"/>
              <a:buChar char="○"/>
            </a:pPr>
            <a:r>
              <a:rPr lang="en"/>
              <a:t>The executeQuery method of Statement interface is used to execute queries to the database. </a:t>
            </a:r>
            <a:endParaRPr/>
          </a:p>
          <a:p>
            <a:pPr indent="-317500" lvl="1" marL="914400" rtl="0" algn="l">
              <a:spcBef>
                <a:spcPts val="0"/>
              </a:spcBef>
              <a:spcAft>
                <a:spcPts val="0"/>
              </a:spcAft>
              <a:buSzPts val="1400"/>
              <a:buChar char="○"/>
            </a:pPr>
            <a:r>
              <a:rPr lang="en"/>
              <a:t>This method returns the object of ResultSet that can be used to get all the records of a table.</a:t>
            </a:r>
            <a:endParaRPr/>
          </a:p>
          <a:p>
            <a:pPr indent="-317500" lvl="1" marL="914400" rtl="0" algn="l">
              <a:spcBef>
                <a:spcPts val="0"/>
              </a:spcBef>
              <a:spcAft>
                <a:spcPts val="0"/>
              </a:spcAft>
              <a:buSzPts val="1400"/>
              <a:buChar char="○"/>
            </a:pPr>
            <a:r>
              <a:rPr lang="en"/>
              <a:t>Syntax: ResultSet resultSet = stmt.executeQuery(selectQuery);</a:t>
            </a:r>
            <a:endParaRPr/>
          </a:p>
          <a:p>
            <a:pPr indent="-342900" lvl="0" marL="457200" rtl="0" algn="l">
              <a:spcBef>
                <a:spcPts val="0"/>
              </a:spcBef>
              <a:spcAft>
                <a:spcPts val="0"/>
              </a:spcAft>
              <a:buSzPts val="1800"/>
              <a:buChar char="●"/>
            </a:pPr>
            <a:r>
              <a:rPr lang="en"/>
              <a:t>Closing Connection: </a:t>
            </a:r>
            <a:endParaRPr/>
          </a:p>
          <a:p>
            <a:pPr indent="-317500" lvl="1" marL="914400" rtl="0" algn="l">
              <a:spcBef>
                <a:spcPts val="0"/>
              </a:spcBef>
              <a:spcAft>
                <a:spcPts val="0"/>
              </a:spcAft>
              <a:buSzPts val="1400"/>
              <a:buChar char="○"/>
            </a:pPr>
            <a:r>
              <a:rPr lang="en"/>
              <a:t>After done with the database connection we have to close it. Use close method of Connection interface to close database connection.</a:t>
            </a:r>
            <a:endParaRPr/>
          </a:p>
          <a:p>
            <a:pPr indent="-317500" lvl="1" marL="914400" rtl="0" algn="l">
              <a:spcBef>
                <a:spcPts val="0"/>
              </a:spcBef>
              <a:spcAft>
                <a:spcPts val="0"/>
              </a:spcAft>
              <a:buSzPts val="1400"/>
              <a:buChar char="○"/>
            </a:pPr>
            <a:r>
              <a:rPr lang="en"/>
              <a:t> The statement and ResultSet objects will be closed automatically when we close the connection object.</a:t>
            </a:r>
            <a:endParaRPr/>
          </a:p>
          <a:p>
            <a:pPr indent="-317500" lvl="1" marL="914400" rtl="0" algn="l">
              <a:spcBef>
                <a:spcPts val="0"/>
              </a:spcBef>
              <a:spcAft>
                <a:spcPts val="0"/>
              </a:spcAft>
              <a:buSzPts val="1400"/>
              <a:buChar char="○"/>
            </a:pPr>
            <a:r>
              <a:rPr lang="en"/>
              <a:t>Syntax: connection.close());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41"/>
          <p:cNvPicPr preferRelativeResize="0"/>
          <p:nvPr/>
        </p:nvPicPr>
        <p:blipFill>
          <a:blip r:embed="rId3">
            <a:alphaModFix/>
          </a:blip>
          <a:stretch>
            <a:fillRect/>
          </a:stretch>
        </p:blipFill>
        <p:spPr>
          <a:xfrm>
            <a:off x="152400" y="152400"/>
            <a:ext cx="8376719" cy="48387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3" name="Google Shape;223;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executeQuery vs. executeUpdate</a:t>
            </a:r>
            <a:endParaRPr/>
          </a:p>
          <a:p>
            <a:pPr indent="0" lvl="0" marL="0" rtl="0" algn="l">
              <a:spcBef>
                <a:spcPts val="1200"/>
              </a:spcBef>
              <a:spcAft>
                <a:spcPts val="0"/>
              </a:spcAft>
              <a:buClr>
                <a:schemeClr val="dk1"/>
              </a:buClr>
              <a:buSzPts val="1100"/>
              <a:buFont typeface="Arial"/>
              <a:buNone/>
            </a:pPr>
            <a:r>
              <a:rPr lang="en"/>
              <a:t>- The executeQuery method is used to execute a SELECT statement and returns a ResultSet with the number of rows selected.</a:t>
            </a:r>
            <a:endParaRPr/>
          </a:p>
          <a:p>
            <a:pPr indent="0" lvl="0" marL="0" rtl="0" algn="l">
              <a:spcBef>
                <a:spcPts val="1200"/>
              </a:spcBef>
              <a:spcAft>
                <a:spcPts val="0"/>
              </a:spcAft>
              <a:buClr>
                <a:schemeClr val="dk1"/>
              </a:buClr>
              <a:buSzPts val="1100"/>
              <a:buFont typeface="Arial"/>
              <a:buNone/>
            </a:pPr>
            <a:r>
              <a:rPr lang="en"/>
              <a:t>- The executeUpdate() si used to execute SQL statements such as INSERT, UPDATE or DELETE and it returns the number of rows affected.</a:t>
            </a:r>
            <a:endParaRPr/>
          </a:p>
          <a:p>
            <a:pPr indent="0" lvl="0" marL="0" rtl="0" algn="l">
              <a:spcBef>
                <a:spcPts val="120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SQL Exceptions</a:t>
            </a:r>
            <a:endParaRPr/>
          </a:p>
          <a:p>
            <a:pPr indent="-317500" lvl="1" marL="914400" rtl="0" algn="l">
              <a:spcBef>
                <a:spcPts val="0"/>
              </a:spcBef>
              <a:spcAft>
                <a:spcPts val="0"/>
              </a:spcAft>
              <a:buSzPts val="1400"/>
              <a:buChar char="○"/>
            </a:pPr>
            <a:r>
              <a:rPr lang="en"/>
              <a:t>In JDBC, we may get exceptions when we execute or create the query. </a:t>
            </a:r>
            <a:endParaRPr/>
          </a:p>
          <a:p>
            <a:pPr indent="-317500" lvl="1" marL="914400" rtl="0" algn="l">
              <a:spcBef>
                <a:spcPts val="0"/>
              </a:spcBef>
              <a:spcAft>
                <a:spcPts val="0"/>
              </a:spcAft>
              <a:buSzPts val="1400"/>
              <a:buChar char="○"/>
            </a:pPr>
            <a:r>
              <a:rPr lang="en"/>
              <a:t>SQL exceptions can occur either if the driver is missing or driver name is wrong or information about the database is wrong or the SQL query is wrong. </a:t>
            </a:r>
            <a:endParaRPr/>
          </a:p>
          <a:p>
            <a:pPr indent="-317500" lvl="1" marL="914400" rtl="0" algn="l">
              <a:spcBef>
                <a:spcPts val="0"/>
              </a:spcBef>
              <a:spcAft>
                <a:spcPts val="0"/>
              </a:spcAft>
              <a:buSzPts val="1400"/>
              <a:buChar char="○"/>
            </a:pPr>
            <a:r>
              <a:rPr lang="en"/>
              <a:t>Using Exception handling, we can handle the SQL Exception like we handle the normal exception.</a:t>
            </a:r>
            <a:endParaRPr/>
          </a:p>
          <a:p>
            <a:pPr indent="-317500" lvl="1" marL="914400" rtl="0" algn="l">
              <a:spcBef>
                <a:spcPts val="0"/>
              </a:spcBef>
              <a:spcAft>
                <a:spcPts val="0"/>
              </a:spcAft>
              <a:buSzPts val="1400"/>
              <a:buChar char="○"/>
            </a:pPr>
            <a:r>
              <a:rPr lang="en"/>
              <a:t>An SQLException can occur both in the driver and the database. When such an exception occurs, an object of type SQLException will be passed to the catch clause. SQLException is available in the java.sql package.</a:t>
            </a:r>
            <a:endParaRPr/>
          </a:p>
          <a:p>
            <a:pPr indent="-317500" lvl="1" marL="914400" rtl="0" algn="l">
              <a:spcBef>
                <a:spcPts val="0"/>
              </a:spcBef>
              <a:spcAft>
                <a:spcPts val="0"/>
              </a:spcAft>
              <a:buSzPts val="1400"/>
              <a:buChar char="○"/>
            </a:pPr>
            <a:r>
              <a:rPr lang="en"/>
              <a:t>The SQLException object has the following methods: getErrorCode(), getMessage(), getSQLState(), getNextException), printStackTrace().</a:t>
            </a:r>
            <a:endParaRPr/>
          </a:p>
          <a:p>
            <a:pPr indent="0" lvl="0" marL="0" rtl="0" algn="l">
              <a:spcBef>
                <a:spcPts val="120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DDL vs DML</a:t>
            </a:r>
            <a:endParaRPr/>
          </a:p>
        </p:txBody>
      </p:sp>
      <p:pic>
        <p:nvPicPr>
          <p:cNvPr id="234" name="Google Shape;234;p44"/>
          <p:cNvPicPr preferRelativeResize="0"/>
          <p:nvPr/>
        </p:nvPicPr>
        <p:blipFill>
          <a:blip r:embed="rId3">
            <a:alphaModFix/>
          </a:blip>
          <a:stretch>
            <a:fillRect/>
          </a:stretch>
        </p:blipFill>
        <p:spPr>
          <a:xfrm>
            <a:off x="764325" y="1070900"/>
            <a:ext cx="6792845" cy="3820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Prepared Statement</a:t>
            </a:r>
            <a:endParaRPr/>
          </a:p>
        </p:txBody>
      </p:sp>
      <p:sp>
        <p:nvSpPr>
          <p:cNvPr id="240" name="Google Shape;240;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The PreparedStatement interface is a subinterface of Statement. It is used to execute parameterized query</a:t>
            </a:r>
            <a:endParaRPr/>
          </a:p>
          <a:p>
            <a:pPr indent="-325755" lvl="0" marL="457200" rtl="0" algn="l">
              <a:spcBef>
                <a:spcPts val="0"/>
              </a:spcBef>
              <a:spcAft>
                <a:spcPts val="0"/>
              </a:spcAft>
              <a:buSzPct val="100000"/>
              <a:buChar char="●"/>
            </a:pPr>
            <a:r>
              <a:rPr lang="en"/>
              <a:t>The performance of the application will be faster if you use PreparedStatement interface because query is compiled only once.</a:t>
            </a:r>
            <a:endParaRPr/>
          </a:p>
          <a:p>
            <a:pPr indent="-325755" lvl="0" marL="457200" rtl="0" algn="l">
              <a:spcBef>
                <a:spcPts val="0"/>
              </a:spcBef>
              <a:spcAft>
                <a:spcPts val="0"/>
              </a:spcAft>
              <a:buSzPct val="100000"/>
              <a:buChar char="●"/>
            </a:pPr>
            <a:r>
              <a:rPr lang="en"/>
              <a:t>The prepareStatement() method of Connection interface is used to return the object of PreparedStatement.</a:t>
            </a:r>
            <a:endParaRPr/>
          </a:p>
          <a:p>
            <a:pPr indent="-325755" lvl="0" marL="457200" rtl="0" algn="l">
              <a:spcBef>
                <a:spcPts val="0"/>
              </a:spcBef>
              <a:spcAft>
                <a:spcPts val="0"/>
              </a:spcAft>
              <a:buSzPct val="100000"/>
              <a:buChar char="●"/>
            </a:pPr>
            <a:r>
              <a:rPr lang="en"/>
              <a:t>Example:</a:t>
            </a:r>
            <a:endParaRPr/>
          </a:p>
          <a:p>
            <a:pPr indent="457200" lvl="0" marL="0" rtl="0" algn="l">
              <a:spcBef>
                <a:spcPts val="1200"/>
              </a:spcBef>
              <a:spcAft>
                <a:spcPts val="0"/>
              </a:spcAft>
              <a:buClr>
                <a:schemeClr val="dk1"/>
              </a:buClr>
              <a:buSzPct val="61111"/>
              <a:buFont typeface="Arial"/>
              <a:buNone/>
            </a:pPr>
            <a:r>
              <a:rPr lang="en"/>
              <a:t>PreparedStatement stmt=con.prepareStatement("insert into Emp values(?,?)");  </a:t>
            </a:r>
            <a:endParaRPr/>
          </a:p>
          <a:p>
            <a:pPr indent="457200" lvl="0" marL="0" rtl="0" algn="l">
              <a:spcBef>
                <a:spcPts val="1200"/>
              </a:spcBef>
              <a:spcAft>
                <a:spcPts val="0"/>
              </a:spcAft>
              <a:buClr>
                <a:schemeClr val="dk1"/>
              </a:buClr>
              <a:buSzPct val="61111"/>
              <a:buFont typeface="Arial"/>
              <a:buNone/>
            </a:pPr>
            <a:r>
              <a:rPr lang="en"/>
              <a:t>stmt.setInt(1,101);//1 specifies the first parameter in the query  </a:t>
            </a:r>
            <a:endParaRPr/>
          </a:p>
          <a:p>
            <a:pPr indent="457200" lvl="0" marL="0" rtl="0" algn="l">
              <a:spcBef>
                <a:spcPts val="1200"/>
              </a:spcBef>
              <a:spcAft>
                <a:spcPts val="0"/>
              </a:spcAft>
              <a:buClr>
                <a:schemeClr val="dk1"/>
              </a:buClr>
              <a:buSzPct val="61111"/>
              <a:buFont typeface="Arial"/>
              <a:buNone/>
            </a:pPr>
            <a:r>
              <a:rPr lang="en"/>
              <a:t>stmt.setString(2,"test"); </a:t>
            </a:r>
            <a:endParaRPr/>
          </a:p>
          <a:p>
            <a:pPr indent="0" lvl="0" marL="0" rtl="0" algn="l">
              <a:spcBef>
                <a:spcPts val="12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Results</a:t>
            </a:r>
            <a:endParaRPr/>
          </a:p>
        </p:txBody>
      </p:sp>
      <p:sp>
        <p:nvSpPr>
          <p:cNvPr id="246" name="Google Shape;246;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When running a statement that returns more than one result set, we can use the execute() method of the Statement class. </a:t>
            </a:r>
            <a:endParaRPr/>
          </a:p>
          <a:p>
            <a:pPr indent="-334327" lvl="0" marL="457200" rtl="0" algn="l">
              <a:spcBef>
                <a:spcPts val="0"/>
              </a:spcBef>
              <a:spcAft>
                <a:spcPts val="0"/>
              </a:spcAft>
              <a:buSzPct val="100000"/>
              <a:buChar char="●"/>
            </a:pPr>
            <a:r>
              <a:rPr lang="en"/>
              <a:t>It </a:t>
            </a:r>
            <a:r>
              <a:rPr lang="en"/>
              <a:t>will</a:t>
            </a:r>
            <a:r>
              <a:rPr lang="en"/>
              <a:t> </a:t>
            </a:r>
            <a:r>
              <a:rPr lang="en"/>
              <a:t>return</a:t>
            </a:r>
            <a:r>
              <a:rPr lang="en"/>
              <a:t> a boolean value that indicates if the value returned is a result set or an update count.</a:t>
            </a:r>
            <a:endParaRPr/>
          </a:p>
          <a:p>
            <a:pPr indent="-334327" lvl="0" marL="457200" rtl="0" algn="l">
              <a:spcBef>
                <a:spcPts val="0"/>
              </a:spcBef>
              <a:spcAft>
                <a:spcPts val="0"/>
              </a:spcAft>
              <a:buSzPct val="100000"/>
              <a:buChar char="●"/>
            </a:pPr>
            <a:r>
              <a:rPr lang="en"/>
              <a:t>We can access the first result set by calling the getResultSet() method. </a:t>
            </a:r>
            <a:endParaRPr/>
          </a:p>
          <a:p>
            <a:pPr indent="-334327" lvl="0" marL="457200" rtl="0" algn="l">
              <a:spcBef>
                <a:spcPts val="0"/>
              </a:spcBef>
              <a:spcAft>
                <a:spcPts val="0"/>
              </a:spcAft>
              <a:buSzPct val="100000"/>
              <a:buChar char="●"/>
            </a:pPr>
            <a:r>
              <a:rPr lang="en"/>
              <a:t>To determine if more result sets are available, we can </a:t>
            </a:r>
            <a:r>
              <a:rPr lang="en"/>
              <a:t>call</a:t>
            </a:r>
            <a:r>
              <a:rPr lang="en"/>
              <a:t> the getMoreResults() method, which </a:t>
            </a:r>
            <a:r>
              <a:rPr lang="en"/>
              <a:t>returns</a:t>
            </a:r>
            <a:r>
              <a:rPr lang="en"/>
              <a:t> a boolean value of true if more result sets are available. </a:t>
            </a:r>
            <a:endParaRPr/>
          </a:p>
          <a:p>
            <a:pPr indent="-334327" lvl="0" marL="457200" rtl="0" algn="l">
              <a:spcBef>
                <a:spcPts val="0"/>
              </a:spcBef>
              <a:spcAft>
                <a:spcPts val="0"/>
              </a:spcAft>
              <a:buSzPct val="100000"/>
              <a:buChar char="●"/>
            </a:pPr>
            <a:r>
              <a:rPr lang="en"/>
              <a:t>If more result sets are available, we can call the getResultSet method again to access them, continuing the process until all result sets have been processed.</a:t>
            </a:r>
            <a:endParaRPr/>
          </a:p>
          <a:p>
            <a:pPr indent="-334327" lvl="0" marL="457200" rtl="0" algn="l">
              <a:spcBef>
                <a:spcPts val="0"/>
              </a:spcBef>
              <a:spcAft>
                <a:spcPts val="0"/>
              </a:spcAft>
              <a:buSzPct val="100000"/>
              <a:buChar char="●"/>
            </a:pPr>
            <a:r>
              <a:rPr lang="en"/>
              <a:t>If the getMoreResults) method </a:t>
            </a:r>
            <a:r>
              <a:rPr lang="en"/>
              <a:t>returns</a:t>
            </a:r>
            <a:r>
              <a:rPr lang="en"/>
              <a:t> false, there are no more result sets ot process.</a:t>
            </a:r>
            <a:endParaRPr/>
          </a:p>
          <a:p>
            <a:pPr indent="0" lvl="0" marL="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7"/>
          <p:cNvSpPr txBox="1"/>
          <p:nvPr>
            <p:ph idx="1" type="body"/>
          </p:nvPr>
        </p:nvSpPr>
        <p:spPr>
          <a:xfrm>
            <a:off x="147475" y="424025"/>
            <a:ext cx="8684700" cy="4144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String SQL ="SELECT * FROM employees WHERE id &lt;10; SELECT * FROM employees WHERE id  &gt;50;"</a:t>
            </a:r>
            <a:endParaRPr/>
          </a:p>
          <a:p>
            <a:pPr indent="0" lvl="0" marL="0" rtl="0" algn="l">
              <a:spcBef>
                <a:spcPts val="1200"/>
              </a:spcBef>
              <a:spcAft>
                <a:spcPts val="0"/>
              </a:spcAft>
              <a:buClr>
                <a:schemeClr val="dk1"/>
              </a:buClr>
              <a:buSzPct val="61111"/>
              <a:buFont typeface="Arial"/>
              <a:buNone/>
            </a:pPr>
            <a:r>
              <a:rPr lang="en"/>
              <a:t>boolean results = smt.execute(SQL);</a:t>
            </a:r>
            <a:endParaRPr/>
          </a:p>
          <a:p>
            <a:pPr indent="0" lvl="0" marL="0" rtl="0" algn="l">
              <a:spcBef>
                <a:spcPts val="1200"/>
              </a:spcBef>
              <a:spcAft>
                <a:spcPts val="0"/>
              </a:spcAft>
              <a:buClr>
                <a:schemeClr val="dk1"/>
              </a:buClr>
              <a:buSzPct val="61111"/>
              <a:buFont typeface="Arial"/>
              <a:buNone/>
            </a:pPr>
            <a:r>
              <a:rPr lang="en"/>
              <a:t>while (results) {</a:t>
            </a:r>
            <a:endParaRPr/>
          </a:p>
          <a:p>
            <a:pPr indent="0" lvl="0" marL="0" rtl="0" algn="l">
              <a:spcBef>
                <a:spcPts val="1200"/>
              </a:spcBef>
              <a:spcAft>
                <a:spcPts val="0"/>
              </a:spcAft>
              <a:buClr>
                <a:schemeClr val="dk1"/>
              </a:buClr>
              <a:buSzPct val="61111"/>
              <a:buFont typeface="Arial"/>
              <a:buNone/>
            </a:pPr>
            <a:r>
              <a:rPr lang="en"/>
              <a:t>	ResultSet rs = stmt.getResultSet(); </a:t>
            </a:r>
            <a:endParaRPr/>
          </a:p>
          <a:p>
            <a:pPr indent="0" lvl="0" marL="0" rtl="0" algn="l">
              <a:spcBef>
                <a:spcPts val="1200"/>
              </a:spcBef>
              <a:spcAft>
                <a:spcPts val="0"/>
              </a:spcAft>
              <a:buClr>
                <a:schemeClr val="dk1"/>
              </a:buClr>
              <a:buSzPct val="61111"/>
              <a:buFont typeface="Arial"/>
              <a:buNone/>
            </a:pPr>
            <a:r>
              <a:rPr lang="en"/>
              <a:t>	while (rs.next) {</a:t>
            </a:r>
            <a:endParaRPr/>
          </a:p>
          <a:p>
            <a:pPr indent="0" lvl="0" marL="0" rtl="0" algn="l">
              <a:spcBef>
                <a:spcPts val="1200"/>
              </a:spcBef>
              <a:spcAft>
                <a:spcPts val="0"/>
              </a:spcAft>
              <a:buClr>
                <a:schemeClr val="dk1"/>
              </a:buClr>
              <a:buSzPct val="61111"/>
              <a:buFont typeface="Arial"/>
              <a:buNone/>
            </a:pPr>
            <a:r>
              <a:rPr lang="en"/>
              <a:t>		System.out.</a:t>
            </a:r>
            <a:r>
              <a:rPr lang="en"/>
              <a:t>println</a:t>
            </a:r>
            <a:r>
              <a:rPr lang="en"/>
              <a:t>(rs.getString("Id") +," " +rs.getString("Name") +," " +rs. getString("address"));</a:t>
            </a:r>
            <a:endParaRPr/>
          </a:p>
          <a:p>
            <a:pPr indent="0" lvl="0" marL="0" rtl="0" algn="l">
              <a:spcBef>
                <a:spcPts val="1200"/>
              </a:spcBef>
              <a:spcAft>
                <a:spcPts val="0"/>
              </a:spcAft>
              <a:buClr>
                <a:schemeClr val="dk1"/>
              </a:buClr>
              <a:buSzPct val="61111"/>
              <a:buFont typeface="Arial"/>
              <a:buNone/>
            </a:pPr>
            <a:r>
              <a:rPr lang="en"/>
              <a:t>		System. out. println();</a:t>
            </a:r>
            <a:endParaRPr/>
          </a:p>
          <a:p>
            <a:pPr indent="0" lvl="0" marL="0" rtl="0" algn="l">
              <a:spcBef>
                <a:spcPts val="1200"/>
              </a:spcBef>
              <a:spcAft>
                <a:spcPts val="0"/>
              </a:spcAft>
              <a:buClr>
                <a:schemeClr val="dk1"/>
              </a:buClr>
              <a:buSzPct val="61111"/>
              <a:buFont typeface="Arial"/>
              <a:buNone/>
            </a:pPr>
            <a:r>
              <a:rPr lang="en"/>
              <a:t>	}</a:t>
            </a:r>
            <a:endParaRPr/>
          </a:p>
          <a:p>
            <a:pPr indent="0" lvl="0" marL="0" rtl="0" algn="l">
              <a:spcBef>
                <a:spcPts val="1200"/>
              </a:spcBef>
              <a:spcAft>
                <a:spcPts val="0"/>
              </a:spcAft>
              <a:buClr>
                <a:schemeClr val="dk1"/>
              </a:buClr>
              <a:buSzPct val="61111"/>
              <a:buFont typeface="Arial"/>
              <a:buNone/>
            </a:pPr>
            <a:r>
              <a:rPr lang="en"/>
              <a:t>	results = stmt.getMoreResults();</a:t>
            </a:r>
            <a:endParaRPr/>
          </a:p>
          <a:p>
            <a:pPr indent="0" lvl="0" marL="0" rtl="0" algn="l">
              <a:spcBef>
                <a:spcPts val="1200"/>
              </a:spcBef>
              <a:spcAft>
                <a:spcPts val="0"/>
              </a:spcAft>
              <a:buClr>
                <a:schemeClr val="dk1"/>
              </a:buClr>
              <a:buSzPct val="61111"/>
              <a:buFont typeface="Arial"/>
              <a:buNone/>
            </a:pPr>
            <a:r>
              <a:rPr lang="en"/>
              <a:t>}</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