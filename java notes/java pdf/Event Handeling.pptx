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24dcc585fc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24dcc585fc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24dcc585fc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24dcc585fc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24dcc585fcf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24dcc585fcf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24dcc585fcf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24dcc585fcf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24dcc585fcf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24dcc585fcf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24dcc585fcf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24dcc585fcf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24dcc585fcf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24dcc585fcf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24dcc585fcf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24dcc585fcf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24dcc585fcf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24dcc585fcf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24dcc585fcf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24dcc585fcf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24dcc585fcf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24dcc585fcf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24dcc585fcf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24dcc585fcf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24dcc585fcf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24dcc585fcf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24dcc585fcf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24dcc585fcf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24dcc585fcf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24dcc585fcf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24dcc585fcf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24dcc585fcf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24dcc585fcf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24dcc585fcf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24dcc585fcf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24dcc585fcf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24dcc585fcf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24dcc585fcf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24dcc585fcf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24dcc585fcf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24dcc585fcf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24dcc585fcf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2fd5633ada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2fd5633ada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24dcc585fcf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24dcc585fcf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24dcc585fcf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24dcc585fcf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24dcc585fcf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24dcc585fcf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24dcc585fcf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24dcc585fcf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2fd88abb65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2fd88abb65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24dcc585fcf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24dcc585fcf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24dcc585fcf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24dcc585fcf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24dcc585fcf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24dcc585fcf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24dcc585fcf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24dcc585fcf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2fd6a21ac8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2fd6a21ac8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hyperlink" Target="https://www.javatpoint.com/package"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Chapter -3</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Event Handling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264675" y="2446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2620">
                <a:solidFill>
                  <a:schemeClr val="dk2"/>
                </a:solidFill>
              </a:rPr>
              <a:t>What is EVENT?</a:t>
            </a:r>
            <a:endParaRPr sz="352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ph idx="1" type="body"/>
          </p:nvPr>
        </p:nvSpPr>
        <p:spPr>
          <a:xfrm>
            <a:off x="580300" y="799050"/>
            <a:ext cx="8520600" cy="3624900"/>
          </a:xfrm>
          <a:prstGeom prst="rect">
            <a:avLst/>
          </a:prstGeom>
        </p:spPr>
        <p:txBody>
          <a:bodyPr anchorCtr="0" anchor="t" bIns="91425" lIns="91425" spcFirstLastPara="1" rIns="91425" wrap="square" tIns="91425">
            <a:normAutofit fontScale="77500" lnSpcReduction="10000"/>
          </a:bodyPr>
          <a:lstStyle/>
          <a:p>
            <a:pPr indent="-327025" lvl="0" marL="457200" rtl="0" algn="l">
              <a:spcBef>
                <a:spcPts val="0"/>
              </a:spcBef>
              <a:spcAft>
                <a:spcPts val="0"/>
              </a:spcAft>
              <a:buClr>
                <a:srgbClr val="202124"/>
              </a:buClr>
              <a:buSzPct val="100000"/>
              <a:buChar char="●"/>
            </a:pPr>
            <a:r>
              <a:rPr lang="en" sz="2000">
                <a:solidFill>
                  <a:srgbClr val="202124"/>
                </a:solidFill>
                <a:highlight>
                  <a:srgbClr val="FFFFFF"/>
                </a:highlight>
              </a:rPr>
              <a:t>Event  are the change in the state of the object.</a:t>
            </a:r>
            <a:endParaRPr sz="2000">
              <a:solidFill>
                <a:srgbClr val="202124"/>
              </a:solidFill>
              <a:highlight>
                <a:srgbClr val="FFFFFF"/>
              </a:highlight>
            </a:endParaRPr>
          </a:p>
          <a:p>
            <a:pPr indent="-327025" lvl="0" marL="457200" rtl="0" algn="l">
              <a:spcBef>
                <a:spcPts val="0"/>
              </a:spcBef>
              <a:spcAft>
                <a:spcPts val="0"/>
              </a:spcAft>
              <a:buClr>
                <a:srgbClr val="202124"/>
              </a:buClr>
              <a:buSzPct val="100000"/>
              <a:buChar char="●"/>
            </a:pPr>
            <a:r>
              <a:rPr lang="en" sz="2000">
                <a:solidFill>
                  <a:srgbClr val="202124"/>
                </a:solidFill>
                <a:highlight>
                  <a:srgbClr val="FFFFFF"/>
                </a:highlight>
              </a:rPr>
              <a:t>Types of Event</a:t>
            </a:r>
            <a:endParaRPr sz="2000">
              <a:solidFill>
                <a:srgbClr val="202124"/>
              </a:solidFill>
              <a:highlight>
                <a:srgbClr val="FFFFFF"/>
              </a:highlight>
            </a:endParaRPr>
          </a:p>
          <a:p>
            <a:pPr indent="-327025" lvl="1" marL="914400" rtl="0" algn="l">
              <a:spcBef>
                <a:spcPts val="0"/>
              </a:spcBef>
              <a:spcAft>
                <a:spcPts val="0"/>
              </a:spcAft>
              <a:buClr>
                <a:srgbClr val="202124"/>
              </a:buClr>
              <a:buSzPct val="100000"/>
              <a:buChar char="○"/>
            </a:pPr>
            <a:r>
              <a:rPr lang="en" sz="2000">
                <a:solidFill>
                  <a:srgbClr val="202124"/>
                </a:solidFill>
                <a:highlight>
                  <a:srgbClr val="FFFFFF"/>
                </a:highlight>
              </a:rPr>
              <a:t>Foreground Events: </a:t>
            </a:r>
            <a:endParaRPr sz="2000">
              <a:solidFill>
                <a:srgbClr val="202124"/>
              </a:solidFill>
              <a:highlight>
                <a:srgbClr val="FFFFFF"/>
              </a:highlight>
            </a:endParaRPr>
          </a:p>
          <a:p>
            <a:pPr indent="-327025" lvl="2" marL="1371600" rtl="0" algn="l">
              <a:spcBef>
                <a:spcPts val="0"/>
              </a:spcBef>
              <a:spcAft>
                <a:spcPts val="0"/>
              </a:spcAft>
              <a:buClr>
                <a:srgbClr val="202124"/>
              </a:buClr>
              <a:buSzPct val="100000"/>
              <a:buChar char="■"/>
            </a:pPr>
            <a:r>
              <a:rPr lang="en" sz="2000">
                <a:solidFill>
                  <a:srgbClr val="202124"/>
                </a:solidFill>
                <a:highlight>
                  <a:srgbClr val="FFFFFF"/>
                </a:highlight>
              </a:rPr>
              <a:t>Those events which require the direct interaction of user. </a:t>
            </a:r>
            <a:endParaRPr sz="2000">
              <a:solidFill>
                <a:srgbClr val="202124"/>
              </a:solidFill>
              <a:highlight>
                <a:srgbClr val="FFFFFF"/>
              </a:highlight>
            </a:endParaRPr>
          </a:p>
          <a:p>
            <a:pPr indent="-327025" lvl="2" marL="1371600" rtl="0" algn="l">
              <a:spcBef>
                <a:spcPts val="0"/>
              </a:spcBef>
              <a:spcAft>
                <a:spcPts val="0"/>
              </a:spcAft>
              <a:buClr>
                <a:srgbClr val="202124"/>
              </a:buClr>
              <a:buSzPct val="100000"/>
              <a:buChar char="■"/>
            </a:pPr>
            <a:r>
              <a:rPr lang="en" sz="2000">
                <a:solidFill>
                  <a:srgbClr val="202124"/>
                </a:solidFill>
                <a:highlight>
                  <a:srgbClr val="FFFFFF"/>
                </a:highlight>
              </a:rPr>
              <a:t>They are generated as consequences of a person interacting with the graphical components ni Graphical User Interface. </a:t>
            </a:r>
            <a:endParaRPr sz="2000">
              <a:solidFill>
                <a:srgbClr val="202124"/>
              </a:solidFill>
              <a:highlight>
                <a:srgbClr val="FFFFFF"/>
              </a:highlight>
            </a:endParaRPr>
          </a:p>
          <a:p>
            <a:pPr indent="-327025" lvl="2" marL="1371600" rtl="0" algn="l">
              <a:spcBef>
                <a:spcPts val="0"/>
              </a:spcBef>
              <a:spcAft>
                <a:spcPts val="0"/>
              </a:spcAft>
              <a:buClr>
                <a:srgbClr val="202124"/>
              </a:buClr>
              <a:buSzPct val="100000"/>
              <a:buChar char="■"/>
            </a:pPr>
            <a:r>
              <a:rPr lang="en" sz="2000">
                <a:solidFill>
                  <a:srgbClr val="202124"/>
                </a:solidFill>
                <a:highlight>
                  <a:srgbClr val="FFFFFF"/>
                </a:highlight>
              </a:rPr>
              <a:t>For example, clicking on abuton, moving the mouse, entering a character through keyboard, selecting an item from list, scrolling the page etc.</a:t>
            </a:r>
            <a:endParaRPr sz="2000">
              <a:solidFill>
                <a:srgbClr val="202124"/>
              </a:solidFill>
              <a:highlight>
                <a:srgbClr val="FFFFFF"/>
              </a:highlight>
            </a:endParaRPr>
          </a:p>
          <a:p>
            <a:pPr indent="-327025" lvl="1" marL="914400" rtl="0" algn="l">
              <a:spcBef>
                <a:spcPts val="0"/>
              </a:spcBef>
              <a:spcAft>
                <a:spcPts val="0"/>
              </a:spcAft>
              <a:buClr>
                <a:srgbClr val="202124"/>
              </a:buClr>
              <a:buSzPct val="100000"/>
              <a:buChar char="○"/>
            </a:pPr>
            <a:r>
              <a:rPr lang="en" sz="2000">
                <a:solidFill>
                  <a:srgbClr val="202124"/>
                </a:solidFill>
                <a:highlight>
                  <a:srgbClr val="FFFFFF"/>
                </a:highlight>
              </a:rPr>
              <a:t>Background Events: </a:t>
            </a:r>
            <a:endParaRPr sz="2000">
              <a:solidFill>
                <a:srgbClr val="202124"/>
              </a:solidFill>
              <a:highlight>
                <a:srgbClr val="FFFFFF"/>
              </a:highlight>
            </a:endParaRPr>
          </a:p>
          <a:p>
            <a:pPr indent="-327025" lvl="2" marL="1371600" rtl="0" algn="l">
              <a:spcBef>
                <a:spcPts val="0"/>
              </a:spcBef>
              <a:spcAft>
                <a:spcPts val="0"/>
              </a:spcAft>
              <a:buClr>
                <a:srgbClr val="202124"/>
              </a:buClr>
              <a:buSzPct val="100000"/>
              <a:buChar char="■"/>
            </a:pPr>
            <a:r>
              <a:rPr lang="en" sz="2000">
                <a:solidFill>
                  <a:srgbClr val="202124"/>
                </a:solidFill>
                <a:highlight>
                  <a:srgbClr val="FFFFFF"/>
                </a:highlight>
              </a:rPr>
              <a:t>Those events that do not require the interaction of end user are known as background events. </a:t>
            </a:r>
            <a:endParaRPr sz="2000">
              <a:solidFill>
                <a:srgbClr val="202124"/>
              </a:solidFill>
              <a:highlight>
                <a:srgbClr val="FFFFFF"/>
              </a:highlight>
            </a:endParaRPr>
          </a:p>
          <a:p>
            <a:pPr indent="-327025" lvl="2" marL="1371600" rtl="0" algn="l">
              <a:spcBef>
                <a:spcPts val="0"/>
              </a:spcBef>
              <a:spcAft>
                <a:spcPts val="0"/>
              </a:spcAft>
              <a:buClr>
                <a:srgbClr val="202124"/>
              </a:buClr>
              <a:buSzPct val="100000"/>
              <a:buChar char="■"/>
            </a:pPr>
            <a:r>
              <a:rPr lang="en" sz="2000">
                <a:solidFill>
                  <a:srgbClr val="202124"/>
                </a:solidFill>
                <a:highlight>
                  <a:srgbClr val="FFFFFF"/>
                </a:highlight>
              </a:rPr>
              <a:t>Operating system interrupts, hardware or software failure, timer expires, an operation completion are the example of background events.</a:t>
            </a:r>
            <a:endParaRPr sz="2000">
              <a:solidFill>
                <a:srgbClr val="202124"/>
              </a:solidFill>
              <a:highlight>
                <a:srgbClr val="FFFFFF"/>
              </a:high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Two event handling mechanisms</a:t>
            </a:r>
            <a:endParaRPr/>
          </a:p>
        </p:txBody>
      </p:sp>
      <p:sp>
        <p:nvSpPr>
          <p:cNvPr id="71" name="Google Shape;71;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1.0 Model</a:t>
            </a:r>
            <a:endParaRPr/>
          </a:p>
          <a:p>
            <a:pPr indent="-342900" lvl="0" marL="457200" rtl="0" algn="l">
              <a:spcBef>
                <a:spcPts val="0"/>
              </a:spcBef>
              <a:spcAft>
                <a:spcPts val="0"/>
              </a:spcAft>
              <a:buSzPts val="1800"/>
              <a:buChar char="●"/>
            </a:pPr>
            <a:r>
              <a:rPr lang="en"/>
              <a:t>The delegation event model</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way in which events are handled changed significantly between the original version of Java (1.0) and all subsequent versions of Java, beginning with version 1.1.</a:t>
            </a:r>
            <a:endParaRPr/>
          </a:p>
          <a:p>
            <a:pPr indent="-342900" lvl="0" marL="457200" rtl="0" algn="l">
              <a:spcBef>
                <a:spcPts val="0"/>
              </a:spcBef>
              <a:spcAft>
                <a:spcPts val="0"/>
              </a:spcAft>
              <a:buSzPts val="1800"/>
              <a:buChar char="●"/>
            </a:pPr>
            <a:r>
              <a:rPr lang="en"/>
              <a:t>Although the 1.0 method of event handling is still supported, it is not recommended for new programs. </a:t>
            </a:r>
            <a:endParaRPr/>
          </a:p>
          <a:p>
            <a:pPr indent="-342900" lvl="0" marL="457200" rtl="0" algn="l">
              <a:spcBef>
                <a:spcPts val="0"/>
              </a:spcBef>
              <a:spcAft>
                <a:spcPts val="0"/>
              </a:spcAft>
              <a:buSzPts val="1800"/>
              <a:buChar char="●"/>
            </a:pPr>
            <a:r>
              <a:rPr lang="en"/>
              <a:t>Also, many of the methods that support the old 1.0 event model have been deprecated. </a:t>
            </a:r>
            <a:endParaRPr/>
          </a:p>
          <a:p>
            <a:pPr indent="0" lvl="0" marL="0" rtl="0" algn="l">
              <a:spcBef>
                <a:spcPts val="12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1.0 Event Model</a:t>
            </a:r>
            <a:endParaRPr/>
          </a:p>
        </p:txBody>
      </p:sp>
      <p:sp>
        <p:nvSpPr>
          <p:cNvPr id="82" name="Google Shape;82;p18"/>
          <p:cNvSpPr txBox="1"/>
          <p:nvPr>
            <p:ph idx="1" type="body"/>
          </p:nvPr>
        </p:nvSpPr>
        <p:spPr>
          <a:xfrm>
            <a:off x="570775" y="1535225"/>
            <a:ext cx="8261400" cy="25407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rgbClr val="666666"/>
              </a:buClr>
              <a:buSzPts val="1400"/>
              <a:buChar char="●"/>
            </a:pPr>
            <a:r>
              <a:rPr lang="en" sz="1400">
                <a:solidFill>
                  <a:srgbClr val="666666"/>
                </a:solidFill>
              </a:rPr>
              <a:t> An event was propagated up the containment hierarchy until it was handled by a component.</a:t>
            </a:r>
            <a:endParaRPr sz="1400">
              <a:solidFill>
                <a:srgbClr val="666666"/>
              </a:solidFill>
            </a:endParaRPr>
          </a:p>
          <a:p>
            <a:pPr indent="-317500" lvl="0" marL="457200" rtl="0" algn="l">
              <a:spcBef>
                <a:spcPts val="0"/>
              </a:spcBef>
              <a:spcAft>
                <a:spcPts val="0"/>
              </a:spcAft>
              <a:buClr>
                <a:srgbClr val="666666"/>
              </a:buClr>
              <a:buSzPts val="1400"/>
              <a:buChar char="●"/>
            </a:pPr>
            <a:r>
              <a:rPr lang="en" sz="1400">
                <a:solidFill>
                  <a:srgbClr val="666666"/>
                </a:solidFill>
                <a:highlight>
                  <a:srgbClr val="FFFFFF"/>
                </a:highlight>
              </a:rPr>
              <a:t>Upon receiving a user-initiated event, like a mouse click, the system generates an instance of the Event class and passes it along to the program. The program identifies the event's target (i.e., the component in which the event occurred) and asks that component to handle the event. If the target can't handle this event, an attempt is made to find a component that can, and the process repeats.</a:t>
            </a:r>
            <a:endParaRPr sz="1400">
              <a:solidFill>
                <a:srgbClr val="666666"/>
              </a:solidFill>
              <a:highlight>
                <a:srgbClr val="FFFFFF"/>
              </a:highlight>
            </a:endParaRPr>
          </a:p>
          <a:p>
            <a:pPr indent="-317500" lvl="0" marL="457200" rtl="0" algn="l">
              <a:spcBef>
                <a:spcPts val="0"/>
              </a:spcBef>
              <a:spcAft>
                <a:spcPts val="0"/>
              </a:spcAft>
              <a:buClr>
                <a:srgbClr val="666666"/>
              </a:buClr>
              <a:buSzPts val="1400"/>
              <a:buChar char="●"/>
            </a:pPr>
            <a:r>
              <a:rPr lang="en" sz="1400">
                <a:solidFill>
                  <a:srgbClr val="666666"/>
                </a:solidFill>
              </a:rPr>
              <a:t>This required components to receive events that they did not process, and it wasted valuable time. The delegation event model eliminates this overhead.</a:t>
            </a:r>
            <a:endParaRPr sz="1400">
              <a:solidFill>
                <a:srgbClr val="666666"/>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The delegation event model</a:t>
            </a:r>
            <a:endParaRPr/>
          </a:p>
        </p:txBody>
      </p:sp>
      <p:sp>
        <p:nvSpPr>
          <p:cNvPr id="88" name="Google Shape;88;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10000"/>
          </a:bodyPr>
          <a:lstStyle/>
          <a:p>
            <a:pPr indent="-325755" lvl="0" marL="457200" rtl="0" algn="l">
              <a:spcBef>
                <a:spcPts val="0"/>
              </a:spcBef>
              <a:spcAft>
                <a:spcPts val="0"/>
              </a:spcAft>
              <a:buSzPct val="100000"/>
              <a:buChar char="●"/>
            </a:pPr>
            <a:r>
              <a:rPr lang="en"/>
              <a:t>The modern approach to handling events is based on the delegation event model, which defines standard and consistent mechanisms to generate and process events. </a:t>
            </a:r>
            <a:endParaRPr/>
          </a:p>
          <a:p>
            <a:pPr indent="-325755" lvl="0" marL="457200" rtl="0" algn="l">
              <a:spcBef>
                <a:spcPts val="0"/>
              </a:spcBef>
              <a:spcAft>
                <a:spcPts val="0"/>
              </a:spcAft>
              <a:buSzPct val="100000"/>
              <a:buChar char="●"/>
            </a:pPr>
            <a:r>
              <a:rPr lang="en"/>
              <a:t>Its concept is quite simple: a source generates an event and sends it to one or more listeners. </a:t>
            </a:r>
            <a:endParaRPr/>
          </a:p>
          <a:p>
            <a:pPr indent="-325755" lvl="0" marL="457200" rtl="0" algn="l">
              <a:spcBef>
                <a:spcPts val="0"/>
              </a:spcBef>
              <a:spcAft>
                <a:spcPts val="0"/>
              </a:spcAft>
              <a:buSzPct val="100000"/>
              <a:buChar char="●"/>
            </a:pPr>
            <a:r>
              <a:rPr lang="en"/>
              <a:t>In this scheme, the listener simply waits until it receives an event. Once an event is received, the listener processes the event and then returns. </a:t>
            </a:r>
            <a:endParaRPr/>
          </a:p>
          <a:p>
            <a:pPr indent="-325755" lvl="0" marL="457200" rtl="0" algn="l">
              <a:spcBef>
                <a:spcPts val="0"/>
              </a:spcBef>
              <a:spcAft>
                <a:spcPts val="0"/>
              </a:spcAft>
              <a:buSzPct val="100000"/>
              <a:buChar char="●"/>
            </a:pPr>
            <a:r>
              <a:rPr lang="en"/>
              <a:t>The advantage of this design is that the application logic that processes events is cleanly separated from the user interface logic that generates those events. </a:t>
            </a:r>
            <a:endParaRPr/>
          </a:p>
          <a:p>
            <a:pPr indent="-325755" lvl="0" marL="457200" rtl="0" algn="l">
              <a:spcBef>
                <a:spcPts val="0"/>
              </a:spcBef>
              <a:spcAft>
                <a:spcPts val="0"/>
              </a:spcAft>
              <a:buSzPct val="100000"/>
              <a:buChar char="●"/>
            </a:pPr>
            <a:r>
              <a:rPr lang="en"/>
              <a:t>A user interface element is able to “delegate” the processing of an event to a separate piece of code. </a:t>
            </a:r>
            <a:endParaRPr/>
          </a:p>
          <a:p>
            <a:pPr indent="0" lvl="0" marL="0" rtl="0" algn="l">
              <a:spcBef>
                <a:spcPts val="1200"/>
              </a:spcBef>
              <a:spcAft>
                <a:spcPts val="0"/>
              </a:spcAft>
              <a:buClr>
                <a:schemeClr val="dk1"/>
              </a:buClr>
              <a:buSzPct val="61111"/>
              <a:buFont typeface="Arial"/>
              <a:buNone/>
            </a:pPr>
            <a:r>
              <a:t/>
            </a:r>
            <a:endParaRPr/>
          </a:p>
          <a:p>
            <a:pPr indent="0" lvl="0" marL="0" rtl="0" algn="l">
              <a:spcBef>
                <a:spcPts val="120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In the delegation event model, listeners must register with a source in order to receive an event notification. </a:t>
            </a:r>
            <a:endParaRPr/>
          </a:p>
          <a:p>
            <a:pPr indent="-342900" lvl="0" marL="457200" rtl="0" algn="l">
              <a:spcBef>
                <a:spcPts val="0"/>
              </a:spcBef>
              <a:spcAft>
                <a:spcPts val="0"/>
              </a:spcAft>
              <a:buSzPts val="1800"/>
              <a:buChar char="●"/>
            </a:pPr>
            <a:r>
              <a:rPr lang="en"/>
              <a:t>This provides an important benefit: notifications are sent only to listeners that want to receive them. </a:t>
            </a:r>
            <a:endParaRPr/>
          </a:p>
          <a:p>
            <a:pPr indent="0" lvl="0" marL="457200" rtl="0" algn="l">
              <a:spcBef>
                <a:spcPts val="12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Events</a:t>
            </a:r>
            <a:endParaRPr/>
          </a:p>
        </p:txBody>
      </p:sp>
      <p:sp>
        <p:nvSpPr>
          <p:cNvPr id="99" name="Google Shape;99;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10000"/>
          </a:bodyPr>
          <a:lstStyle/>
          <a:p>
            <a:pPr indent="-334327" lvl="0" marL="457200" rtl="0" algn="l">
              <a:spcBef>
                <a:spcPts val="0"/>
              </a:spcBef>
              <a:spcAft>
                <a:spcPts val="0"/>
              </a:spcAft>
              <a:buSzPct val="100000"/>
              <a:buChar char="●"/>
            </a:pPr>
            <a:r>
              <a:rPr lang="en"/>
              <a:t>In the delegation model, an event is an object that describes a state change in a source. </a:t>
            </a:r>
            <a:endParaRPr/>
          </a:p>
          <a:p>
            <a:pPr indent="-334327" lvl="0" marL="457200" rtl="0" algn="l">
              <a:spcBef>
                <a:spcPts val="0"/>
              </a:spcBef>
              <a:spcAft>
                <a:spcPts val="0"/>
              </a:spcAft>
              <a:buSzPct val="100000"/>
              <a:buChar char="●"/>
            </a:pPr>
            <a:r>
              <a:rPr lang="en"/>
              <a:t>Among other causes, an event can be generated as a consequence of a person interacting with the elements in a graphical user interface. </a:t>
            </a:r>
            <a:endParaRPr/>
          </a:p>
          <a:p>
            <a:pPr indent="-334327" lvl="0" marL="457200" rtl="0" algn="l">
              <a:spcBef>
                <a:spcPts val="0"/>
              </a:spcBef>
              <a:spcAft>
                <a:spcPts val="0"/>
              </a:spcAft>
              <a:buSzPct val="100000"/>
              <a:buChar char="●"/>
            </a:pPr>
            <a:r>
              <a:rPr lang="en"/>
              <a:t>Some of the activities that cause events to be generated are pressing a button, entering a character via the keyboard, selecting an item in a list, and clicking the mouse. </a:t>
            </a:r>
            <a:endParaRPr/>
          </a:p>
          <a:p>
            <a:pPr indent="-334327" lvl="0" marL="457200" rtl="0" algn="l">
              <a:spcBef>
                <a:spcPts val="0"/>
              </a:spcBef>
              <a:spcAft>
                <a:spcPts val="0"/>
              </a:spcAft>
              <a:buSzPct val="100000"/>
              <a:buChar char="●"/>
            </a:pPr>
            <a:r>
              <a:rPr lang="en"/>
              <a:t>Many other user operations could also be cited as examples. Events may also occur that are not directly caused by interactions with a user interface. </a:t>
            </a:r>
            <a:endParaRPr/>
          </a:p>
          <a:p>
            <a:pPr indent="-334327" lvl="0" marL="457200" rtl="0" algn="l">
              <a:spcBef>
                <a:spcPts val="0"/>
              </a:spcBef>
              <a:spcAft>
                <a:spcPts val="0"/>
              </a:spcAft>
              <a:buSzPct val="100000"/>
              <a:buChar char="●"/>
            </a:pPr>
            <a:r>
              <a:rPr lang="en"/>
              <a:t>For example, an event may be generated when a timer expires, a counter exceeds a value, software or hardware failure occurs, or an operation is completed. You are free to define events that are appropriate for your application.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Event Sources </a:t>
            </a:r>
            <a:endParaRPr/>
          </a:p>
        </p:txBody>
      </p:sp>
      <p:sp>
        <p:nvSpPr>
          <p:cNvPr id="105" name="Google Shape;105;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10000"/>
          </a:bodyPr>
          <a:lstStyle/>
          <a:p>
            <a:pPr indent="-325755" lvl="0" marL="457200" rtl="0" algn="l">
              <a:spcBef>
                <a:spcPts val="0"/>
              </a:spcBef>
              <a:spcAft>
                <a:spcPts val="0"/>
              </a:spcAft>
              <a:buSzPct val="100000"/>
              <a:buChar char="●"/>
            </a:pPr>
            <a:r>
              <a:rPr lang="en"/>
              <a:t>A source is an object that generates an event. This occurs when the internal state of that object changes in some way. </a:t>
            </a:r>
            <a:endParaRPr/>
          </a:p>
          <a:p>
            <a:pPr indent="-325755" lvl="0" marL="457200" rtl="0" algn="l">
              <a:spcBef>
                <a:spcPts val="0"/>
              </a:spcBef>
              <a:spcAft>
                <a:spcPts val="0"/>
              </a:spcAft>
              <a:buSzPct val="100000"/>
              <a:buChar char="●"/>
            </a:pPr>
            <a:r>
              <a:rPr lang="en"/>
              <a:t>Sources may generate more than one type of event. A source must register listeners in order for the listeners to receive notifications about a specific type of event. </a:t>
            </a:r>
            <a:endParaRPr/>
          </a:p>
          <a:p>
            <a:pPr indent="-325755" lvl="0" marL="457200" rtl="0" algn="l">
              <a:spcBef>
                <a:spcPts val="0"/>
              </a:spcBef>
              <a:spcAft>
                <a:spcPts val="0"/>
              </a:spcAft>
              <a:buSzPct val="100000"/>
              <a:buChar char="●"/>
            </a:pPr>
            <a:r>
              <a:rPr lang="en"/>
              <a:t>Each type of event has its own registration method. </a:t>
            </a:r>
            <a:endParaRPr/>
          </a:p>
          <a:p>
            <a:pPr indent="-325755" lvl="0" marL="457200" rtl="0" algn="l">
              <a:spcBef>
                <a:spcPts val="0"/>
              </a:spcBef>
              <a:spcAft>
                <a:spcPts val="0"/>
              </a:spcAft>
              <a:buSzPct val="100000"/>
              <a:buChar char="●"/>
            </a:pPr>
            <a:r>
              <a:rPr lang="en"/>
              <a:t>Here is the general form: </a:t>
            </a:r>
            <a:endParaRPr/>
          </a:p>
          <a:p>
            <a:pPr indent="0" lvl="0" marL="457200" rtl="0" algn="l">
              <a:spcBef>
                <a:spcPts val="1200"/>
              </a:spcBef>
              <a:spcAft>
                <a:spcPts val="0"/>
              </a:spcAft>
              <a:buNone/>
            </a:pPr>
            <a:r>
              <a:rPr lang="en"/>
              <a:t>public void </a:t>
            </a:r>
            <a:r>
              <a:rPr b="1" lang="en"/>
              <a:t>addTypeListener (TypeListener eL ) </a:t>
            </a:r>
            <a:endParaRPr b="1"/>
          </a:p>
          <a:p>
            <a:pPr indent="0" lvl="0" marL="457200" rtl="0" algn="l">
              <a:spcBef>
                <a:spcPts val="1200"/>
              </a:spcBef>
              <a:spcAft>
                <a:spcPts val="0"/>
              </a:spcAft>
              <a:buNone/>
            </a:pPr>
            <a:r>
              <a:rPr lang="en"/>
              <a:t>Here, Type is the name of the event, and eL is a reference to the event listener. </a:t>
            </a:r>
            <a:endParaRPr/>
          </a:p>
          <a:p>
            <a:pPr indent="-325755" lvl="0" marL="457200" rtl="0" algn="l">
              <a:spcBef>
                <a:spcPts val="1200"/>
              </a:spcBef>
              <a:spcAft>
                <a:spcPts val="0"/>
              </a:spcAft>
              <a:buSzPct val="100000"/>
              <a:buChar char="●"/>
            </a:pPr>
            <a:r>
              <a:rPr lang="en"/>
              <a:t>For example, the method that registers a keyboard event listener is called </a:t>
            </a:r>
            <a:r>
              <a:rPr b="1" lang="en"/>
              <a:t>addKeyListener( )</a:t>
            </a:r>
            <a:r>
              <a:rPr lang="en"/>
              <a:t>. </a:t>
            </a:r>
            <a:endParaRPr/>
          </a:p>
          <a:p>
            <a:pPr indent="-325755" lvl="0" marL="457200" rtl="0" algn="l">
              <a:spcBef>
                <a:spcPts val="0"/>
              </a:spcBef>
              <a:spcAft>
                <a:spcPts val="0"/>
              </a:spcAft>
              <a:buSzPct val="100000"/>
              <a:buChar char="●"/>
            </a:pPr>
            <a:r>
              <a:rPr lang="en"/>
              <a:t>The method that registers a mouse motion listener is called </a:t>
            </a:r>
            <a:r>
              <a:rPr b="1" lang="en"/>
              <a:t>addMouseMotionListener( )</a:t>
            </a:r>
            <a:r>
              <a:rPr lang="en"/>
              <a:t>.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11" name="Google Shape;111;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Some sources may allow more than one listener to register. </a:t>
            </a:r>
            <a:endParaRPr/>
          </a:p>
          <a:p>
            <a:pPr indent="-342900" lvl="0" marL="457200" rtl="0" algn="l">
              <a:spcBef>
                <a:spcPts val="0"/>
              </a:spcBef>
              <a:spcAft>
                <a:spcPts val="0"/>
              </a:spcAft>
              <a:buSzPts val="1800"/>
              <a:buChar char="●"/>
            </a:pPr>
            <a:r>
              <a:rPr lang="en"/>
              <a:t>When an event occurs, all registered listeners are notified and receive a copy of the event object. This is known as multicasting the event.</a:t>
            </a:r>
            <a:endParaRPr/>
          </a:p>
          <a:p>
            <a:pPr indent="-342900" lvl="0" marL="457200" rtl="0" algn="l">
              <a:spcBef>
                <a:spcPts val="0"/>
              </a:spcBef>
              <a:spcAft>
                <a:spcPts val="0"/>
              </a:spcAft>
              <a:buSzPts val="1800"/>
              <a:buChar char="●"/>
            </a:pPr>
            <a:r>
              <a:rPr lang="en"/>
              <a:t>In all cases, notifications are sent only to listeners that register to receive them.</a:t>
            </a:r>
            <a:endParaRPr/>
          </a:p>
          <a:p>
            <a:pPr indent="-342900" lvl="0" marL="457200" rtl="0" algn="l">
              <a:spcBef>
                <a:spcPts val="0"/>
              </a:spcBef>
              <a:spcAft>
                <a:spcPts val="0"/>
              </a:spcAft>
              <a:buSzPts val="1800"/>
              <a:buChar char="●"/>
            </a:pPr>
            <a:r>
              <a:rPr lang="en"/>
              <a:t>Some sources may allow only one listener to register. When such an event occurs, the registered listener is notified. This is known as unicasting the event. </a:t>
            </a:r>
            <a:endParaRPr/>
          </a:p>
          <a:p>
            <a:pPr indent="0" lvl="0" marL="0" rtl="0" algn="l">
              <a:spcBef>
                <a:spcPts val="120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4"/>
          <p:cNvSpPr txBox="1"/>
          <p:nvPr>
            <p:ph idx="1" type="body"/>
          </p:nvPr>
        </p:nvSpPr>
        <p:spPr>
          <a:xfrm>
            <a:off x="376025" y="671475"/>
            <a:ext cx="8456400" cy="3897300"/>
          </a:xfrm>
          <a:prstGeom prst="rect">
            <a:avLst/>
          </a:prstGeom>
        </p:spPr>
        <p:txBody>
          <a:bodyPr anchorCtr="0" anchor="t" bIns="91425" lIns="91425" spcFirstLastPara="1" rIns="91425" wrap="square" tIns="91425">
            <a:normAutofit fontScale="92500"/>
          </a:bodyPr>
          <a:lstStyle/>
          <a:p>
            <a:pPr indent="-334327" lvl="0" marL="457200" rtl="0" algn="l">
              <a:spcBef>
                <a:spcPts val="0"/>
              </a:spcBef>
              <a:spcAft>
                <a:spcPts val="0"/>
              </a:spcAft>
              <a:buSzPct val="100000"/>
              <a:buChar char="●"/>
            </a:pPr>
            <a:r>
              <a:rPr lang="en"/>
              <a:t>A source must also provide a method that allows a listener to unregister an interest in a specific type of event. The general form of such  method is : </a:t>
            </a:r>
            <a:endParaRPr/>
          </a:p>
          <a:p>
            <a:pPr indent="0" lvl="0" marL="457200" rtl="0" algn="l">
              <a:spcBef>
                <a:spcPts val="1200"/>
              </a:spcBef>
              <a:spcAft>
                <a:spcPts val="0"/>
              </a:spcAft>
              <a:buNone/>
            </a:pPr>
            <a:r>
              <a:rPr lang="en"/>
              <a:t>public void </a:t>
            </a:r>
            <a:r>
              <a:rPr b="1" lang="en"/>
              <a:t>removeTypeListener</a:t>
            </a:r>
            <a:r>
              <a:rPr lang="en"/>
              <a:t>(TypeListener el ) </a:t>
            </a:r>
            <a:endParaRPr/>
          </a:p>
          <a:p>
            <a:pPr indent="0" lvl="0" marL="457200" rtl="0" algn="l">
              <a:spcBef>
                <a:spcPts val="1200"/>
              </a:spcBef>
              <a:spcAft>
                <a:spcPts val="0"/>
              </a:spcAft>
              <a:buNone/>
            </a:pPr>
            <a:r>
              <a:rPr lang="en"/>
              <a:t>Here, Type is the name of the event, and el is a reference to the event listener. </a:t>
            </a:r>
            <a:endParaRPr/>
          </a:p>
          <a:p>
            <a:pPr indent="-334327" lvl="0" marL="457200" rtl="0" algn="l">
              <a:spcBef>
                <a:spcPts val="1200"/>
              </a:spcBef>
              <a:spcAft>
                <a:spcPts val="0"/>
              </a:spcAft>
              <a:buSzPct val="100000"/>
              <a:buChar char="●"/>
            </a:pPr>
            <a:r>
              <a:rPr lang="en"/>
              <a:t>For example, to remove a keyboard listener, you would call </a:t>
            </a:r>
            <a:r>
              <a:rPr b="1" lang="en"/>
              <a:t>removeKeyListener</a:t>
            </a:r>
            <a:r>
              <a:rPr lang="en"/>
              <a:t>( ). </a:t>
            </a:r>
            <a:endParaRPr/>
          </a:p>
          <a:p>
            <a:pPr indent="-334327" lvl="0" marL="457200" rtl="0" algn="l">
              <a:spcBef>
                <a:spcPts val="0"/>
              </a:spcBef>
              <a:spcAft>
                <a:spcPts val="0"/>
              </a:spcAft>
              <a:buSzPct val="100000"/>
              <a:buChar char="●"/>
            </a:pPr>
            <a:r>
              <a:rPr lang="en"/>
              <a:t>The methods that add or remove listeners are provided by the source that generates events. </a:t>
            </a:r>
            <a:endParaRPr/>
          </a:p>
          <a:p>
            <a:pPr indent="-334327" lvl="0" marL="457200" rtl="0" algn="l">
              <a:spcBef>
                <a:spcPts val="0"/>
              </a:spcBef>
              <a:spcAft>
                <a:spcPts val="0"/>
              </a:spcAft>
              <a:buSzPct val="100000"/>
              <a:buChar char="●"/>
            </a:pPr>
            <a:r>
              <a:rPr lang="en"/>
              <a:t>For example, the Component class provides methods to add and remove keyboard and mouse event listeners.</a:t>
            </a:r>
            <a:endParaRPr/>
          </a:p>
          <a:p>
            <a:pPr indent="0" lvl="0" marL="457200" rtl="0" algn="l">
              <a:spcBef>
                <a:spcPts val="1200"/>
              </a:spcBef>
              <a:spcAft>
                <a:spcPts val="12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Event Classes </a:t>
            </a:r>
            <a:endParaRPr/>
          </a:p>
        </p:txBody>
      </p:sp>
      <p:sp>
        <p:nvSpPr>
          <p:cNvPr id="122" name="Google Shape;122;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classes that represent events are at the core of Java’s event handling mechanism. </a:t>
            </a:r>
            <a:endParaRPr/>
          </a:p>
          <a:p>
            <a:pPr indent="-342900" lvl="0" marL="457200" rtl="0" algn="l">
              <a:spcBef>
                <a:spcPts val="0"/>
              </a:spcBef>
              <a:spcAft>
                <a:spcPts val="0"/>
              </a:spcAft>
              <a:buSzPts val="1800"/>
              <a:buChar char="●"/>
            </a:pPr>
            <a:r>
              <a:rPr lang="en"/>
              <a:t>Thus, a discussion of event handling must begin with the event classes. </a:t>
            </a:r>
            <a:endParaRPr/>
          </a:p>
          <a:p>
            <a:pPr indent="-342900" lvl="0" marL="457200" rtl="0" algn="l">
              <a:spcBef>
                <a:spcPts val="0"/>
              </a:spcBef>
              <a:spcAft>
                <a:spcPts val="0"/>
              </a:spcAft>
              <a:buSzPts val="1800"/>
              <a:buChar char="●"/>
            </a:pPr>
            <a:r>
              <a:rPr lang="en"/>
              <a:t>It is important to understand, however, that Java defines several types of events and that not all event classes can be discussed in this chapter. </a:t>
            </a:r>
            <a:endParaRPr/>
          </a:p>
          <a:p>
            <a:pPr indent="-342900" lvl="0" marL="457200" rtl="0" algn="l">
              <a:spcBef>
                <a:spcPts val="0"/>
              </a:spcBef>
              <a:spcAft>
                <a:spcPts val="0"/>
              </a:spcAft>
              <a:buSzPts val="1800"/>
              <a:buChar char="●"/>
            </a:pPr>
            <a:r>
              <a:rPr lang="en"/>
              <a:t>Arguably, the most widely used events at the time of this writing are those defined by the AWT and those defined by Swing.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6"/>
          <p:cNvSpPr txBox="1"/>
          <p:nvPr>
            <p:ph type="title"/>
          </p:nvPr>
        </p:nvSpPr>
        <p:spPr>
          <a:xfrm>
            <a:off x="182200" y="5457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The KeyEvent Class </a:t>
            </a:r>
            <a:endParaRPr/>
          </a:p>
        </p:txBody>
      </p:sp>
      <p:sp>
        <p:nvSpPr>
          <p:cNvPr id="128" name="Google Shape;128;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a:t>A KeyEvent is generated when keyboard input occurs. </a:t>
            </a:r>
            <a:endParaRPr/>
          </a:p>
          <a:p>
            <a:pPr indent="-342900" lvl="0" marL="457200" rtl="0" algn="l">
              <a:spcBef>
                <a:spcPts val="0"/>
              </a:spcBef>
              <a:spcAft>
                <a:spcPts val="0"/>
              </a:spcAft>
              <a:buSzPts val="1800"/>
              <a:buChar char="●"/>
            </a:pPr>
            <a:r>
              <a:rPr lang="en"/>
              <a:t>KeyEvent is a subclass of InputEvent.</a:t>
            </a:r>
            <a:endParaRPr/>
          </a:p>
          <a:p>
            <a:pPr indent="-342900" lvl="0" marL="457200" rtl="0" algn="l">
              <a:spcBef>
                <a:spcPts val="0"/>
              </a:spcBef>
              <a:spcAft>
                <a:spcPts val="0"/>
              </a:spcAft>
              <a:buSzPts val="1800"/>
              <a:buChar char="●"/>
            </a:pPr>
            <a:r>
              <a:rPr lang="en"/>
              <a:t>There are three types of key events, which are identified by these integer constants: </a:t>
            </a:r>
            <a:endParaRPr/>
          </a:p>
          <a:p>
            <a:pPr indent="0" lvl="0" marL="457200" rtl="0" algn="l">
              <a:spcBef>
                <a:spcPts val="1200"/>
              </a:spcBef>
              <a:spcAft>
                <a:spcPts val="0"/>
              </a:spcAft>
              <a:buNone/>
            </a:pPr>
            <a:r>
              <a:rPr b="1" lang="en"/>
              <a:t>KEY_PRESSED, KEY_RELEASED, and KEY_TYPED</a:t>
            </a:r>
            <a:r>
              <a:rPr lang="en"/>
              <a:t>. </a:t>
            </a:r>
            <a:endParaRPr/>
          </a:p>
          <a:p>
            <a:pPr indent="-342900" lvl="0" marL="457200" rtl="0" algn="l">
              <a:spcBef>
                <a:spcPts val="1200"/>
              </a:spcBef>
              <a:spcAft>
                <a:spcPts val="0"/>
              </a:spcAft>
              <a:buSzPts val="1800"/>
              <a:buChar char="●"/>
            </a:pPr>
            <a:r>
              <a:rPr lang="en"/>
              <a:t>The first two events are generated when any key is pressed or released. </a:t>
            </a:r>
            <a:endParaRPr/>
          </a:p>
          <a:p>
            <a:pPr indent="-342900" lvl="0" marL="457200" rtl="0" algn="l">
              <a:spcBef>
                <a:spcPts val="0"/>
              </a:spcBef>
              <a:spcAft>
                <a:spcPts val="0"/>
              </a:spcAft>
              <a:buSzPts val="1800"/>
              <a:buChar char="●"/>
            </a:pPr>
            <a:r>
              <a:rPr lang="en"/>
              <a:t>The last event occurs only when a character is generated. </a:t>
            </a:r>
            <a:endParaRPr/>
          </a:p>
          <a:p>
            <a:pPr indent="-342900" lvl="0" marL="457200" rtl="0" algn="l">
              <a:spcBef>
                <a:spcPts val="0"/>
              </a:spcBef>
              <a:spcAft>
                <a:spcPts val="0"/>
              </a:spcAft>
              <a:buSzPts val="1800"/>
              <a:buChar char="●"/>
            </a:pPr>
            <a:r>
              <a:rPr lang="en"/>
              <a:t>Remember, not all key presses result in characters. For example, pressing shift does not generate a character. </a:t>
            </a:r>
            <a:endParaRPr/>
          </a:p>
          <a:p>
            <a:pPr indent="0" lvl="0" marL="457200" rtl="0" algn="l">
              <a:spcBef>
                <a:spcPts val="1200"/>
              </a:spcBef>
              <a:spcAft>
                <a:spcPts val="120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7"/>
          <p:cNvSpPr txBox="1"/>
          <p:nvPr>
            <p:ph idx="1" type="body"/>
          </p:nvPr>
        </p:nvSpPr>
        <p:spPr>
          <a:xfrm>
            <a:off x="355875" y="212400"/>
            <a:ext cx="8476500" cy="14529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523"/>
              <a:buNone/>
            </a:pPr>
            <a:r>
              <a:rPr lang="en"/>
              <a:t>There are many other integer constants that are defined by KeyEvent. </a:t>
            </a:r>
            <a:endParaRPr/>
          </a:p>
          <a:p>
            <a:pPr indent="0" lvl="0" marL="0" rtl="0" algn="l">
              <a:lnSpc>
                <a:spcPct val="95000"/>
              </a:lnSpc>
              <a:spcBef>
                <a:spcPts val="1200"/>
              </a:spcBef>
              <a:spcAft>
                <a:spcPts val="0"/>
              </a:spcAft>
              <a:buSzPts val="523"/>
              <a:buNone/>
            </a:pPr>
            <a:r>
              <a:rPr lang="en"/>
              <a:t>For example, VK_0 through VK_9 and VK_A through VK_Z define the ASCII equivalents of the numbers and letters. </a:t>
            </a:r>
            <a:endParaRPr/>
          </a:p>
          <a:p>
            <a:pPr indent="0" lvl="0" marL="0" rtl="0" algn="l">
              <a:lnSpc>
                <a:spcPct val="95000"/>
              </a:lnSpc>
              <a:spcBef>
                <a:spcPts val="1200"/>
              </a:spcBef>
              <a:spcAft>
                <a:spcPts val="1200"/>
              </a:spcAft>
              <a:buSzPts val="523"/>
              <a:buNone/>
            </a:pPr>
            <a:r>
              <a:rPr lang="en">
                <a:solidFill>
                  <a:srgbClr val="333333"/>
                </a:solidFill>
                <a:highlight>
                  <a:srgbClr val="FFFFFF"/>
                </a:highlight>
              </a:rPr>
              <a:t>The </a:t>
            </a:r>
            <a:r>
              <a:rPr b="1" lang="en">
                <a:solidFill>
                  <a:srgbClr val="333333"/>
                </a:solidFill>
                <a:highlight>
                  <a:srgbClr val="FFFFFF"/>
                </a:highlight>
              </a:rPr>
              <a:t>VK</a:t>
            </a:r>
            <a:r>
              <a:rPr lang="en">
                <a:solidFill>
                  <a:srgbClr val="333333"/>
                </a:solidFill>
                <a:highlight>
                  <a:srgbClr val="FFFFFF"/>
                </a:highlight>
              </a:rPr>
              <a:t> constants specify </a:t>
            </a:r>
            <a:r>
              <a:rPr i="1" lang="en">
                <a:solidFill>
                  <a:srgbClr val="333333"/>
                </a:solidFill>
                <a:highlight>
                  <a:srgbClr val="FFFFFF"/>
                </a:highlight>
              </a:rPr>
              <a:t>virtual key codes</a:t>
            </a:r>
            <a:endParaRPr/>
          </a:p>
        </p:txBody>
      </p:sp>
      <p:pic>
        <p:nvPicPr>
          <p:cNvPr id="134" name="Google Shape;134;p27"/>
          <p:cNvPicPr preferRelativeResize="0"/>
          <p:nvPr/>
        </p:nvPicPr>
        <p:blipFill>
          <a:blip r:embed="rId3">
            <a:alphaModFix/>
          </a:blip>
          <a:stretch>
            <a:fillRect/>
          </a:stretch>
        </p:blipFill>
        <p:spPr>
          <a:xfrm>
            <a:off x="459450" y="1970775"/>
            <a:ext cx="7943850" cy="25717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The MouseEvent Class </a:t>
            </a:r>
            <a:endParaRPr/>
          </a:p>
        </p:txBody>
      </p:sp>
      <p:sp>
        <p:nvSpPr>
          <p:cNvPr id="140" name="Google Shape;140;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highlight>
                  <a:srgbClr val="FFFFFF"/>
                </a:highlight>
              </a:rPr>
              <a:t>This event indicates a mouse action occurred in a component.</a:t>
            </a:r>
            <a:endParaRPr>
              <a:solidFill>
                <a:schemeClr val="dk1"/>
              </a:solidFill>
              <a:highlight>
                <a:srgbClr val="FFFFFF"/>
              </a:highlight>
            </a:endParaRPr>
          </a:p>
          <a:p>
            <a:pPr indent="-342900" lvl="0" marL="457200" rtl="0" algn="l">
              <a:spcBef>
                <a:spcPts val="0"/>
              </a:spcBef>
              <a:spcAft>
                <a:spcPts val="0"/>
              </a:spcAft>
              <a:buClr>
                <a:schemeClr val="dk1"/>
              </a:buClr>
              <a:buSzPts val="1800"/>
              <a:buChar char="●"/>
            </a:pPr>
            <a:r>
              <a:rPr lang="en">
                <a:solidFill>
                  <a:schemeClr val="dk1"/>
                </a:solidFill>
                <a:highlight>
                  <a:srgbClr val="FFFFFF"/>
                </a:highlight>
              </a:rPr>
              <a:t>MouseEvent is a subclass of InputEvent.</a:t>
            </a:r>
            <a:endParaRPr>
              <a:solidFill>
                <a:schemeClr val="dk1"/>
              </a:solidFill>
              <a:highlight>
                <a:srgbClr val="FFFFFF"/>
              </a:highlight>
            </a:endParaRPr>
          </a:p>
          <a:p>
            <a:pPr indent="-342900" lvl="0" marL="457200" rtl="0" algn="l">
              <a:spcBef>
                <a:spcPts val="0"/>
              </a:spcBef>
              <a:spcAft>
                <a:spcPts val="0"/>
              </a:spcAft>
              <a:buSzPts val="1800"/>
              <a:buChar char="●"/>
            </a:pPr>
            <a:r>
              <a:rPr lang="en"/>
              <a:t>There are eight types of mouse events. The MouseEvent class defines the following integer constants that can be used to identify them.</a:t>
            </a:r>
            <a:endParaRPr/>
          </a:p>
          <a:p>
            <a:pPr indent="0" lvl="0" marL="457200" rtl="0" algn="l">
              <a:spcBef>
                <a:spcPts val="1200"/>
              </a:spcBef>
              <a:spcAft>
                <a:spcPts val="12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pic>
        <p:nvPicPr>
          <p:cNvPr id="145" name="Google Shape;145;p29"/>
          <p:cNvPicPr preferRelativeResize="0"/>
          <p:nvPr/>
        </p:nvPicPr>
        <p:blipFill>
          <a:blip r:embed="rId3">
            <a:alphaModFix/>
          </a:blip>
          <a:stretch>
            <a:fillRect/>
          </a:stretch>
        </p:blipFill>
        <p:spPr>
          <a:xfrm>
            <a:off x="1529425" y="476750"/>
            <a:ext cx="6085151" cy="430415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30"/>
          <p:cNvSpPr txBox="1"/>
          <p:nvPr>
            <p:ph idx="1" type="body"/>
          </p:nvPr>
        </p:nvSpPr>
        <p:spPr>
          <a:xfrm>
            <a:off x="311700" y="0"/>
            <a:ext cx="8520600" cy="50091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Two commonly used methods in this class are getX( ) and getY( ). </a:t>
            </a:r>
            <a:endParaRPr/>
          </a:p>
          <a:p>
            <a:pPr indent="0" lvl="0" marL="457200" rtl="0" algn="l">
              <a:spcBef>
                <a:spcPts val="1200"/>
              </a:spcBef>
              <a:spcAft>
                <a:spcPts val="0"/>
              </a:spcAft>
              <a:buNone/>
            </a:pPr>
            <a:r>
              <a:rPr lang="en"/>
              <a:t>These return the X and Y coordinates of the mouse within the component when the event occurred. </a:t>
            </a:r>
            <a:endParaRPr/>
          </a:p>
          <a:p>
            <a:pPr indent="-342900" lvl="0" marL="457200" rtl="0" algn="l">
              <a:spcBef>
                <a:spcPts val="1200"/>
              </a:spcBef>
              <a:spcAft>
                <a:spcPts val="0"/>
              </a:spcAft>
              <a:buSzPts val="1800"/>
              <a:buChar char="●"/>
            </a:pPr>
            <a:r>
              <a:rPr lang="en"/>
              <a:t>Their forms are shown here: </a:t>
            </a:r>
            <a:endParaRPr/>
          </a:p>
          <a:p>
            <a:pPr indent="0" lvl="0" marL="457200" rtl="0" algn="l">
              <a:spcBef>
                <a:spcPts val="1200"/>
              </a:spcBef>
              <a:spcAft>
                <a:spcPts val="0"/>
              </a:spcAft>
              <a:buNone/>
            </a:pPr>
            <a:r>
              <a:rPr lang="en"/>
              <a:t>int getX( )</a:t>
            </a:r>
            <a:endParaRPr/>
          </a:p>
          <a:p>
            <a:pPr indent="0" lvl="0" marL="457200" rtl="0" algn="l">
              <a:spcBef>
                <a:spcPts val="1200"/>
              </a:spcBef>
              <a:spcAft>
                <a:spcPts val="0"/>
              </a:spcAft>
              <a:buNone/>
            </a:pPr>
            <a:r>
              <a:rPr lang="en"/>
              <a:t>int getY( ) </a:t>
            </a:r>
            <a:endParaRPr/>
          </a:p>
          <a:p>
            <a:pPr indent="-342900" lvl="0" marL="457200" rtl="0" algn="l">
              <a:spcBef>
                <a:spcPts val="1200"/>
              </a:spcBef>
              <a:spcAft>
                <a:spcPts val="0"/>
              </a:spcAft>
              <a:buSzPts val="1800"/>
              <a:buChar char="●"/>
            </a:pPr>
            <a:r>
              <a:rPr lang="en"/>
              <a:t>Alternatively, you can use the getPoint( ) method to obtain the coordinates of the mouse. It is shown here: </a:t>
            </a:r>
            <a:endParaRPr/>
          </a:p>
          <a:p>
            <a:pPr indent="0" lvl="0" marL="457200" rtl="0" algn="l">
              <a:spcBef>
                <a:spcPts val="1200"/>
              </a:spcBef>
              <a:spcAft>
                <a:spcPts val="0"/>
              </a:spcAft>
              <a:buNone/>
            </a:pPr>
            <a:r>
              <a:rPr lang="en"/>
              <a:t>Point getPoint( ) </a:t>
            </a:r>
            <a:endParaRPr/>
          </a:p>
          <a:p>
            <a:pPr indent="0" lvl="0" marL="457200" rtl="0" algn="l">
              <a:spcBef>
                <a:spcPts val="1200"/>
              </a:spcBef>
              <a:spcAft>
                <a:spcPts val="0"/>
              </a:spcAft>
              <a:buNone/>
            </a:pPr>
            <a:r>
              <a:rPr lang="en"/>
              <a:t>It returns a Point object that contains the X,Y coordinates in its integer members: x and y. </a:t>
            </a:r>
            <a:endParaRPr/>
          </a:p>
          <a:p>
            <a:pPr indent="0" lvl="0" marL="457200" rtl="0" algn="l">
              <a:spcBef>
                <a:spcPts val="1200"/>
              </a:spcBef>
              <a:spcAft>
                <a:spcPts val="120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WindowEvent Class</a:t>
            </a:r>
            <a:endParaRPr/>
          </a:p>
        </p:txBody>
      </p:sp>
      <p:sp>
        <p:nvSpPr>
          <p:cNvPr id="156" name="Google Shape;156;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Clr>
                <a:schemeClr val="dk1"/>
              </a:buClr>
              <a:buSzPts val="1200"/>
              <a:buChar char="●"/>
            </a:pPr>
            <a:r>
              <a:rPr lang="en" sz="1200">
                <a:solidFill>
                  <a:schemeClr val="dk1"/>
                </a:solidFill>
                <a:highlight>
                  <a:srgbClr val="FFFFFF"/>
                </a:highlight>
              </a:rPr>
              <a:t>The object of this class represents the change in state of a window.</a:t>
            </a:r>
            <a:endParaRPr sz="1200">
              <a:solidFill>
                <a:schemeClr val="dk1"/>
              </a:solidFill>
              <a:highlight>
                <a:srgbClr val="FFFFFF"/>
              </a:highlight>
            </a:endParaRPr>
          </a:p>
          <a:p>
            <a:pPr indent="-304800" lvl="0" marL="457200" rtl="0" algn="l">
              <a:spcBef>
                <a:spcPts val="0"/>
              </a:spcBef>
              <a:spcAft>
                <a:spcPts val="0"/>
              </a:spcAft>
              <a:buClr>
                <a:schemeClr val="dk1"/>
              </a:buClr>
              <a:buSzPts val="1200"/>
              <a:buChar char="●"/>
            </a:pPr>
            <a:r>
              <a:rPr lang="en" sz="1200">
                <a:solidFill>
                  <a:schemeClr val="dk1"/>
                </a:solidFill>
                <a:highlight>
                  <a:srgbClr val="FFFFFF"/>
                </a:highlight>
              </a:rPr>
              <a:t>This low-level event is generated by a Window object when it is :</a:t>
            </a:r>
            <a:endParaRPr sz="1200">
              <a:solidFill>
                <a:schemeClr val="dk1"/>
              </a:solidFill>
              <a:highlight>
                <a:srgbClr val="FFFFFF"/>
              </a:highlight>
            </a:endParaRPr>
          </a:p>
          <a:p>
            <a:pPr indent="-304800" lvl="1" marL="914400" rtl="0" algn="l">
              <a:spcBef>
                <a:spcPts val="0"/>
              </a:spcBef>
              <a:spcAft>
                <a:spcPts val="0"/>
              </a:spcAft>
              <a:buClr>
                <a:schemeClr val="dk1"/>
              </a:buClr>
              <a:buSzPts val="1200"/>
              <a:buChar char="○"/>
            </a:pPr>
            <a:r>
              <a:rPr lang="en" sz="1200">
                <a:solidFill>
                  <a:schemeClr val="dk1"/>
                </a:solidFill>
                <a:highlight>
                  <a:srgbClr val="FFFFFF"/>
                </a:highlight>
              </a:rPr>
              <a:t>Opened</a:t>
            </a:r>
            <a:endParaRPr sz="1200">
              <a:solidFill>
                <a:schemeClr val="dk1"/>
              </a:solidFill>
              <a:highlight>
                <a:srgbClr val="FFFFFF"/>
              </a:highlight>
            </a:endParaRPr>
          </a:p>
          <a:p>
            <a:pPr indent="-304800" lvl="1" marL="914400" rtl="0" algn="l">
              <a:spcBef>
                <a:spcPts val="0"/>
              </a:spcBef>
              <a:spcAft>
                <a:spcPts val="0"/>
              </a:spcAft>
              <a:buClr>
                <a:schemeClr val="dk1"/>
              </a:buClr>
              <a:buSzPts val="1200"/>
              <a:buChar char="○"/>
            </a:pPr>
            <a:r>
              <a:rPr lang="en" sz="1200">
                <a:solidFill>
                  <a:schemeClr val="dk1"/>
                </a:solidFill>
                <a:highlight>
                  <a:srgbClr val="FFFFFF"/>
                </a:highlight>
              </a:rPr>
              <a:t>Closed</a:t>
            </a:r>
            <a:endParaRPr sz="1200">
              <a:solidFill>
                <a:schemeClr val="dk1"/>
              </a:solidFill>
              <a:highlight>
                <a:srgbClr val="FFFFFF"/>
              </a:highlight>
            </a:endParaRPr>
          </a:p>
          <a:p>
            <a:pPr indent="-304800" lvl="1" marL="914400" rtl="0" algn="l">
              <a:spcBef>
                <a:spcPts val="0"/>
              </a:spcBef>
              <a:spcAft>
                <a:spcPts val="0"/>
              </a:spcAft>
              <a:buClr>
                <a:schemeClr val="dk1"/>
              </a:buClr>
              <a:buSzPts val="1200"/>
              <a:buChar char="○"/>
            </a:pPr>
            <a:r>
              <a:rPr lang="en" sz="1200">
                <a:solidFill>
                  <a:schemeClr val="dk1"/>
                </a:solidFill>
                <a:highlight>
                  <a:srgbClr val="FFFFFF"/>
                </a:highlight>
              </a:rPr>
              <a:t>Activated</a:t>
            </a:r>
            <a:endParaRPr sz="1200">
              <a:solidFill>
                <a:schemeClr val="dk1"/>
              </a:solidFill>
              <a:highlight>
                <a:srgbClr val="FFFFFF"/>
              </a:highlight>
            </a:endParaRPr>
          </a:p>
          <a:p>
            <a:pPr indent="-304800" lvl="1" marL="914400" rtl="0" algn="l">
              <a:spcBef>
                <a:spcPts val="0"/>
              </a:spcBef>
              <a:spcAft>
                <a:spcPts val="0"/>
              </a:spcAft>
              <a:buClr>
                <a:schemeClr val="dk1"/>
              </a:buClr>
              <a:buSzPts val="1200"/>
              <a:buChar char="○"/>
            </a:pPr>
            <a:r>
              <a:rPr lang="en" sz="1200">
                <a:solidFill>
                  <a:schemeClr val="dk1"/>
                </a:solidFill>
                <a:highlight>
                  <a:srgbClr val="FFFFFF"/>
                </a:highlight>
              </a:rPr>
              <a:t>Deactivated</a:t>
            </a:r>
            <a:endParaRPr sz="1200">
              <a:solidFill>
                <a:schemeClr val="dk1"/>
              </a:solidFill>
              <a:highlight>
                <a:srgbClr val="FFFFFF"/>
              </a:highlight>
            </a:endParaRPr>
          </a:p>
          <a:p>
            <a:pPr indent="-304800" lvl="1" marL="914400" rtl="0" algn="l">
              <a:spcBef>
                <a:spcPts val="0"/>
              </a:spcBef>
              <a:spcAft>
                <a:spcPts val="0"/>
              </a:spcAft>
              <a:buClr>
                <a:schemeClr val="dk1"/>
              </a:buClr>
              <a:buSzPts val="1200"/>
              <a:buChar char="○"/>
            </a:pPr>
            <a:r>
              <a:rPr lang="en" sz="1200">
                <a:solidFill>
                  <a:schemeClr val="dk1"/>
                </a:solidFill>
                <a:highlight>
                  <a:srgbClr val="FFFFFF"/>
                </a:highlight>
              </a:rPr>
              <a:t>Focus is transferred into or out of the Window.</a:t>
            </a:r>
            <a:endParaRPr sz="1200">
              <a:solidFill>
                <a:schemeClr val="dk1"/>
              </a:solidFill>
              <a:highlight>
                <a:srgbClr val="FFFFFF"/>
              </a:highlight>
            </a:endParaRPr>
          </a:p>
          <a:p>
            <a:pPr indent="0" lvl="0" marL="914400" rtl="0" algn="l">
              <a:spcBef>
                <a:spcPts val="1200"/>
              </a:spcBef>
              <a:spcAft>
                <a:spcPts val="0"/>
              </a:spcAft>
              <a:buNone/>
            </a:pPr>
            <a:r>
              <a:t/>
            </a:r>
            <a:endParaRPr sz="1200">
              <a:solidFill>
                <a:schemeClr val="dk1"/>
              </a:solidFill>
              <a:highlight>
                <a:srgbClr val="FFFFFF"/>
              </a:highlight>
            </a:endParaRPr>
          </a:p>
          <a:p>
            <a:pPr indent="0" lvl="0" marL="0" rtl="0" algn="l">
              <a:spcBef>
                <a:spcPts val="1200"/>
              </a:spcBef>
              <a:spcAft>
                <a:spcPts val="1200"/>
              </a:spcAft>
              <a:buNone/>
            </a:pPr>
            <a:r>
              <a:rPr lang="en" sz="1200">
                <a:solidFill>
                  <a:schemeClr val="dk1"/>
                </a:solidFill>
                <a:highlight>
                  <a:srgbClr val="FFFFFF"/>
                </a:highlight>
              </a:rPr>
              <a:t>Some Window events are:</a:t>
            </a:r>
            <a:endParaRPr sz="1200">
              <a:solidFill>
                <a:schemeClr val="dk1"/>
              </a:solidFill>
              <a:highlight>
                <a:srgbClr val="FFFFFF"/>
              </a:highligh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pic>
        <p:nvPicPr>
          <p:cNvPr id="161" name="Google Shape;161;p32"/>
          <p:cNvPicPr preferRelativeResize="0"/>
          <p:nvPr/>
        </p:nvPicPr>
        <p:blipFill>
          <a:blip r:embed="rId3">
            <a:alphaModFix/>
          </a:blip>
          <a:stretch>
            <a:fillRect/>
          </a:stretch>
        </p:blipFill>
        <p:spPr>
          <a:xfrm>
            <a:off x="433388" y="400050"/>
            <a:ext cx="8277225" cy="43434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Action Event</a:t>
            </a:r>
            <a:endParaRPr/>
          </a:p>
        </p:txBody>
      </p:sp>
      <p:sp>
        <p:nvSpPr>
          <p:cNvPr id="167" name="Google Shape;167;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Action Event is generated when button is clicked or the item of a list is double-clicked. </a:t>
            </a:r>
            <a:endParaRPr/>
          </a:p>
          <a:p>
            <a:pPr indent="-342900" lvl="0" marL="457200" rtl="0" algn="l">
              <a:spcBef>
                <a:spcPts val="0"/>
              </a:spcBef>
              <a:spcAft>
                <a:spcPts val="0"/>
              </a:spcAft>
              <a:buSzPts val="1800"/>
              <a:buChar char="●"/>
            </a:pPr>
            <a:r>
              <a:rPr lang="en"/>
              <a:t>The listener related to this class is ActionListener. </a:t>
            </a:r>
            <a:endParaRPr/>
          </a:p>
          <a:p>
            <a:pPr indent="-342900" lvl="0" marL="457200" rtl="0" algn="l">
              <a:spcBef>
                <a:spcPts val="0"/>
              </a:spcBef>
              <a:spcAft>
                <a:spcPts val="0"/>
              </a:spcAft>
              <a:buSzPts val="1800"/>
              <a:buChar char="●"/>
            </a:pPr>
            <a:r>
              <a:rPr lang="en"/>
              <a:t>To handle an action event, a class must implements the Action Listener interface.</a:t>
            </a:r>
            <a:endParaRPr/>
          </a:p>
          <a:p>
            <a:pPr indent="-342900" lvl="0" marL="457200" rtl="0" algn="l">
              <a:spcBef>
                <a:spcPts val="0"/>
              </a:spcBef>
              <a:spcAft>
                <a:spcPts val="0"/>
              </a:spcAft>
              <a:buSzPts val="1800"/>
              <a:buChar char="●"/>
            </a:pPr>
            <a:r>
              <a:rPr lang="en"/>
              <a:t>To have any component listen for an ActionEvent, we must register the component with an ActionListener</a:t>
            </a:r>
            <a:endParaRPr/>
          </a:p>
          <a:p>
            <a:pPr indent="0" lvl="0" marL="0" rtl="0" algn="l">
              <a:spcBef>
                <a:spcPts val="1200"/>
              </a:spcBef>
              <a:spcAft>
                <a:spcPts val="120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Event Listeners </a:t>
            </a:r>
            <a:endParaRPr/>
          </a:p>
        </p:txBody>
      </p:sp>
      <p:sp>
        <p:nvSpPr>
          <p:cNvPr id="173" name="Google Shape;173;p34"/>
          <p:cNvSpPr txBox="1"/>
          <p:nvPr>
            <p:ph idx="1" type="body"/>
          </p:nvPr>
        </p:nvSpPr>
        <p:spPr>
          <a:xfrm>
            <a:off x="311700" y="1226325"/>
            <a:ext cx="8565300" cy="3722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 listener is an object that is notified when an event occurs. It has two major requirements. </a:t>
            </a:r>
            <a:endParaRPr/>
          </a:p>
          <a:p>
            <a:pPr indent="-342900" lvl="0" marL="457200" rtl="0" algn="l">
              <a:spcBef>
                <a:spcPts val="0"/>
              </a:spcBef>
              <a:spcAft>
                <a:spcPts val="0"/>
              </a:spcAft>
              <a:buSzPts val="1800"/>
              <a:buChar char="●"/>
            </a:pPr>
            <a:r>
              <a:rPr lang="en"/>
              <a:t>First, it must have been registered with one or more sources to receive notifications about specific types of events. </a:t>
            </a:r>
            <a:endParaRPr/>
          </a:p>
          <a:p>
            <a:pPr indent="-342900" lvl="0" marL="457200" rtl="0" algn="l">
              <a:spcBef>
                <a:spcPts val="0"/>
              </a:spcBef>
              <a:spcAft>
                <a:spcPts val="0"/>
              </a:spcAft>
              <a:buSzPts val="1800"/>
              <a:buChar char="●"/>
            </a:pPr>
            <a:r>
              <a:rPr lang="en"/>
              <a:t>Second, it must implement methods to receive and process these notifications. </a:t>
            </a:r>
            <a:endParaRPr/>
          </a:p>
          <a:p>
            <a:pPr indent="-342900" lvl="0" marL="457200" rtl="0" algn="l">
              <a:spcBef>
                <a:spcPts val="0"/>
              </a:spcBef>
              <a:spcAft>
                <a:spcPts val="0"/>
              </a:spcAft>
              <a:buSzPts val="1800"/>
              <a:buChar char="●"/>
            </a:pPr>
            <a:r>
              <a:rPr lang="en"/>
              <a:t>The methods that receive and process events are defined in a set of interfaces, such as those found in java.awt.event. </a:t>
            </a:r>
            <a:endParaRPr/>
          </a:p>
          <a:p>
            <a:pPr indent="0" lvl="0" marL="457200" rtl="0" algn="l">
              <a:spcBef>
                <a:spcPts val="1200"/>
              </a:spcBef>
              <a:spcAft>
                <a:spcPts val="120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Event Listener Interfaces </a:t>
            </a:r>
            <a:endParaRPr/>
          </a:p>
        </p:txBody>
      </p:sp>
      <p:sp>
        <p:nvSpPr>
          <p:cNvPr id="179" name="Google Shape;179;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a:t>As explained, the delegation event model has two parts: sources and listeners. </a:t>
            </a:r>
            <a:endParaRPr/>
          </a:p>
          <a:p>
            <a:pPr indent="-342900" lvl="0" marL="457200" rtl="0" algn="l">
              <a:spcBef>
                <a:spcPts val="0"/>
              </a:spcBef>
              <a:spcAft>
                <a:spcPts val="0"/>
              </a:spcAft>
              <a:buSzPts val="1800"/>
              <a:buChar char="●"/>
            </a:pPr>
            <a:r>
              <a:rPr lang="en"/>
              <a:t>Listeners are created by implementing one or more of the interfaces defined by the java.awt.event package. </a:t>
            </a:r>
            <a:endParaRPr/>
          </a:p>
          <a:p>
            <a:pPr indent="-342900" lvl="0" marL="457200" rtl="0" algn="l">
              <a:spcBef>
                <a:spcPts val="0"/>
              </a:spcBef>
              <a:spcAft>
                <a:spcPts val="0"/>
              </a:spcAft>
              <a:buSzPts val="1800"/>
              <a:buChar char="●"/>
            </a:pPr>
            <a:r>
              <a:rPr lang="en"/>
              <a:t>When an event occurs, the event source invokes the appropriate method defined by the listener and provides an event object as its argument. </a:t>
            </a:r>
            <a:endParaRPr/>
          </a:p>
          <a:p>
            <a:pPr indent="-342900" lvl="0" marL="457200" rtl="0" algn="l">
              <a:spcBef>
                <a:spcPts val="0"/>
              </a:spcBef>
              <a:spcAft>
                <a:spcPts val="0"/>
              </a:spcAft>
              <a:buSzPts val="1800"/>
              <a:buChar char="●"/>
            </a:pPr>
            <a:r>
              <a:rPr lang="en"/>
              <a:t>Table below lists several commonly used listener interfaces and provides a brief description of the methods that they define. </a:t>
            </a:r>
            <a:endParaRPr/>
          </a:p>
          <a:p>
            <a:pPr indent="-342900" lvl="0" marL="457200" rtl="0" algn="l">
              <a:spcBef>
                <a:spcPts val="0"/>
              </a:spcBef>
              <a:spcAft>
                <a:spcPts val="0"/>
              </a:spcAft>
              <a:buSzPts val="1800"/>
              <a:buChar char="●"/>
            </a:pPr>
            <a:r>
              <a:rPr lang="en"/>
              <a:t>The following sections examine the specific methods that are contained in each interface.</a:t>
            </a:r>
            <a:endParaRPr/>
          </a:p>
          <a:p>
            <a:pPr indent="0" lvl="0" marL="0" rtl="0" algn="l">
              <a:spcBef>
                <a:spcPts val="1200"/>
              </a:spcBef>
              <a:spcAft>
                <a:spcPts val="120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pic>
        <p:nvPicPr>
          <p:cNvPr id="184" name="Google Shape;184;p36"/>
          <p:cNvPicPr preferRelativeResize="0"/>
          <p:nvPr/>
        </p:nvPicPr>
        <p:blipFill>
          <a:blip r:embed="rId3">
            <a:alphaModFix/>
          </a:blip>
          <a:stretch>
            <a:fillRect/>
          </a:stretch>
        </p:blipFill>
        <p:spPr>
          <a:xfrm>
            <a:off x="897750" y="787375"/>
            <a:ext cx="6340750" cy="38329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ctr">
              <a:lnSpc>
                <a:spcPct val="115000"/>
              </a:lnSpc>
              <a:spcBef>
                <a:spcPts val="0"/>
              </a:spcBef>
              <a:spcAft>
                <a:spcPts val="1200"/>
              </a:spcAft>
              <a:buClr>
                <a:schemeClr val="dk1"/>
              </a:buClr>
              <a:buSzPts val="1100"/>
              <a:buFont typeface="Arial"/>
              <a:buNone/>
            </a:pPr>
            <a:r>
              <a:rPr b="1" lang="en" sz="1800">
                <a:solidFill>
                  <a:schemeClr val="dk2"/>
                </a:solidFill>
              </a:rPr>
              <a:t>The ActionListener Interface </a:t>
            </a:r>
            <a:endParaRPr b="1"/>
          </a:p>
        </p:txBody>
      </p:sp>
      <p:sp>
        <p:nvSpPr>
          <p:cNvPr id="190" name="Google Shape;190;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Clr>
                <a:srgbClr val="666666"/>
              </a:buClr>
              <a:buSzPts val="1800"/>
              <a:buChar char="●"/>
            </a:pPr>
            <a:r>
              <a:rPr lang="en">
                <a:solidFill>
                  <a:srgbClr val="666666"/>
                </a:solidFill>
                <a:highlight>
                  <a:srgbClr val="FFFFFF"/>
                </a:highlight>
              </a:rPr>
              <a:t>The Java ActionListener is notified whenever you click on the button or menu item.</a:t>
            </a:r>
            <a:endParaRPr>
              <a:solidFill>
                <a:srgbClr val="666666"/>
              </a:solidFill>
              <a:highlight>
                <a:srgbClr val="FFFFFF"/>
              </a:highlight>
            </a:endParaRPr>
          </a:p>
          <a:p>
            <a:pPr indent="-342900" lvl="0" marL="457200" rtl="0" algn="l">
              <a:spcBef>
                <a:spcPts val="0"/>
              </a:spcBef>
              <a:spcAft>
                <a:spcPts val="0"/>
              </a:spcAft>
              <a:buClr>
                <a:srgbClr val="666666"/>
              </a:buClr>
              <a:buSzPts val="1800"/>
              <a:buChar char="●"/>
            </a:pPr>
            <a:r>
              <a:rPr lang="en">
                <a:solidFill>
                  <a:srgbClr val="666666"/>
                </a:solidFill>
                <a:highlight>
                  <a:srgbClr val="FFFFFF"/>
                </a:highlight>
              </a:rPr>
              <a:t>It is notified against ActionEvent. </a:t>
            </a:r>
            <a:endParaRPr>
              <a:solidFill>
                <a:srgbClr val="666666"/>
              </a:solidFill>
              <a:highlight>
                <a:srgbClr val="FFFFFF"/>
              </a:highlight>
            </a:endParaRPr>
          </a:p>
          <a:p>
            <a:pPr indent="-342900" lvl="0" marL="457200" rtl="0" algn="l">
              <a:spcBef>
                <a:spcPts val="0"/>
              </a:spcBef>
              <a:spcAft>
                <a:spcPts val="0"/>
              </a:spcAft>
              <a:buClr>
                <a:srgbClr val="666666"/>
              </a:buClr>
              <a:buSzPts val="1800"/>
              <a:buChar char="●"/>
            </a:pPr>
            <a:r>
              <a:rPr lang="en">
                <a:solidFill>
                  <a:srgbClr val="666666"/>
                </a:solidFill>
                <a:highlight>
                  <a:srgbClr val="FFFFFF"/>
                </a:highlight>
              </a:rPr>
              <a:t>The ActionListener interface is found in java.awt.event </a:t>
            </a:r>
            <a:r>
              <a:rPr lang="en">
                <a:solidFill>
                  <a:srgbClr val="666666"/>
                </a:solidFill>
                <a:highlight>
                  <a:srgbClr val="FFFFFF"/>
                </a:highlight>
                <a:uFill>
                  <a:noFill/>
                </a:uFill>
                <a:hlinkClick r:id="rId3">
                  <a:extLst>
                    <a:ext uri="{A12FA001-AC4F-418D-AE19-62706E023703}">
                      <ahyp:hlinkClr val="tx"/>
                    </a:ext>
                  </a:extLst>
                </a:hlinkClick>
              </a:rPr>
              <a:t>package</a:t>
            </a:r>
            <a:r>
              <a:rPr lang="en">
                <a:solidFill>
                  <a:srgbClr val="666666"/>
                </a:solidFill>
                <a:highlight>
                  <a:srgbClr val="FFFFFF"/>
                </a:highlight>
              </a:rPr>
              <a:t>. </a:t>
            </a:r>
            <a:endParaRPr>
              <a:solidFill>
                <a:srgbClr val="666666"/>
              </a:solidFill>
              <a:highlight>
                <a:srgbClr val="FFFFFF"/>
              </a:highlight>
            </a:endParaRPr>
          </a:p>
          <a:p>
            <a:pPr indent="-342900" lvl="0" marL="457200" rtl="0" algn="l">
              <a:spcBef>
                <a:spcPts val="0"/>
              </a:spcBef>
              <a:spcAft>
                <a:spcPts val="0"/>
              </a:spcAft>
              <a:buClr>
                <a:srgbClr val="666666"/>
              </a:buClr>
              <a:buSzPts val="1800"/>
              <a:buChar char="●"/>
            </a:pPr>
            <a:r>
              <a:rPr lang="en">
                <a:solidFill>
                  <a:srgbClr val="666666"/>
                </a:solidFill>
                <a:highlight>
                  <a:srgbClr val="FFFFFF"/>
                </a:highlight>
              </a:rPr>
              <a:t>It has only one method: actionPerformed().</a:t>
            </a:r>
            <a:r>
              <a:rPr lang="en">
                <a:solidFill>
                  <a:srgbClr val="666666"/>
                </a:solidFill>
              </a:rPr>
              <a:t> </a:t>
            </a:r>
            <a:r>
              <a:rPr lang="en"/>
              <a:t>It is invoked when an action event occurs. Its general form is shown here: </a:t>
            </a:r>
            <a:endParaRPr/>
          </a:p>
          <a:p>
            <a:pPr indent="457200" lvl="0" marL="457200" rtl="0" algn="l">
              <a:spcBef>
                <a:spcPts val="1200"/>
              </a:spcBef>
              <a:spcAft>
                <a:spcPts val="0"/>
              </a:spcAft>
              <a:buNone/>
            </a:pPr>
            <a:r>
              <a:rPr lang="en"/>
              <a:t>void actionPerformed(ActionEvent ae)</a:t>
            </a:r>
            <a:endParaRPr/>
          </a:p>
          <a:p>
            <a:pPr indent="0" lvl="0" marL="457200" rtl="0" algn="l">
              <a:spcBef>
                <a:spcPts val="1200"/>
              </a:spcBef>
              <a:spcAft>
                <a:spcPts val="0"/>
              </a:spcAft>
              <a:buClr>
                <a:schemeClr val="dk1"/>
              </a:buClr>
              <a:buSzPts val="1100"/>
              <a:buFont typeface="Arial"/>
              <a:buNone/>
            </a:pPr>
            <a:r>
              <a:t/>
            </a:r>
            <a:endParaRPr/>
          </a:p>
          <a:p>
            <a:pPr indent="0" lvl="0" marL="0" rtl="0" algn="l">
              <a:spcBef>
                <a:spcPts val="1200"/>
              </a:spcBef>
              <a:spcAft>
                <a:spcPts val="120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The KeyListener Interface </a:t>
            </a:r>
            <a:endParaRPr/>
          </a:p>
        </p:txBody>
      </p:sp>
      <p:sp>
        <p:nvSpPr>
          <p:cNvPr id="196" name="Google Shape;196;p3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rgbClr val="666666"/>
              </a:buClr>
              <a:buSzPts val="1400"/>
              <a:buChar char="●"/>
            </a:pPr>
            <a:r>
              <a:rPr lang="en" sz="1400">
                <a:solidFill>
                  <a:srgbClr val="666666"/>
                </a:solidFill>
                <a:highlight>
                  <a:srgbClr val="FFFFFF"/>
                </a:highlight>
              </a:rPr>
              <a:t>The Java KeyListener is notified whenever you change the state of key. </a:t>
            </a:r>
            <a:endParaRPr sz="1400">
              <a:solidFill>
                <a:srgbClr val="666666"/>
              </a:solidFill>
              <a:highlight>
                <a:srgbClr val="FFFFFF"/>
              </a:highlight>
            </a:endParaRPr>
          </a:p>
          <a:p>
            <a:pPr indent="-317500" lvl="0" marL="457200" rtl="0" algn="l">
              <a:spcBef>
                <a:spcPts val="0"/>
              </a:spcBef>
              <a:spcAft>
                <a:spcPts val="0"/>
              </a:spcAft>
              <a:buClr>
                <a:srgbClr val="666666"/>
              </a:buClr>
              <a:buSzPts val="1400"/>
              <a:buChar char="●"/>
            </a:pPr>
            <a:r>
              <a:rPr lang="en" sz="1400">
                <a:solidFill>
                  <a:srgbClr val="666666"/>
                </a:solidFill>
                <a:highlight>
                  <a:srgbClr val="FFFFFF"/>
                </a:highlight>
              </a:rPr>
              <a:t>It is notified against KeyEvent. </a:t>
            </a:r>
            <a:endParaRPr sz="1400">
              <a:solidFill>
                <a:srgbClr val="666666"/>
              </a:solidFill>
              <a:highlight>
                <a:srgbClr val="FFFFFF"/>
              </a:highlight>
            </a:endParaRPr>
          </a:p>
          <a:p>
            <a:pPr indent="-317500" lvl="0" marL="457200" rtl="0" algn="l">
              <a:spcBef>
                <a:spcPts val="0"/>
              </a:spcBef>
              <a:spcAft>
                <a:spcPts val="0"/>
              </a:spcAft>
              <a:buClr>
                <a:srgbClr val="666666"/>
              </a:buClr>
              <a:buSzPts val="1400"/>
              <a:buChar char="●"/>
            </a:pPr>
            <a:r>
              <a:rPr lang="en" sz="1400">
                <a:solidFill>
                  <a:srgbClr val="666666"/>
                </a:solidFill>
                <a:highlight>
                  <a:srgbClr val="FFFFFF"/>
                </a:highlight>
              </a:rPr>
              <a:t>The KeyListener interface is found in java.awt.event package. It has three methods.</a:t>
            </a:r>
            <a:endParaRPr sz="1400">
              <a:solidFill>
                <a:srgbClr val="666666"/>
              </a:solidFill>
              <a:highlight>
                <a:srgbClr val="FFFFFF"/>
              </a:highlight>
            </a:endParaRPr>
          </a:p>
          <a:p>
            <a:pPr indent="-317500" lvl="1" marL="914400" rtl="0" algn="l">
              <a:spcBef>
                <a:spcPts val="0"/>
              </a:spcBef>
              <a:spcAft>
                <a:spcPts val="0"/>
              </a:spcAft>
              <a:buClr>
                <a:srgbClr val="666666"/>
              </a:buClr>
              <a:buSzPts val="1400"/>
              <a:buChar char="○"/>
            </a:pPr>
            <a:r>
              <a:rPr lang="en" sz="1400">
                <a:solidFill>
                  <a:srgbClr val="666666"/>
                </a:solidFill>
              </a:rPr>
              <a:t>void keyPressed(KeyEvent ke) </a:t>
            </a:r>
            <a:endParaRPr>
              <a:solidFill>
                <a:srgbClr val="666666"/>
              </a:solidFill>
            </a:endParaRPr>
          </a:p>
          <a:p>
            <a:pPr indent="-317500" lvl="1" marL="914400" rtl="0" algn="l">
              <a:spcBef>
                <a:spcPts val="0"/>
              </a:spcBef>
              <a:spcAft>
                <a:spcPts val="0"/>
              </a:spcAft>
              <a:buClr>
                <a:srgbClr val="666666"/>
              </a:buClr>
              <a:buSzPts val="1400"/>
              <a:buChar char="○"/>
            </a:pPr>
            <a:r>
              <a:rPr lang="en" sz="1400">
                <a:solidFill>
                  <a:srgbClr val="666666"/>
                </a:solidFill>
              </a:rPr>
              <a:t>void keyReleased(KeyEvent ke) </a:t>
            </a:r>
            <a:endParaRPr>
              <a:solidFill>
                <a:srgbClr val="666666"/>
              </a:solidFill>
            </a:endParaRPr>
          </a:p>
          <a:p>
            <a:pPr indent="-317500" lvl="1" marL="914400" rtl="0" algn="l">
              <a:spcBef>
                <a:spcPts val="0"/>
              </a:spcBef>
              <a:spcAft>
                <a:spcPts val="0"/>
              </a:spcAft>
              <a:buClr>
                <a:srgbClr val="666666"/>
              </a:buClr>
              <a:buSzPts val="1400"/>
              <a:buChar char="○"/>
            </a:pPr>
            <a:r>
              <a:rPr lang="en" sz="1400">
                <a:solidFill>
                  <a:srgbClr val="666666"/>
                </a:solidFill>
              </a:rPr>
              <a:t>void keyTyped(KeyEvent ke)</a:t>
            </a:r>
            <a:endParaRPr sz="1400">
              <a:solidFill>
                <a:srgbClr val="666666"/>
              </a:solidFill>
              <a:highlight>
                <a:srgbClr val="FFFFFF"/>
              </a:highlight>
            </a:endParaRPr>
          </a:p>
          <a:p>
            <a:pPr indent="-317500" lvl="0" marL="457200" rtl="0" algn="l">
              <a:spcBef>
                <a:spcPts val="0"/>
              </a:spcBef>
              <a:spcAft>
                <a:spcPts val="0"/>
              </a:spcAft>
              <a:buClr>
                <a:srgbClr val="666666"/>
              </a:buClr>
              <a:buSzPts val="1400"/>
              <a:buChar char="●"/>
            </a:pPr>
            <a:r>
              <a:rPr lang="en" sz="1400">
                <a:solidFill>
                  <a:srgbClr val="666666"/>
                </a:solidFill>
              </a:rPr>
              <a:t>Example: if a user presses and releases the a key, three events are generated in sequence: key pressed, typed, and released. </a:t>
            </a:r>
            <a:endParaRPr sz="1400">
              <a:solidFill>
                <a:srgbClr val="666666"/>
              </a:solidFill>
            </a:endParaRPr>
          </a:p>
          <a:p>
            <a:pPr indent="-317500" lvl="0" marL="457200" rtl="0" algn="l">
              <a:spcBef>
                <a:spcPts val="0"/>
              </a:spcBef>
              <a:spcAft>
                <a:spcPts val="0"/>
              </a:spcAft>
              <a:buClr>
                <a:srgbClr val="666666"/>
              </a:buClr>
              <a:buSzPts val="1400"/>
              <a:buChar char="●"/>
            </a:pPr>
            <a:r>
              <a:rPr lang="en" sz="1400">
                <a:solidFill>
                  <a:srgbClr val="666666"/>
                </a:solidFill>
              </a:rPr>
              <a:t>If a user presses and releases the home key, two key events are generated in sequence: key pressed and released. </a:t>
            </a:r>
            <a:endParaRPr sz="1400">
              <a:solidFill>
                <a:srgbClr val="666666"/>
              </a:solidFill>
            </a:endParaRPr>
          </a:p>
          <a:p>
            <a:pPr indent="0" lvl="0" marL="457200" rtl="0" algn="l">
              <a:spcBef>
                <a:spcPts val="1200"/>
              </a:spcBef>
              <a:spcAft>
                <a:spcPts val="1200"/>
              </a:spcAft>
              <a:buNone/>
            </a:pPr>
            <a:r>
              <a:t/>
            </a:r>
            <a:endParaRPr sz="1400">
              <a:solidFill>
                <a:srgbClr val="666666"/>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02" name="Google Shape;202;p3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The MouseListener Interface </a:t>
            </a:r>
            <a:endParaRPr/>
          </a:p>
        </p:txBody>
      </p:sp>
      <p:sp>
        <p:nvSpPr>
          <p:cNvPr id="208" name="Google Shape;208;p40"/>
          <p:cNvSpPr txBox="1"/>
          <p:nvPr>
            <p:ph idx="1" type="body"/>
          </p:nvPr>
        </p:nvSpPr>
        <p:spPr>
          <a:xfrm>
            <a:off x="244550" y="1125600"/>
            <a:ext cx="8520600" cy="3416400"/>
          </a:xfrm>
          <a:prstGeom prst="rect">
            <a:avLst/>
          </a:prstGeom>
        </p:spPr>
        <p:txBody>
          <a:bodyPr anchorCtr="0" anchor="t" bIns="91425" lIns="91425" spcFirstLastPara="1" rIns="91425" wrap="square" tIns="91425">
            <a:normAutofit/>
          </a:bodyPr>
          <a:lstStyle/>
          <a:p>
            <a:pPr indent="-295275" lvl="0" marL="457200" rtl="0" algn="l">
              <a:spcBef>
                <a:spcPts val="0"/>
              </a:spcBef>
              <a:spcAft>
                <a:spcPts val="0"/>
              </a:spcAft>
              <a:buClr>
                <a:srgbClr val="666666"/>
              </a:buClr>
              <a:buSzPts val="1050"/>
              <a:buChar char="●"/>
            </a:pPr>
            <a:r>
              <a:rPr lang="en" sz="1050">
                <a:solidFill>
                  <a:srgbClr val="666666"/>
                </a:solidFill>
                <a:highlight>
                  <a:srgbClr val="FFFFFF"/>
                </a:highlight>
              </a:rPr>
              <a:t>The Java MouseListener is notified whenever you change the state of mouse. </a:t>
            </a:r>
            <a:endParaRPr sz="1050">
              <a:solidFill>
                <a:srgbClr val="666666"/>
              </a:solidFill>
              <a:highlight>
                <a:srgbClr val="FFFFFF"/>
              </a:highlight>
            </a:endParaRPr>
          </a:p>
          <a:p>
            <a:pPr indent="-295275" lvl="0" marL="457200" rtl="0" algn="l">
              <a:spcBef>
                <a:spcPts val="0"/>
              </a:spcBef>
              <a:spcAft>
                <a:spcPts val="0"/>
              </a:spcAft>
              <a:buClr>
                <a:srgbClr val="666666"/>
              </a:buClr>
              <a:buSzPts val="1050"/>
              <a:buChar char="●"/>
            </a:pPr>
            <a:r>
              <a:rPr lang="en" sz="1050">
                <a:solidFill>
                  <a:srgbClr val="666666"/>
                </a:solidFill>
                <a:highlight>
                  <a:srgbClr val="FFFFFF"/>
                </a:highlight>
              </a:rPr>
              <a:t>It is notified against MouseEvent.</a:t>
            </a:r>
            <a:endParaRPr sz="1050">
              <a:solidFill>
                <a:srgbClr val="666666"/>
              </a:solidFill>
              <a:highlight>
                <a:srgbClr val="FFFFFF"/>
              </a:highlight>
            </a:endParaRPr>
          </a:p>
          <a:p>
            <a:pPr indent="-295275" lvl="0" marL="457200" rtl="0" algn="l">
              <a:spcBef>
                <a:spcPts val="0"/>
              </a:spcBef>
              <a:spcAft>
                <a:spcPts val="0"/>
              </a:spcAft>
              <a:buClr>
                <a:srgbClr val="666666"/>
              </a:buClr>
              <a:buSzPts val="1050"/>
              <a:buChar char="●"/>
            </a:pPr>
            <a:r>
              <a:rPr lang="en" sz="1050">
                <a:solidFill>
                  <a:srgbClr val="666666"/>
                </a:solidFill>
                <a:highlight>
                  <a:srgbClr val="FFFFFF"/>
                </a:highlight>
              </a:rPr>
              <a:t>The MouseListener interface is found in java.awt.event package. </a:t>
            </a:r>
            <a:endParaRPr sz="1050">
              <a:solidFill>
                <a:srgbClr val="666666"/>
              </a:solidFill>
              <a:highlight>
                <a:srgbClr val="FFFFFF"/>
              </a:highlight>
            </a:endParaRPr>
          </a:p>
          <a:p>
            <a:pPr indent="-295275" lvl="0" marL="457200" rtl="0" algn="l">
              <a:spcBef>
                <a:spcPts val="0"/>
              </a:spcBef>
              <a:spcAft>
                <a:spcPts val="0"/>
              </a:spcAft>
              <a:buClr>
                <a:srgbClr val="666666"/>
              </a:buClr>
              <a:buSzPts val="1050"/>
              <a:buChar char="●"/>
            </a:pPr>
            <a:r>
              <a:rPr lang="en" sz="1050">
                <a:solidFill>
                  <a:srgbClr val="666666"/>
                </a:solidFill>
                <a:highlight>
                  <a:srgbClr val="FFFFFF"/>
                </a:highlight>
              </a:rPr>
              <a:t>It has five methods:</a:t>
            </a:r>
            <a:endParaRPr sz="1050">
              <a:solidFill>
                <a:srgbClr val="666666"/>
              </a:solidFill>
              <a:highlight>
                <a:srgbClr val="FFFFFF"/>
              </a:highlight>
            </a:endParaRPr>
          </a:p>
          <a:p>
            <a:pPr indent="-295275" lvl="1" marL="914400" rtl="0" algn="l">
              <a:spcBef>
                <a:spcPts val="0"/>
              </a:spcBef>
              <a:spcAft>
                <a:spcPts val="0"/>
              </a:spcAft>
              <a:buClr>
                <a:srgbClr val="666666"/>
              </a:buClr>
              <a:buSzPts val="1050"/>
              <a:buChar char="○"/>
            </a:pPr>
            <a:r>
              <a:rPr lang="en" sz="1050">
                <a:solidFill>
                  <a:srgbClr val="666666"/>
                </a:solidFill>
                <a:highlight>
                  <a:srgbClr val="FFFFFF"/>
                </a:highlight>
              </a:rPr>
              <a:t>void mouseClicked(MouseEvent me) </a:t>
            </a:r>
            <a:endParaRPr sz="1050">
              <a:solidFill>
                <a:srgbClr val="666666"/>
              </a:solidFill>
              <a:highlight>
                <a:srgbClr val="FFFFFF"/>
              </a:highlight>
            </a:endParaRPr>
          </a:p>
          <a:p>
            <a:pPr indent="-295275" lvl="1" marL="914400" rtl="0" algn="l">
              <a:spcBef>
                <a:spcPts val="0"/>
              </a:spcBef>
              <a:spcAft>
                <a:spcPts val="0"/>
              </a:spcAft>
              <a:buClr>
                <a:srgbClr val="666666"/>
              </a:buClr>
              <a:buSzPts val="1050"/>
              <a:buChar char="○"/>
            </a:pPr>
            <a:r>
              <a:rPr lang="en" sz="1050">
                <a:solidFill>
                  <a:srgbClr val="666666"/>
                </a:solidFill>
                <a:highlight>
                  <a:srgbClr val="FFFFFF"/>
                </a:highlight>
              </a:rPr>
              <a:t>void mouseEntered(MouseEvent me) </a:t>
            </a:r>
            <a:endParaRPr sz="1050">
              <a:solidFill>
                <a:srgbClr val="666666"/>
              </a:solidFill>
              <a:highlight>
                <a:srgbClr val="FFFFFF"/>
              </a:highlight>
            </a:endParaRPr>
          </a:p>
          <a:p>
            <a:pPr indent="-295275" lvl="1" marL="914400" rtl="0" algn="l">
              <a:spcBef>
                <a:spcPts val="0"/>
              </a:spcBef>
              <a:spcAft>
                <a:spcPts val="0"/>
              </a:spcAft>
              <a:buClr>
                <a:srgbClr val="666666"/>
              </a:buClr>
              <a:buSzPts val="1050"/>
              <a:buChar char="○"/>
            </a:pPr>
            <a:r>
              <a:rPr lang="en" sz="1050">
                <a:solidFill>
                  <a:srgbClr val="666666"/>
                </a:solidFill>
                <a:highlight>
                  <a:srgbClr val="FFFFFF"/>
                </a:highlight>
              </a:rPr>
              <a:t>void mouseExited(MouseEvent me) </a:t>
            </a:r>
            <a:endParaRPr sz="1050">
              <a:solidFill>
                <a:srgbClr val="666666"/>
              </a:solidFill>
              <a:highlight>
                <a:srgbClr val="FFFFFF"/>
              </a:highlight>
            </a:endParaRPr>
          </a:p>
          <a:p>
            <a:pPr indent="-295275" lvl="1" marL="914400" rtl="0" algn="l">
              <a:spcBef>
                <a:spcPts val="0"/>
              </a:spcBef>
              <a:spcAft>
                <a:spcPts val="0"/>
              </a:spcAft>
              <a:buClr>
                <a:srgbClr val="666666"/>
              </a:buClr>
              <a:buSzPts val="1050"/>
              <a:buChar char="○"/>
            </a:pPr>
            <a:r>
              <a:rPr lang="en" sz="1050">
                <a:solidFill>
                  <a:srgbClr val="666666"/>
                </a:solidFill>
                <a:highlight>
                  <a:srgbClr val="FFFFFF"/>
                </a:highlight>
              </a:rPr>
              <a:t>void mousePressed(MouseEvent me) </a:t>
            </a:r>
            <a:endParaRPr sz="1050">
              <a:solidFill>
                <a:srgbClr val="666666"/>
              </a:solidFill>
              <a:highlight>
                <a:srgbClr val="FFFFFF"/>
              </a:highlight>
            </a:endParaRPr>
          </a:p>
          <a:p>
            <a:pPr indent="-295275" lvl="1" marL="914400" rtl="0" algn="l">
              <a:spcBef>
                <a:spcPts val="0"/>
              </a:spcBef>
              <a:spcAft>
                <a:spcPts val="0"/>
              </a:spcAft>
              <a:buClr>
                <a:srgbClr val="666666"/>
              </a:buClr>
              <a:buSzPts val="1050"/>
              <a:buChar char="○"/>
            </a:pPr>
            <a:r>
              <a:rPr lang="en" sz="1050">
                <a:solidFill>
                  <a:srgbClr val="666666"/>
                </a:solidFill>
                <a:highlight>
                  <a:srgbClr val="FFFFFF"/>
                </a:highlight>
              </a:rPr>
              <a:t>void mouseReleased(MouseEvent me)</a:t>
            </a:r>
            <a:endParaRPr sz="1050">
              <a:solidFill>
                <a:srgbClr val="666666"/>
              </a:solidFill>
              <a:highlight>
                <a:srgbClr val="FFFFFF"/>
              </a:highlight>
            </a:endParaRPr>
          </a:p>
          <a:p>
            <a:pPr indent="-295275" lvl="0" marL="457200" rtl="0" algn="l">
              <a:spcBef>
                <a:spcPts val="0"/>
              </a:spcBef>
              <a:spcAft>
                <a:spcPts val="0"/>
              </a:spcAft>
              <a:buClr>
                <a:srgbClr val="666666"/>
              </a:buClr>
              <a:buSzPts val="1050"/>
              <a:buChar char="●"/>
            </a:pPr>
            <a:r>
              <a:rPr lang="en" sz="1050">
                <a:solidFill>
                  <a:srgbClr val="666666"/>
                </a:solidFill>
                <a:highlight>
                  <a:srgbClr val="FFFFFF"/>
                </a:highlight>
              </a:rPr>
              <a:t>If the mouse is pressed and released at the same point, </a:t>
            </a:r>
            <a:r>
              <a:rPr b="1" lang="en" sz="1050">
                <a:solidFill>
                  <a:srgbClr val="666666"/>
                </a:solidFill>
                <a:highlight>
                  <a:srgbClr val="FFFFFF"/>
                </a:highlight>
              </a:rPr>
              <a:t>mouseClicked</a:t>
            </a:r>
            <a:r>
              <a:rPr lang="en" sz="1050">
                <a:solidFill>
                  <a:srgbClr val="666666"/>
                </a:solidFill>
                <a:highlight>
                  <a:srgbClr val="FFFFFF"/>
                </a:highlight>
              </a:rPr>
              <a:t>( ) is invoked. </a:t>
            </a:r>
            <a:endParaRPr sz="1050">
              <a:solidFill>
                <a:srgbClr val="666666"/>
              </a:solidFill>
              <a:highlight>
                <a:srgbClr val="FFFFFF"/>
              </a:highlight>
            </a:endParaRPr>
          </a:p>
          <a:p>
            <a:pPr indent="-295275" lvl="0" marL="457200" rtl="0" algn="l">
              <a:spcBef>
                <a:spcPts val="0"/>
              </a:spcBef>
              <a:spcAft>
                <a:spcPts val="0"/>
              </a:spcAft>
              <a:buClr>
                <a:srgbClr val="666666"/>
              </a:buClr>
              <a:buSzPts val="1050"/>
              <a:buChar char="●"/>
            </a:pPr>
            <a:r>
              <a:rPr lang="en" sz="1050">
                <a:solidFill>
                  <a:srgbClr val="666666"/>
                </a:solidFill>
                <a:highlight>
                  <a:srgbClr val="FFFFFF"/>
                </a:highlight>
              </a:rPr>
              <a:t>When the mouse enters a component, the </a:t>
            </a:r>
            <a:r>
              <a:rPr b="1" lang="en" sz="1050">
                <a:solidFill>
                  <a:srgbClr val="666666"/>
                </a:solidFill>
                <a:highlight>
                  <a:srgbClr val="FFFFFF"/>
                </a:highlight>
              </a:rPr>
              <a:t>mouseEntered</a:t>
            </a:r>
            <a:r>
              <a:rPr lang="en" sz="1050">
                <a:solidFill>
                  <a:srgbClr val="666666"/>
                </a:solidFill>
                <a:highlight>
                  <a:srgbClr val="FFFFFF"/>
                </a:highlight>
              </a:rPr>
              <a:t>( ) method is called. </a:t>
            </a:r>
            <a:endParaRPr sz="1050">
              <a:solidFill>
                <a:srgbClr val="666666"/>
              </a:solidFill>
              <a:highlight>
                <a:srgbClr val="FFFFFF"/>
              </a:highlight>
            </a:endParaRPr>
          </a:p>
          <a:p>
            <a:pPr indent="-295275" lvl="0" marL="457200" rtl="0" algn="l">
              <a:spcBef>
                <a:spcPts val="0"/>
              </a:spcBef>
              <a:spcAft>
                <a:spcPts val="0"/>
              </a:spcAft>
              <a:buClr>
                <a:srgbClr val="666666"/>
              </a:buClr>
              <a:buSzPts val="1050"/>
              <a:buChar char="●"/>
            </a:pPr>
            <a:r>
              <a:rPr lang="en" sz="1050">
                <a:solidFill>
                  <a:srgbClr val="666666"/>
                </a:solidFill>
                <a:highlight>
                  <a:srgbClr val="FFFFFF"/>
                </a:highlight>
              </a:rPr>
              <a:t>When it leaves, </a:t>
            </a:r>
            <a:r>
              <a:rPr b="1" lang="en" sz="1050">
                <a:solidFill>
                  <a:srgbClr val="666666"/>
                </a:solidFill>
                <a:highlight>
                  <a:srgbClr val="FFFFFF"/>
                </a:highlight>
              </a:rPr>
              <a:t>mouseExited</a:t>
            </a:r>
            <a:r>
              <a:rPr lang="en" sz="1050">
                <a:solidFill>
                  <a:srgbClr val="666666"/>
                </a:solidFill>
                <a:highlight>
                  <a:srgbClr val="FFFFFF"/>
                </a:highlight>
              </a:rPr>
              <a:t>( ) is called. </a:t>
            </a:r>
            <a:endParaRPr sz="1050">
              <a:solidFill>
                <a:srgbClr val="666666"/>
              </a:solidFill>
              <a:highlight>
                <a:srgbClr val="FFFFFF"/>
              </a:highlight>
            </a:endParaRPr>
          </a:p>
          <a:p>
            <a:pPr indent="-295275" lvl="0" marL="457200" rtl="0" algn="l">
              <a:spcBef>
                <a:spcPts val="0"/>
              </a:spcBef>
              <a:spcAft>
                <a:spcPts val="0"/>
              </a:spcAft>
              <a:buClr>
                <a:srgbClr val="666666"/>
              </a:buClr>
              <a:buSzPts val="1050"/>
              <a:buChar char="●"/>
            </a:pPr>
            <a:r>
              <a:rPr lang="en" sz="1050">
                <a:solidFill>
                  <a:srgbClr val="666666"/>
                </a:solidFill>
                <a:highlight>
                  <a:srgbClr val="FFFFFF"/>
                </a:highlight>
              </a:rPr>
              <a:t>The </a:t>
            </a:r>
            <a:r>
              <a:rPr b="1" lang="en" sz="1050">
                <a:solidFill>
                  <a:srgbClr val="666666"/>
                </a:solidFill>
                <a:highlight>
                  <a:srgbClr val="FFFFFF"/>
                </a:highlight>
              </a:rPr>
              <a:t>mousePressed</a:t>
            </a:r>
            <a:r>
              <a:rPr lang="en" sz="1050">
                <a:solidFill>
                  <a:srgbClr val="666666"/>
                </a:solidFill>
                <a:highlight>
                  <a:srgbClr val="FFFFFF"/>
                </a:highlight>
              </a:rPr>
              <a:t>( ) and </a:t>
            </a:r>
            <a:r>
              <a:rPr b="1" lang="en" sz="1050">
                <a:solidFill>
                  <a:srgbClr val="666666"/>
                </a:solidFill>
                <a:highlight>
                  <a:srgbClr val="FFFFFF"/>
                </a:highlight>
              </a:rPr>
              <a:t>mouseReleased</a:t>
            </a:r>
            <a:r>
              <a:rPr lang="en" sz="1050">
                <a:solidFill>
                  <a:srgbClr val="666666"/>
                </a:solidFill>
                <a:highlight>
                  <a:srgbClr val="FFFFFF"/>
                </a:highlight>
              </a:rPr>
              <a:t>( ) methods are invoked when the mouse is pressed and released, respectively. </a:t>
            </a:r>
            <a:endParaRPr sz="1050">
              <a:solidFill>
                <a:srgbClr val="666666"/>
              </a:solidFill>
              <a:highlight>
                <a:srgbClr val="FFFFFF"/>
              </a:highlight>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WindowListener Interface </a:t>
            </a:r>
            <a:endParaRPr/>
          </a:p>
        </p:txBody>
      </p:sp>
      <p:sp>
        <p:nvSpPr>
          <p:cNvPr id="214" name="Google Shape;214;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Font typeface="Verdana"/>
              <a:buChar char="●"/>
            </a:pPr>
            <a:r>
              <a:rPr lang="en">
                <a:solidFill>
                  <a:srgbClr val="666666"/>
                </a:solidFill>
                <a:highlight>
                  <a:srgbClr val="FFFFFF"/>
                </a:highlight>
                <a:latin typeface="Verdana"/>
                <a:ea typeface="Verdana"/>
                <a:cs typeface="Verdana"/>
                <a:sym typeface="Verdana"/>
              </a:rPr>
              <a:t>The Java WindowListener is notified whenever you change the state of window.</a:t>
            </a:r>
            <a:endParaRPr>
              <a:solidFill>
                <a:srgbClr val="666666"/>
              </a:solidFill>
              <a:highlight>
                <a:srgbClr val="FFFFFF"/>
              </a:highlight>
              <a:latin typeface="Verdana"/>
              <a:ea typeface="Verdana"/>
              <a:cs typeface="Verdana"/>
              <a:sym typeface="Verdana"/>
            </a:endParaRPr>
          </a:p>
          <a:p>
            <a:pPr indent="-342900" lvl="0" marL="457200" rtl="0" algn="l">
              <a:spcBef>
                <a:spcPts val="0"/>
              </a:spcBef>
              <a:spcAft>
                <a:spcPts val="0"/>
              </a:spcAft>
              <a:buSzPts val="1800"/>
              <a:buFont typeface="Verdana"/>
              <a:buChar char="●"/>
            </a:pPr>
            <a:r>
              <a:rPr lang="en">
                <a:solidFill>
                  <a:srgbClr val="666666"/>
                </a:solidFill>
                <a:highlight>
                  <a:srgbClr val="FFFFFF"/>
                </a:highlight>
                <a:latin typeface="Verdana"/>
                <a:ea typeface="Verdana"/>
                <a:cs typeface="Verdana"/>
                <a:sym typeface="Verdana"/>
              </a:rPr>
              <a:t> It is notified against WindowEvent. </a:t>
            </a:r>
            <a:endParaRPr>
              <a:solidFill>
                <a:srgbClr val="666666"/>
              </a:solidFill>
              <a:highlight>
                <a:srgbClr val="FFFFFF"/>
              </a:highlight>
              <a:latin typeface="Verdana"/>
              <a:ea typeface="Verdana"/>
              <a:cs typeface="Verdana"/>
              <a:sym typeface="Verdana"/>
            </a:endParaRPr>
          </a:p>
          <a:p>
            <a:pPr indent="-342900" lvl="0" marL="457200" rtl="0" algn="l">
              <a:spcBef>
                <a:spcPts val="0"/>
              </a:spcBef>
              <a:spcAft>
                <a:spcPts val="0"/>
              </a:spcAft>
              <a:buSzPts val="1800"/>
              <a:buFont typeface="Verdana"/>
              <a:buChar char="●"/>
            </a:pPr>
            <a:r>
              <a:rPr lang="en">
                <a:solidFill>
                  <a:srgbClr val="666666"/>
                </a:solidFill>
                <a:highlight>
                  <a:srgbClr val="FFFFFF"/>
                </a:highlight>
                <a:latin typeface="Verdana"/>
                <a:ea typeface="Verdana"/>
                <a:cs typeface="Verdana"/>
                <a:sym typeface="Verdana"/>
              </a:rPr>
              <a:t>The WindowListener interface is found in java.awt.event package.</a:t>
            </a:r>
            <a:endParaRPr>
              <a:solidFill>
                <a:srgbClr val="666666"/>
              </a:solidFill>
              <a:highlight>
                <a:srgbClr val="FFFFFF"/>
              </a:highlight>
              <a:latin typeface="Verdana"/>
              <a:ea typeface="Verdana"/>
              <a:cs typeface="Verdana"/>
              <a:sym typeface="Verdana"/>
            </a:endParaRPr>
          </a:p>
          <a:p>
            <a:pPr indent="-342900" lvl="0" marL="457200" rtl="0" algn="l">
              <a:spcBef>
                <a:spcPts val="0"/>
              </a:spcBef>
              <a:spcAft>
                <a:spcPts val="0"/>
              </a:spcAft>
              <a:buSzPts val="1800"/>
              <a:buFont typeface="Verdana"/>
              <a:buChar char="●"/>
            </a:pPr>
            <a:r>
              <a:rPr lang="en">
                <a:solidFill>
                  <a:srgbClr val="666666"/>
                </a:solidFill>
                <a:highlight>
                  <a:srgbClr val="FFFFFF"/>
                </a:highlight>
                <a:latin typeface="Verdana"/>
                <a:ea typeface="Verdana"/>
                <a:cs typeface="Verdana"/>
                <a:sym typeface="Verdana"/>
              </a:rPr>
              <a:t> This interface defines seven methods:</a:t>
            </a:r>
            <a:endParaRPr>
              <a:solidFill>
                <a:srgbClr val="666666"/>
              </a:solidFill>
              <a:highlight>
                <a:srgbClr val="FFFFFF"/>
              </a:highlight>
              <a:latin typeface="Verdana"/>
              <a:ea typeface="Verdana"/>
              <a:cs typeface="Verdana"/>
              <a:sym typeface="Verdana"/>
            </a:endParaRPr>
          </a:p>
          <a:p>
            <a:pPr indent="-317500" lvl="1" marL="914400" rtl="0" algn="l">
              <a:spcBef>
                <a:spcPts val="0"/>
              </a:spcBef>
              <a:spcAft>
                <a:spcPts val="0"/>
              </a:spcAft>
              <a:buClr>
                <a:srgbClr val="666666"/>
              </a:buClr>
              <a:buSzPts val="1400"/>
              <a:buFont typeface="Verdana"/>
              <a:buChar char="○"/>
            </a:pPr>
            <a:r>
              <a:rPr lang="en">
                <a:solidFill>
                  <a:srgbClr val="666666"/>
                </a:solidFill>
                <a:highlight>
                  <a:srgbClr val="FFFFFF"/>
                </a:highlight>
                <a:latin typeface="Verdana"/>
                <a:ea typeface="Verdana"/>
                <a:cs typeface="Verdana"/>
                <a:sym typeface="Verdana"/>
              </a:rPr>
              <a:t>void windowActivated(WindowEvent we) </a:t>
            </a:r>
            <a:endParaRPr>
              <a:solidFill>
                <a:srgbClr val="666666"/>
              </a:solidFill>
              <a:highlight>
                <a:srgbClr val="FFFFFF"/>
              </a:highlight>
              <a:latin typeface="Verdana"/>
              <a:ea typeface="Verdana"/>
              <a:cs typeface="Verdana"/>
              <a:sym typeface="Verdana"/>
            </a:endParaRPr>
          </a:p>
          <a:p>
            <a:pPr indent="-317500" lvl="1" marL="914400" rtl="0" algn="l">
              <a:spcBef>
                <a:spcPts val="0"/>
              </a:spcBef>
              <a:spcAft>
                <a:spcPts val="0"/>
              </a:spcAft>
              <a:buClr>
                <a:srgbClr val="666666"/>
              </a:buClr>
              <a:buSzPts val="1400"/>
              <a:buFont typeface="Verdana"/>
              <a:buChar char="○"/>
            </a:pPr>
            <a:r>
              <a:rPr lang="en">
                <a:solidFill>
                  <a:srgbClr val="666666"/>
                </a:solidFill>
                <a:highlight>
                  <a:srgbClr val="FFFFFF"/>
                </a:highlight>
                <a:latin typeface="Verdana"/>
                <a:ea typeface="Verdana"/>
                <a:cs typeface="Verdana"/>
                <a:sym typeface="Verdana"/>
              </a:rPr>
              <a:t>void windowClosed(WindowEvent we) </a:t>
            </a:r>
            <a:endParaRPr>
              <a:solidFill>
                <a:srgbClr val="666666"/>
              </a:solidFill>
              <a:highlight>
                <a:srgbClr val="FFFFFF"/>
              </a:highlight>
              <a:latin typeface="Verdana"/>
              <a:ea typeface="Verdana"/>
              <a:cs typeface="Verdana"/>
              <a:sym typeface="Verdana"/>
            </a:endParaRPr>
          </a:p>
          <a:p>
            <a:pPr indent="-317500" lvl="1" marL="914400" rtl="0" algn="l">
              <a:spcBef>
                <a:spcPts val="0"/>
              </a:spcBef>
              <a:spcAft>
                <a:spcPts val="0"/>
              </a:spcAft>
              <a:buClr>
                <a:srgbClr val="666666"/>
              </a:buClr>
              <a:buSzPts val="1400"/>
              <a:buFont typeface="Verdana"/>
              <a:buChar char="○"/>
            </a:pPr>
            <a:r>
              <a:rPr lang="en">
                <a:solidFill>
                  <a:srgbClr val="666666"/>
                </a:solidFill>
                <a:highlight>
                  <a:srgbClr val="FFFFFF"/>
                </a:highlight>
                <a:latin typeface="Verdana"/>
                <a:ea typeface="Verdana"/>
                <a:cs typeface="Verdana"/>
                <a:sym typeface="Verdana"/>
              </a:rPr>
              <a:t>void windowClosing(WindowEvent we) </a:t>
            </a:r>
            <a:endParaRPr>
              <a:solidFill>
                <a:srgbClr val="666666"/>
              </a:solidFill>
              <a:highlight>
                <a:srgbClr val="FFFFFF"/>
              </a:highlight>
              <a:latin typeface="Verdana"/>
              <a:ea typeface="Verdana"/>
              <a:cs typeface="Verdana"/>
              <a:sym typeface="Verdana"/>
            </a:endParaRPr>
          </a:p>
          <a:p>
            <a:pPr indent="-317500" lvl="1" marL="914400" rtl="0" algn="l">
              <a:spcBef>
                <a:spcPts val="0"/>
              </a:spcBef>
              <a:spcAft>
                <a:spcPts val="0"/>
              </a:spcAft>
              <a:buClr>
                <a:srgbClr val="666666"/>
              </a:buClr>
              <a:buSzPts val="1400"/>
              <a:buFont typeface="Verdana"/>
              <a:buChar char="○"/>
            </a:pPr>
            <a:r>
              <a:rPr lang="en">
                <a:solidFill>
                  <a:srgbClr val="666666"/>
                </a:solidFill>
                <a:highlight>
                  <a:srgbClr val="FFFFFF"/>
                </a:highlight>
                <a:latin typeface="Verdana"/>
                <a:ea typeface="Verdana"/>
                <a:cs typeface="Verdana"/>
                <a:sym typeface="Verdana"/>
              </a:rPr>
              <a:t>void windowDeactivated(WindowEvent we) </a:t>
            </a:r>
            <a:endParaRPr>
              <a:solidFill>
                <a:srgbClr val="666666"/>
              </a:solidFill>
              <a:highlight>
                <a:srgbClr val="FFFFFF"/>
              </a:highlight>
              <a:latin typeface="Verdana"/>
              <a:ea typeface="Verdana"/>
              <a:cs typeface="Verdana"/>
              <a:sym typeface="Verdana"/>
            </a:endParaRPr>
          </a:p>
          <a:p>
            <a:pPr indent="-317500" lvl="1" marL="914400" rtl="0" algn="l">
              <a:spcBef>
                <a:spcPts val="0"/>
              </a:spcBef>
              <a:spcAft>
                <a:spcPts val="0"/>
              </a:spcAft>
              <a:buClr>
                <a:srgbClr val="666666"/>
              </a:buClr>
              <a:buSzPts val="1400"/>
              <a:buFont typeface="Verdana"/>
              <a:buChar char="○"/>
            </a:pPr>
            <a:r>
              <a:rPr lang="en">
                <a:solidFill>
                  <a:srgbClr val="666666"/>
                </a:solidFill>
                <a:highlight>
                  <a:srgbClr val="FFFFFF"/>
                </a:highlight>
                <a:latin typeface="Verdana"/>
                <a:ea typeface="Verdana"/>
                <a:cs typeface="Verdana"/>
                <a:sym typeface="Verdana"/>
              </a:rPr>
              <a:t>void windowDeiconified(WindowEvent we) </a:t>
            </a:r>
            <a:endParaRPr>
              <a:solidFill>
                <a:srgbClr val="666666"/>
              </a:solidFill>
              <a:highlight>
                <a:srgbClr val="FFFFFF"/>
              </a:highlight>
              <a:latin typeface="Verdana"/>
              <a:ea typeface="Verdana"/>
              <a:cs typeface="Verdana"/>
              <a:sym typeface="Verdana"/>
            </a:endParaRPr>
          </a:p>
          <a:p>
            <a:pPr indent="-317500" lvl="1" marL="914400" rtl="0" algn="l">
              <a:spcBef>
                <a:spcPts val="0"/>
              </a:spcBef>
              <a:spcAft>
                <a:spcPts val="0"/>
              </a:spcAft>
              <a:buClr>
                <a:srgbClr val="666666"/>
              </a:buClr>
              <a:buSzPts val="1400"/>
              <a:buFont typeface="Verdana"/>
              <a:buChar char="○"/>
            </a:pPr>
            <a:r>
              <a:rPr lang="en">
                <a:solidFill>
                  <a:srgbClr val="666666"/>
                </a:solidFill>
                <a:highlight>
                  <a:srgbClr val="FFFFFF"/>
                </a:highlight>
                <a:latin typeface="Verdana"/>
                <a:ea typeface="Verdana"/>
                <a:cs typeface="Verdana"/>
                <a:sym typeface="Verdana"/>
              </a:rPr>
              <a:t>void windowIconified(WindowEvent we) </a:t>
            </a:r>
            <a:endParaRPr>
              <a:solidFill>
                <a:srgbClr val="666666"/>
              </a:solidFill>
              <a:highlight>
                <a:srgbClr val="FFFFFF"/>
              </a:highlight>
              <a:latin typeface="Verdana"/>
              <a:ea typeface="Verdana"/>
              <a:cs typeface="Verdana"/>
              <a:sym typeface="Verdana"/>
            </a:endParaRPr>
          </a:p>
          <a:p>
            <a:pPr indent="-317500" lvl="1" marL="914400" rtl="0" algn="l">
              <a:spcBef>
                <a:spcPts val="0"/>
              </a:spcBef>
              <a:spcAft>
                <a:spcPts val="0"/>
              </a:spcAft>
              <a:buClr>
                <a:srgbClr val="666666"/>
              </a:buClr>
              <a:buSzPts val="1400"/>
              <a:buFont typeface="Verdana"/>
              <a:buChar char="○"/>
            </a:pPr>
            <a:r>
              <a:rPr lang="en">
                <a:solidFill>
                  <a:srgbClr val="666666"/>
                </a:solidFill>
                <a:highlight>
                  <a:srgbClr val="FFFFFF"/>
                </a:highlight>
                <a:latin typeface="Verdana"/>
                <a:ea typeface="Verdana"/>
                <a:cs typeface="Verdana"/>
                <a:sym typeface="Verdana"/>
              </a:rPr>
              <a:t>void windowOpened(WindowEvent we)</a:t>
            </a:r>
            <a:endParaRPr>
              <a:solidFill>
                <a:srgbClr val="666666"/>
              </a:solidFill>
              <a:highlight>
                <a:srgbClr val="FFFFFF"/>
              </a:highlight>
              <a:latin typeface="Verdana"/>
              <a:ea typeface="Verdana"/>
              <a:cs typeface="Verdana"/>
              <a:sym typeface="Verdana"/>
            </a:endParaRPr>
          </a:p>
          <a:p>
            <a:pPr indent="0" lvl="0" marL="0" rtl="0" algn="l">
              <a:spcBef>
                <a:spcPts val="1200"/>
              </a:spcBef>
              <a:spcAft>
                <a:spcPts val="1200"/>
              </a:spcAft>
              <a:buNone/>
            </a:pPr>
            <a:r>
              <a:t/>
            </a:r>
            <a:endParaRPr>
              <a:solidFill>
                <a:srgbClr val="666666"/>
              </a:solidFill>
              <a:highlight>
                <a:srgbClr val="FFFFFF"/>
              </a:highlight>
              <a:latin typeface="Verdana"/>
              <a:ea typeface="Verdana"/>
              <a:cs typeface="Verdana"/>
              <a:sym typeface="Verdana"/>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Adapter Class</a:t>
            </a:r>
            <a:endParaRPr/>
          </a:p>
        </p:txBody>
      </p:sp>
      <p:sp>
        <p:nvSpPr>
          <p:cNvPr id="220" name="Google Shape;220;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7500" lnSpcReduction="20000"/>
          </a:bodyPr>
          <a:lstStyle/>
          <a:p>
            <a:pPr indent="-311467" lvl="0" marL="342900" rtl="0" algn="l">
              <a:lnSpc>
                <a:spcPct val="100000"/>
              </a:lnSpc>
              <a:spcBef>
                <a:spcPts val="0"/>
              </a:spcBef>
              <a:spcAft>
                <a:spcPts val="0"/>
              </a:spcAft>
              <a:buClr>
                <a:schemeClr val="dk1"/>
              </a:buClr>
              <a:buSzPct val="100000"/>
              <a:buChar char="•"/>
            </a:pPr>
            <a:r>
              <a:rPr lang="en" sz="2200">
                <a:solidFill>
                  <a:schemeClr val="dk1"/>
                </a:solidFill>
                <a:latin typeface="Calibri"/>
                <a:ea typeface="Calibri"/>
                <a:cs typeface="Calibri"/>
                <a:sym typeface="Calibri"/>
              </a:rPr>
              <a:t>Java provides a special feature, called an adapter class, that can simplify the creation of event handlers in certain situations. </a:t>
            </a:r>
            <a:endParaRPr sz="2200">
              <a:solidFill>
                <a:schemeClr val="dk1"/>
              </a:solidFill>
              <a:latin typeface="Calibri"/>
              <a:ea typeface="Calibri"/>
              <a:cs typeface="Calibri"/>
              <a:sym typeface="Calibri"/>
            </a:endParaRPr>
          </a:p>
          <a:p>
            <a:pPr indent="-311467" lvl="0" marL="342900" rtl="0" algn="l">
              <a:lnSpc>
                <a:spcPct val="100000"/>
              </a:lnSpc>
              <a:spcBef>
                <a:spcPts val="440"/>
              </a:spcBef>
              <a:spcAft>
                <a:spcPts val="0"/>
              </a:spcAft>
              <a:buClr>
                <a:schemeClr val="dk1"/>
              </a:buClr>
              <a:buSzPct val="100000"/>
              <a:buChar char="•"/>
            </a:pPr>
            <a:r>
              <a:rPr lang="en" sz="2200">
                <a:solidFill>
                  <a:schemeClr val="dk1"/>
                </a:solidFill>
                <a:latin typeface="Calibri"/>
                <a:ea typeface="Calibri"/>
                <a:cs typeface="Calibri"/>
                <a:sym typeface="Calibri"/>
              </a:rPr>
              <a:t>An adapter class provides an empty implementation of all methods in an event listener interface. </a:t>
            </a:r>
            <a:endParaRPr sz="2200">
              <a:solidFill>
                <a:schemeClr val="dk1"/>
              </a:solidFill>
              <a:latin typeface="Calibri"/>
              <a:ea typeface="Calibri"/>
              <a:cs typeface="Calibri"/>
              <a:sym typeface="Calibri"/>
            </a:endParaRPr>
          </a:p>
          <a:p>
            <a:pPr indent="-311467" lvl="0" marL="342900" rtl="0" algn="l">
              <a:lnSpc>
                <a:spcPct val="100000"/>
              </a:lnSpc>
              <a:spcBef>
                <a:spcPts val="440"/>
              </a:spcBef>
              <a:spcAft>
                <a:spcPts val="0"/>
              </a:spcAft>
              <a:buClr>
                <a:schemeClr val="dk1"/>
              </a:buClr>
              <a:buSzPct val="100000"/>
              <a:buChar char="•"/>
            </a:pPr>
            <a:r>
              <a:rPr lang="en" sz="2200">
                <a:solidFill>
                  <a:schemeClr val="dk1"/>
                </a:solidFill>
                <a:latin typeface="Calibri"/>
                <a:ea typeface="Calibri"/>
                <a:cs typeface="Calibri"/>
                <a:sym typeface="Calibri"/>
              </a:rPr>
              <a:t>Adapter classes are useful when you want to receive and process only some of the events that are handled by a particular event listener interface. </a:t>
            </a:r>
            <a:endParaRPr sz="2200">
              <a:solidFill>
                <a:schemeClr val="dk1"/>
              </a:solidFill>
              <a:latin typeface="Calibri"/>
              <a:ea typeface="Calibri"/>
              <a:cs typeface="Calibri"/>
              <a:sym typeface="Calibri"/>
            </a:endParaRPr>
          </a:p>
          <a:p>
            <a:pPr indent="-311467" lvl="0" marL="342900" rtl="0" algn="l">
              <a:lnSpc>
                <a:spcPct val="100000"/>
              </a:lnSpc>
              <a:spcBef>
                <a:spcPts val="440"/>
              </a:spcBef>
              <a:spcAft>
                <a:spcPts val="0"/>
              </a:spcAft>
              <a:buClr>
                <a:schemeClr val="dk1"/>
              </a:buClr>
              <a:buSzPct val="100000"/>
              <a:buChar char="•"/>
            </a:pPr>
            <a:r>
              <a:rPr lang="en" sz="2200">
                <a:solidFill>
                  <a:schemeClr val="dk1"/>
                </a:solidFill>
                <a:latin typeface="Calibri"/>
                <a:ea typeface="Calibri"/>
                <a:cs typeface="Calibri"/>
                <a:sym typeface="Calibri"/>
              </a:rPr>
              <a:t>You can define a new class to act as an event listener by extending one of the adapter classes and implementing only those events in which you are interested. </a:t>
            </a:r>
            <a:endParaRPr sz="2200">
              <a:solidFill>
                <a:schemeClr val="dk1"/>
              </a:solidFill>
              <a:latin typeface="Calibri"/>
              <a:ea typeface="Calibri"/>
              <a:cs typeface="Calibri"/>
              <a:sym typeface="Calibri"/>
            </a:endParaRPr>
          </a:p>
          <a:p>
            <a:pPr indent="-311467" lvl="0" marL="342900" rtl="0" algn="l">
              <a:lnSpc>
                <a:spcPct val="100000"/>
              </a:lnSpc>
              <a:spcBef>
                <a:spcPts val="440"/>
              </a:spcBef>
              <a:spcAft>
                <a:spcPts val="0"/>
              </a:spcAft>
              <a:buClr>
                <a:schemeClr val="dk1"/>
              </a:buClr>
              <a:buSzPct val="100000"/>
              <a:buChar char="•"/>
            </a:pPr>
            <a:r>
              <a:rPr lang="en" sz="2200">
                <a:solidFill>
                  <a:schemeClr val="dk1"/>
                </a:solidFill>
                <a:latin typeface="Calibri"/>
                <a:ea typeface="Calibri"/>
                <a:cs typeface="Calibri"/>
                <a:sym typeface="Calibri"/>
              </a:rPr>
              <a:t>For example, the MouseMotionAdapter class has two methods, mouseDragged( ) and mouseMoved( ), which are the methods defined by the MouseMotionListener interface. If you were interested in only mouse drag events, then you could simply extend MouseMotionAdapter and override mouseDragged( ). The empty implementation of mouseMoved( ) would handle the mouse motion events for you.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pic>
        <p:nvPicPr>
          <p:cNvPr id="225" name="Google Shape;225;p43"/>
          <p:cNvPicPr preferRelativeResize="0"/>
          <p:nvPr/>
        </p:nvPicPr>
        <p:blipFill>
          <a:blip r:embed="rId3">
            <a:alphaModFix/>
          </a:blip>
          <a:stretch>
            <a:fillRect/>
          </a:stretch>
        </p:blipFill>
        <p:spPr>
          <a:xfrm>
            <a:off x="554025" y="1235526"/>
            <a:ext cx="7732725" cy="27602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1800">
                <a:solidFill>
                  <a:schemeClr val="dk2"/>
                </a:solidFill>
              </a:rPr>
              <a:t>Event </a:t>
            </a:r>
            <a:r>
              <a:rPr lang="en" sz="1800">
                <a:solidFill>
                  <a:schemeClr val="dk2"/>
                </a:solidFill>
              </a:rPr>
              <a:t>Handling</a:t>
            </a:r>
            <a:r>
              <a:rPr lang="en" sz="1800">
                <a:solidFill>
                  <a:schemeClr val="dk2"/>
                </a:solidFill>
              </a:rPr>
              <a:t> Approach</a:t>
            </a:r>
            <a:endParaRPr/>
          </a:p>
        </p:txBody>
      </p:sp>
      <p:sp>
        <p:nvSpPr>
          <p:cNvPr id="231" name="Google Shape;231;p4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The three approaches for performing event handling are by placing the event handling code in one of the below-specified places.</a:t>
            </a:r>
            <a:endParaRPr/>
          </a:p>
          <a:p>
            <a:pPr indent="-342900" lvl="0" marL="457200" rtl="0" algn="l">
              <a:spcBef>
                <a:spcPts val="1200"/>
              </a:spcBef>
              <a:spcAft>
                <a:spcPts val="0"/>
              </a:spcAft>
              <a:buSzPts val="1800"/>
              <a:buChar char="●"/>
            </a:pPr>
            <a:r>
              <a:rPr lang="en"/>
              <a:t>Within Class</a:t>
            </a:r>
            <a:endParaRPr/>
          </a:p>
          <a:p>
            <a:pPr indent="-342900" lvl="0" marL="457200" rtl="0" algn="l">
              <a:spcBef>
                <a:spcPts val="0"/>
              </a:spcBef>
              <a:spcAft>
                <a:spcPts val="0"/>
              </a:spcAft>
              <a:buSzPts val="1800"/>
              <a:buChar char="●"/>
            </a:pPr>
            <a:r>
              <a:rPr lang="en"/>
              <a:t>Other Class</a:t>
            </a:r>
            <a:endParaRPr/>
          </a:p>
          <a:p>
            <a:pPr indent="-342900" lvl="0" marL="457200" rtl="0" algn="l">
              <a:spcBef>
                <a:spcPts val="0"/>
              </a:spcBef>
              <a:spcAft>
                <a:spcPts val="0"/>
              </a:spcAft>
              <a:buSzPts val="1800"/>
              <a:buChar char="●"/>
            </a:pPr>
            <a:r>
              <a:rPr lang="en"/>
              <a:t>Anonymous Class</a:t>
            </a:r>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